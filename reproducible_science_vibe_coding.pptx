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sldIdLst>
    <p:sldId id="256" r:id="rId12"/>
    <p:sldId id="257" r:id="rId14"/>
    <p:sldId id="258" r:id="rId15"/>
    <p:sldId id="259" r:id="rId16"/>
    <p:sldId id="260" r:id="rId11"/>
    <p:sldId id="261" r:id="rId10"/>
    <p:sldId id="262" r:id="rId9"/>
    <p:sldId id="263" r:id="rId8"/>
    <p:sldId id="264" r:id="rId7"/>
    <p:sldId id="265" r:id="rId6"/>
    <p:sldId id="266" r:id="rId5"/>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Lst>
  <p:sldSz cx="12192000" cy="6858000"/>
  <p:notesSz cx="6858000" cy="9144000"/>
  <p:embeddedFontLst>
    <p:embeddedFont>
      <p:font typeface="Assistant" pitchFamily="2" charset="-79"/>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6B8BC-3B88-73EB-9BD6-9E2CCF49CB29}" v="2" dt="2024-05-08T18:39:17.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0626" autoAdjust="0"/>
    <p:restoredTop sz="94660"/>
  </p:normalViewPr>
  <p:slideViewPr>
    <p:cSldViewPr snapToGrid="0">
      <p:cViewPr varScale="1">
        <p:scale>
          <a:sx n="68" d="100"/>
          <a:sy n="68" d="100"/>
        </p:scale>
        <p:origin x="776"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notesMaster" Target="notesMasters/notesMaster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Shown while people arrive. One minute of the four-minute opener.</a:t>
            </a:r>
          </a:p>
          <a:p>
            <a:r>
              <a:t>Take a quick show of hands: who codes daily, who already uses an assistant, who has been bitten by a script that stopped working. That tells you how much of Part 1 to compress.</a:t>
            </a:r>
          </a:p>
          <a:p>
            <a:r>
              <a:t>Say the shape out loud now, including the hands-on: 'there is a fifteen-minute exercise in the middle where you will fix a script that runs but lies'. People concentrate better when they know when they get to type.</a:t>
            </a:r>
          </a:p>
          <a:p>
            <a:r>
              <a:t>Housekeeping: every [placeholder] in this deck needs replacing with your own domain, dataset and institutional policy.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This slide is the hook and the thesis at once, so do not rush it. Tell it as a story, ideally a real one of your own; specific details land harder than generalities.</a:t>
            </a:r>
          </a:p>
          <a:p>
            <a:r>
              <a:t>Do not resolve it. Let the discomfort sit, then say: 'keep this person in mind — by the end you will know exactly what they should have done differently.'</a:t>
            </a:r>
          </a:p>
          <a:p>
            <a:r>
              <a:t>If someone argues that models keep improving, agree: a better model raises the base rate of correct output, but it does not remove the need to verify.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Point at the hands-on row explicitly and say what they will produce: a script that prints the right number and a test that proves it.</a:t>
            </a:r>
          </a:p>
          <a:p>
            <a:r>
              <a:t>The badge in the top-right of each slide is for you rather than for the room: blue is core to the hour, amber means it can be cut if we run late, grey means it is appendix reference. Say that in one sentence and carry on.</a:t>
            </a:r>
          </a:p>
          <a:p>
            <a:r>
              <a:t>Also say what this hour is NOT: it is not a Git course, not a tour of every assistant feature, and not a statistics lecture. Those are in the appendix and in the source lessons.</a:t>
            </a:r>
          </a:p>
          <a:p>
            <a:r>
              <a:t>The timings are honest: 51 minutes of programme and nine of Q&amp;A. If you run late, the wrap-up is the part to compress, not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Ask for a show of hands: whose last project would pass the clone-and-run test? The silence is useful and it is not a criticism.</a:t>
            </a:r>
          </a:p>
          <a:p>
            <a:r>
              <a:t>Plant the phrase 'it runs for me' versus 'it runs for them' — you will use it again after the hands-on.</a:t>
            </a:r>
          </a:p>
          <a:p>
            <a:r>
              <a:t>This is the only slide in Part 1 that is about principles; the rest are about the three things that make the test pass.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Do not read the code aloud. Point at the shape of the left panel: one long script, a hard-coded path, two copies of the same loop.</a:t>
            </a:r>
          </a:p>
          <a:p>
            <a:r>
              <a:t>The point to say out loud is the cost: ten minutes. The room assumes a weekend refactor, and that assumption is why they never start.</a:t>
            </a:r>
          </a:p>
          <a:p>
            <a:r>
              <a:t>This slide sets up the hands-on directly: the function you are looking at is the kind of thing a test can hold on 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Deliver the four questions as four questions, not as four bullets — it is a checklist they can remember.</a:t>
            </a:r>
          </a:p>
          <a:p>
            <a:r>
              <a:t>The 'expected output' heading is the load-bearing one. It is also the bridge to the next slide: a test with a stored expected value is that fourth question, made executable.</a:t>
            </a:r>
          </a:p>
          <a:p>
            <a:r>
              <a:t>Cut here first if Part 1 is running long: the last three bullets can become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This is the single most important slide in the deck and you will point back to it twice: once after the spot-the-bug slide, and once during the hands-on debrief.</a:t>
            </a:r>
          </a:p>
          <a:p>
            <a:r>
              <a:t>Say the sentence slowly: a test that asserts a recorded value is a reproducibility check with a compiler attached.</a:t>
            </a:r>
          </a:p>
          <a:p>
            <a:r>
              <a:t>EXPECTED is a placeholder on purpose — every project has its own 'the number we published'. Ask the room what theirs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Do not teach Git here — the audience for this hour either has it or needs the appendix; the source lesson covers it.</a:t>
            </a:r>
          </a:p>
          <a:p>
            <a:r>
              <a:t>The last bullet is the one to land: version control is what makes it safe to accept an assistant's suggestion, because the change is visible and reversible.</a:t>
            </a:r>
          </a:p>
          <a:p>
            <a:r>
              <a:t>If Part 1 is running long, this slide and the documentation slide are the two to compress; keep the test slide intact.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Keep the fine-tuning detail to one sentence; the interesting part for a research audience is 'optimises for plausible, not for correct'.</a:t>
            </a:r>
          </a:p>
          <a:p>
            <a:r>
              <a:t>Draw out the accept/reject feedback loop: it explains why your naming and comments change the quality of what you get back, and why a sloppy codebase gets sloppier suggestions.</a:t>
            </a:r>
          </a:p>
          <a:p>
            <a:r>
              <a:t>The fourth bullet is why the assistant will fix the obvious bug in the hands-on and miss the interesting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Let the number sit on screen for a beat before you speak.</a:t>
            </a:r>
          </a:p>
          <a:p>
            <a:r>
              <a:t>Expect the objection 'that study is old'. Agree with the premise, then make the base-rate point: a better model means you catch less, not that you stop looking.</a:t>
            </a:r>
          </a:p>
          <a:p>
            <a:r>
              <a:t>The line to leave them with: 'the AI wrote it' is not an answer a reviewer will accept.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This table is reference material — do not read it aloud. Demo one cell if the room is warm.</a:t>
            </a:r>
          </a:p>
          <a:p>
            <a:r>
              <a:t>The practical rule: autocomplete for volume, chat for understanding, Command for precision on a selection.</a:t>
            </a:r>
          </a:p>
          <a:p>
            <a:r>
              <a:t>In the hands-on most people will use chat, because it is the mode you can point at a problem. Say that; it saves them fumbling.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This is the source lesson's own example — keep it verbatim so learners recognise it in the material.</a:t>
            </a:r>
          </a:p>
          <a:p>
            <a:r>
              <a:t>Name the three missing parts in the bad prompt one at a time, then show how the good prompt supplies each.</a:t>
            </a:r>
          </a:p>
          <a:p>
            <a:r>
              <a:t>Tell them explicitly: the three-part prompt is printed on a slide during the hands-on, so they do not have to remember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and it is the pivot of the whole hour. Do not reveal the answer for at least 45 seconds — the argument between neighbours is the learning.</a:t>
            </a:r>
          </a:p>
          <a:p>
            <a:r>
              <a:t>Then generalise: the characteristic failure mode of AI-assisted work is not the crash, it is the plausible wrong answer.</a:t>
            </a:r>
          </a:p>
          <a:p>
            <a:r>
              <a:t>Close the loop explicitly, then hand over: the test from Part 1 is what catches this, and you are about to see it do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hour. Fifteen minutes, and three of those are protected diagnosis time before anyone touches an assistant — do not let this become a prompting exercise before people have looked at the data.</a:t>
            </a:r>
          </a:p>
          <a:p>
            <a:r>
              <a:t>Circulate, but do not solve it for anyone. The most common facilitator error is answering the question instead of asking what the test said.</a:t>
            </a:r>
          </a:p>
          <a:p>
            <a:r>
              <a:t>Stop at 13 minutes to run the debrief even if some people have not finished. The debrief is where the lesson lands; finishing is not the point.</a:t>
            </a:r>
          </a:p>
          <a:p>
            <a:r>
              <a:t>Facilitator notes, timings and fallbacks are in hands-on/FACILITATOR.md.</a:t>
            </a:r>
          </a:p>
          <a:p/>
          <a:p>
            <a:r>
              <a:t>STRETCH: Recover the bead radius from your fitted D with Stokes-Einstein, r = kT / (6 pi eta D). You should get 0.5 µm — say out loud why that is not a coincidence.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The whole exercise depends on the audience meeting the real defect themselves, or at least trying to.</a:t>
            </a:r>
          </a:p>
          <a:p>
            <a:r>
              <a:t>If you jump straight to prompting you teach them that the assistant is the oracle, which is the opposite of the hour's thesis.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on screen while people work. The objective / context / constraints split is the same one from the prompting slide, which is the point: it is a habit, not a trick.</a:t>
            </a:r>
          </a:p>
          <a:p>
            <a:r>
              <a:t>If the room is fast, ask them to write the prompt themselves first and compare with yours afterwards.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This slide is the transferable part. The bug is specific to this dataset; 'break the fix on purpose' is a habit that applies to every result they will ever produce. Say that sentence out loud.</a:t>
            </a:r>
          </a:p>
          <a:p>
            <a:r>
              <a:t>The 0.4905 is the payoff: it is Stokes-Einstein for a 1 um bead in water, so the stored value is a physical result rather than a magic number. Say that before you move on.</a:t>
            </a:r>
          </a:p>
          <a:p>
            <a:r>
              <a:t>The commit line matters: it is how today's fifteen minutes turns into a permanent guard rail rather than an anecdote.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the debrief to let people finish. The exercise is the vehicle; this conversation is the payload.</a:t>
            </a:r>
          </a:p>
          <a:p>
            <a:r>
              <a:t>Ask for hands, take three or four answers, and land on the 'the test that mattered' card — that is the sentence the whole hour exists to deliver.</a:t>
            </a:r>
          </a:p>
          <a:p>
            <a:r>
              <a:t>Then transition: 'so what do you do about it?' That is Part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This is the most important slide in Part 3 for a research audience, and the one they will not have heard before. Do not compress it away.</a:t>
            </a:r>
          </a:p>
          <a:p>
            <a:r>
              <a:t>The framing to use: everything until now was about whether the code does what you think. This slide is about whether the analysis does what you said.</a:t>
            </a:r>
          </a:p>
          <a:p>
            <a:r>
              <a:t>The garden of forking paths is not new; what is new is that the assistant makes walking it cheap. If you have a story from your own field about a defensible analysis choice that changed a conclusion, tell it 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One breath per card; read only the right-hand line, which is the actionable half.</a:t>
            </a:r>
          </a:p>
          <a:p>
            <a:r>
              <a:t>If you are behind schedule, keep the six headings and the accountability line and drop the rest.</a:t>
            </a:r>
          </a:p>
          <a:p>
            <a:r>
              <a:t>On authorship: the copyright status of AI-generated content is genuinely unsettled. Say that rather than inventing a rule.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Lead with the Stanford finding — the confidence gap is the interesting part, not the insecurity.</a:t>
            </a:r>
          </a:p>
          <a:p>
            <a:r>
              <a:t>The data-classification question is the one with immediate practical value for most groups. Have your institution's approved-tool list ready; people will ask.</a:t>
            </a:r>
          </a:p>
          <a:p>
            <a:r>
              <a:t>Note the division of labour: tests protect you against behaviour you thought to check; scanners protect you against classes of issue you did not think of. You need both.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Do not read the table. Walk it as pairs and make the point that the right-hand column is entirely from Part 1 — plus the procedural one you added in the analytical slide.</a:t>
            </a:r>
          </a:p>
          <a:p>
            <a:r>
              <a:t>This is the argument of the hour in one image. If you cut anything else from Part 3, do not cut this.</a:t>
            </a:r>
          </a:p>
          <a:p>
            <a:r>
              <a:t>If the room is senior, ask which row they disagree with. That discussion is worth more than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minutes. Present it as a pull-request checklist people can paste into a template — it is the most likely slide to be used on Monday.</a:t>
            </a:r>
          </a:p>
          <a:p>
            <a:r>
              <a:t>Cut here if short: keep questions 1, 2, 3 and 8.</a:t>
            </a:r>
          </a:p>
          <a:p>
            <a:r>
              <a:t>The final question compresses everything else into a single instinct, so say it out loud.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Walk it as a workflow, left to right, not as a list of rules.</a:t>
            </a:r>
          </a:p>
          <a:p>
            <a:r>
              <a:t>Tell them explicitly that this is the slide to photograph, and that it is available as a checklist file in the hands-on folder.</a:t>
            </a:r>
          </a:p>
          <a:p>
            <a:r>
              <a:t>The ask pill is the point of the whole hour: a public commitment to one concrete habit. Give them thirty seconds of silence to choose, then take three or four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This slide answers the unspoken question, 'what do I do on Monday?'</a:t>
            </a:r>
          </a:p>
          <a:p>
            <a:r>
              <a:t>Emphasise sequencing: the day-one items are tiny on purpose. Teams fail at this by trying to adopt everything at once.</a:t>
            </a:r>
          </a:p>
          <a:p>
            <a:r>
              <a:t>Cut here if you are behind: keep the day-one column and say the rest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then hand over to questions. Return to the researcher from the opening slide: what separates them from the person who survives the reviewer's email is not talent. It is ten minutes of structure, one honest test, and a recorded prompt.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four URLs in the chat before you start taking questions.</a:t>
            </a:r>
          </a:p>
          <a:p>
            <a:r>
              <a:t>Keep answers short and land each one on a practice rather than an opinion. If someone asks 'should we use AI at all?', redirect to the risk table: the answer is a practice, not a verdict.</a:t>
            </a:r>
          </a:p>
          <a:p>
            <a:r>
              <a:t>If nobody asks anything, use the discussion questions in the appendix: 'which row of the checklist will be hardest in your team, and why?' That always gets a response.</a:t>
            </a:r>
          </a:p>
          <a:p>
            <a:r>
              <a:t>Anything you cannot answer goes in the appendix slides — point at them rather than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Signal clearly that the talk is over. If you continue past this slide you are in office-hours mode, and people should feel free to leave.</a:t>
            </a:r>
          </a:p>
          <a:p>
            <a:r>
              <a:t>Tell them what is in here and why: the collaboration material, the dependency and data practices, the assistant deep dives, and the troubleshooting guide. It is reference, not agenda.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the session can be run by someone else. Print it with FACILITATOR.md.</a:t>
            </a:r>
          </a:p>
          <a:p>
            <a:r>
              <a:t>The 'cut first' row is the useful one. The pattern: cut the slides that describe practices, never the ones that demonstrate them. The test slide, the bug slide and the exercise are what people remember.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from Part 1 for time, and the best exercise in the whole deck for a longer session. Run it as a discussion: read the three repositories out loud and ask which they would bet on, and why. Do not reveal C immediately.</a:t>
            </a:r>
          </a:p>
          <a:p>
            <a:r>
              <a:t>The deeper point: B is the trap. It looks like good practice — there is a requirements.txt! — but it records nothing reproducible.</a:t>
            </a:r>
          </a:p>
          <a:p>
            <a:r>
              <a:t>From the 'Reproducible research through reusable code' lesson.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 slide. The two bullets that matter most are 'raw data is read-only' and 'one command reproduces every number'.</a:t>
            </a:r>
          </a:p>
          <a:p>
            <a:r>
              <a:t>The Excel warning is worth a sentence in the live session if you have a spare minute: it is the most common accidental data corruption in research, and it is invisible in the diff.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from the one-hour version as a whole act. It is the strongest argument for a longer session, and the easiest thing to hand out.</a:t>
            </a:r>
          </a:p>
          <a:p>
            <a:r>
              <a:t>The line to keep if you only say one thing: do code reviews, and be constructive in them. The source Git lesson is explicit about that.</a:t>
            </a:r>
          </a:p>
          <a:p>
            <a:r>
              <a:t>If the room is a research group rather than individuals, this is the material they most need and least have.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 slide. Non-technical audiences find this genuinely new, so expect questions if you do present it.</a:t>
            </a:r>
          </a:p>
          <a:p>
            <a:r>
              <a:t>The strongest argument: a repository URL is not a citation. URLs rot, repositories get renamed, and main moves.</a:t>
            </a:r>
          </a:p>
          <a:p>
            <a:r>
              <a:t>Copyright and licensing of AI-generated content is a separate and genuinely unsettled question — say that rather than guessing.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from Part 2 for time, but it is the mechanism that explains the provenance risk, so mention it in one sentence if you can.</a:t>
            </a:r>
          </a:p>
          <a:p>
            <a:r>
              <a:t>It also explains why assistants are better on popular libraries than on your in-house code — unless you pin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from Part 2. The lesson's own worked example: the vectorised version is faster and more memory-efficient because it uses pandas' vectorised operations.</a:t>
            </a:r>
          </a:p>
          <a:p>
            <a:r>
              <a:t>The load-bearing habit is the assert. Without it you have a nicer-looking function and no evidence that the numbers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intellectual centre of the risk material, cut only for time. If you have two spare minutes in Part 3, this is the slide to add back instead of the ethics cards.</a:t>
            </a:r>
          </a:p>
          <a:p>
            <a:r>
              <a:t>Question to put to the room if you do present it: 'your methods section says the analysis was performed in Python. What else does it need to say?'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from the wrap-up for time. Ordered by return on effort: testing and review first, policy last.</a:t>
            </a:r>
          </a:p>
          <a:p>
            <a:r>
              <a:t>If the room is a group that needs to agree a policy, present this one and ask them to name the guardrail they will adopt first.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slide people photograph. Keep it in the appendix and tell them it is there — it answers the 'but what do I do when' questions you will not have time for in the hour.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Cut from Part 2 for time; the prompting slide in the main flow carries the essential idea.</a:t>
            </a:r>
          </a:p>
          <a:p>
            <a:r>
              <a:t>Hand this out rather than presenting it. Point at 'ask it to explain first', because that is the prompt they used in the exercise.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Handout slide, and the most likely thing to be actually used after the session.</a:t>
            </a:r>
          </a:p>
          <a:p>
            <a:r>
              <a:t>The source lessons' project checklist is the basis; the last four lines are the additions that come from the AI-assisted workflow.</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much time here as you have left. These work as a whole-room discussion, as a think-pair-share, or as a written exit ticket.</a:t>
            </a:r>
          </a:p>
          <a:p>
            <a:r>
              <a:t>If nobody speaks first, answer question 3 yourself with a real example from your own team. It always unlocks the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FD75-F66A-4849-8F04-1D4BCBEA84C0}"/>
              </a:ext>
            </a:extLst>
          </p:cNvPr>
          <p:cNvSpPr>
            <a:spLocks noGrp="1"/>
          </p:cNvSpPr>
          <p:nvPr>
            <p:ph type="ctrTitle"/>
          </p:nvPr>
        </p:nvSpPr>
        <p:spPr>
          <a:xfrm>
            <a:off x="1524000" y="2143760"/>
            <a:ext cx="9144000" cy="2387600"/>
          </a:xfrm>
        </p:spPr>
        <p:txBody>
          <a:bodyPr anchor="b"/>
          <a:lstStyle>
            <a:lvl1pPr algn="ctr">
              <a:defRPr sz="6000" b="1">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D9CFDA3F-E1B8-40BD-8CBB-3BE733B71074}"/>
              </a:ext>
            </a:extLst>
          </p:cNvPr>
          <p:cNvSpPr>
            <a:spLocks noGrp="1"/>
          </p:cNvSpPr>
          <p:nvPr>
            <p:ph type="subTitle" idx="1"/>
          </p:nvPr>
        </p:nvSpPr>
        <p:spPr>
          <a:xfrm>
            <a:off x="1524000" y="4714240"/>
            <a:ext cx="9144000" cy="5435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C4A13D7-779E-4E56-AAA8-196B6D232E24}"/>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31FF56F3-B404-4155-829A-16CCD5902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B0715F-5DAA-42CE-ADD5-D4D62E9ECFD2}"/>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308713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FD75-F66A-4849-8F04-1D4BCBEA84C0}"/>
              </a:ext>
            </a:extLst>
          </p:cNvPr>
          <p:cNvSpPr>
            <a:spLocks noGrp="1"/>
          </p:cNvSpPr>
          <p:nvPr>
            <p:ph type="ctrTitle"/>
          </p:nvPr>
        </p:nvSpPr>
        <p:spPr>
          <a:xfrm>
            <a:off x="1524000" y="2143760"/>
            <a:ext cx="9144000" cy="2387600"/>
          </a:xfrm>
        </p:spPr>
        <p:txBody>
          <a:bodyPr anchor="b"/>
          <a:lstStyle>
            <a:lvl1pPr algn="ctr">
              <a:defRPr sz="6000" b="1">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D9CFDA3F-E1B8-40BD-8CBB-3BE733B71074}"/>
              </a:ext>
            </a:extLst>
          </p:cNvPr>
          <p:cNvSpPr>
            <a:spLocks noGrp="1"/>
          </p:cNvSpPr>
          <p:nvPr>
            <p:ph type="subTitle" idx="1"/>
          </p:nvPr>
        </p:nvSpPr>
        <p:spPr>
          <a:xfrm>
            <a:off x="1524000" y="4714240"/>
            <a:ext cx="9144000" cy="5435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C4A13D7-779E-4E56-AAA8-196B6D232E24}"/>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31FF56F3-B404-4155-829A-16CCD5902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B0715F-5DAA-42CE-ADD5-D4D62E9ECFD2}"/>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297036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8">
            <a:extLst>
              <a:ext uri="{FF2B5EF4-FFF2-40B4-BE49-F238E27FC236}">
                <a16:creationId xmlns:a16="http://schemas.microsoft.com/office/drawing/2014/main" id="{20C0D452-4650-C54D-8A93-1855E1E9F2A9}"/>
              </a:ext>
            </a:extLst>
          </p:cNvPr>
          <p:cNvSpPr>
            <a:spLocks noGrp="1"/>
          </p:cNvSpPr>
          <p:nvPr>
            <p:ph type="body" sz="quarter" idx="13" hasCustomPrompt="1"/>
          </p:nvPr>
        </p:nvSpPr>
        <p:spPr>
          <a:xfrm>
            <a:off x="7425549" y="2126754"/>
            <a:ext cx="3288834" cy="2800766"/>
          </a:xfr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Click </a:t>
            </a:r>
            <a:r>
              <a:rPr lang="nl-NL" dirty="0" err="1"/>
              <a:t>to</a:t>
            </a:r>
            <a:r>
              <a:rPr lang="nl-NL" dirty="0"/>
              <a:t> </a:t>
            </a:r>
            <a:r>
              <a:rPr lang="nl-NL" dirty="0" err="1"/>
              <a:t>edit</a:t>
            </a:r>
            <a:endParaRPr lang="nl-NL" dirty="0"/>
          </a:p>
        </p:txBody>
      </p:sp>
    </p:spTree>
    <p:extLst>
      <p:ext uri="{BB962C8B-B14F-4D97-AF65-F5344CB8AC3E}">
        <p14:creationId xmlns:p14="http://schemas.microsoft.com/office/powerpoint/2010/main" val="390766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9" name="Tijdelijke aanduiding voor tekst 8">
            <a:extLst>
              <a:ext uri="{FF2B5EF4-FFF2-40B4-BE49-F238E27FC236}">
                <a16:creationId xmlns:a16="http://schemas.microsoft.com/office/drawing/2014/main" id="{42FC0228-9E95-8343-95E7-721F4D7F79CD}"/>
              </a:ext>
            </a:extLst>
          </p:cNvPr>
          <p:cNvSpPr>
            <a:spLocks noGrp="1"/>
          </p:cNvSpPr>
          <p:nvPr>
            <p:ph type="body" sz="quarter" idx="13" hasCustomPrompt="1"/>
          </p:nvPr>
        </p:nvSpPr>
        <p:spPr>
          <a:xfrm>
            <a:off x="7425549" y="2126754"/>
            <a:ext cx="3288834" cy="2800766"/>
          </a:xfrm>
        </p:spPr>
        <p:txBody>
          <a:bodyPr/>
          <a:lstStyle>
            <a:lvl1pPr marL="0" indent="0">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Click </a:t>
            </a:r>
            <a:r>
              <a:rPr lang="nl-NL" dirty="0" err="1"/>
              <a:t>to</a:t>
            </a:r>
            <a:r>
              <a:rPr lang="nl-NL" dirty="0"/>
              <a:t> </a:t>
            </a:r>
            <a:r>
              <a:rPr lang="nl-NL" dirty="0" err="1"/>
              <a:t>edit</a:t>
            </a:r>
            <a:endParaRPr lang="nl-NL" dirty="0"/>
          </a:p>
        </p:txBody>
      </p:sp>
    </p:spTree>
    <p:extLst>
      <p:ext uri="{BB962C8B-B14F-4D97-AF65-F5344CB8AC3E}">
        <p14:creationId xmlns:p14="http://schemas.microsoft.com/office/powerpoint/2010/main" val="3150416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6551054" y="2457485"/>
            <a:ext cx="5172860" cy="525115"/>
          </a:xfrm>
        </p:spPr>
        <p:txBody>
          <a:bodyPr/>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6551054" y="2988125"/>
            <a:ext cx="5172860" cy="538843"/>
          </a:xfrm>
        </p:spPr>
        <p:txBody>
          <a:bodyPr/>
          <a:lstStyle>
            <a:lvl1pPr marL="0" indent="0">
              <a:buNone/>
              <a:defRPr sz="1600" b="1">
                <a:solidFill>
                  <a:schemeClr val="accent3"/>
                </a:solidFill>
              </a:defRPr>
            </a:lvl1pPr>
            <a:lvl2pPr>
              <a:defRPr sz="1800"/>
            </a:lvl2pPr>
            <a:lvl3pPr>
              <a:defRPr sz="1600"/>
            </a:lvl3pPr>
            <a:lvl4pPr>
              <a:defRPr sz="1400"/>
            </a:lvl4pPr>
            <a:lvl5pPr>
              <a:defRPr sz="1400"/>
            </a:lvl5pPr>
          </a:lstStyle>
          <a:p>
            <a:pPr lvl="0"/>
            <a:r>
              <a:rPr lang="en-US" dirty="0"/>
              <a:t>Click to edit Master text styles</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2815482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3169599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0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2546607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9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1447188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171110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4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Tree>
    <p:extLst>
      <p:ext uri="{BB962C8B-B14F-4D97-AF65-F5344CB8AC3E}">
        <p14:creationId xmlns:p14="http://schemas.microsoft.com/office/powerpoint/2010/main" val="3765420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064654" y="1690688"/>
            <a:ext cx="4731989"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EB5D5CE-1BC5-4E2D-AA5B-AC594DDEB304}"/>
              </a:ext>
            </a:extLst>
          </p:cNvPr>
          <p:cNvSpPr>
            <a:spLocks noGrp="1"/>
          </p:cNvSpPr>
          <p:nvPr>
            <p:ph idx="1"/>
          </p:nvPr>
        </p:nvSpPr>
        <p:spPr>
          <a:xfrm>
            <a:off x="1064654" y="3184071"/>
            <a:ext cx="4751615" cy="2076904"/>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7">
            <a:extLst>
              <a:ext uri="{FF2B5EF4-FFF2-40B4-BE49-F238E27FC236}">
                <a16:creationId xmlns:a16="http://schemas.microsoft.com/office/drawing/2014/main" id="{21866999-EA1A-5D4E-A54C-32B05219E46F}"/>
              </a:ext>
            </a:extLst>
          </p:cNvPr>
          <p:cNvSpPr>
            <a:spLocks noGrp="1"/>
          </p:cNvSpPr>
          <p:nvPr>
            <p:ph type="body" sz="quarter" idx="13" hasCustomPrompt="1"/>
          </p:nvPr>
        </p:nvSpPr>
        <p:spPr>
          <a:xfrm>
            <a:off x="7429114" y="1700647"/>
            <a:ext cx="3334964" cy="3559268"/>
          </a:xfrm>
        </p:spPr>
        <p:txBody>
          <a:bodyPr/>
          <a:lstStyle>
            <a:lvl1pPr marL="0" indent="0">
              <a:lnSpc>
                <a:spcPct val="100000"/>
              </a:lnSpc>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Click </a:t>
            </a:r>
            <a:r>
              <a:rPr lang="nl-NL" dirty="0" err="1"/>
              <a:t>to</a:t>
            </a:r>
            <a:r>
              <a:rPr lang="nl-NL" dirty="0"/>
              <a:t> </a:t>
            </a:r>
            <a:r>
              <a:rPr lang="nl-NL" dirty="0" err="1"/>
              <a:t>edit</a:t>
            </a:r>
            <a:endParaRPr lang="nl-NL" dirty="0"/>
          </a:p>
        </p:txBody>
      </p:sp>
    </p:spTree>
    <p:extLst>
      <p:ext uri="{BB962C8B-B14F-4D97-AF65-F5344CB8AC3E}">
        <p14:creationId xmlns:p14="http://schemas.microsoft.com/office/powerpoint/2010/main" val="3188582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60B84-5DEE-4871-BF64-E2FB63FD8184}"/>
              </a:ext>
            </a:extLst>
          </p:cNvPr>
          <p:cNvSpPr>
            <a:spLocks noGrp="1"/>
          </p:cNvSpPr>
          <p:nvPr>
            <p:ph type="title"/>
          </p:nvPr>
        </p:nvSpPr>
        <p:spPr>
          <a:xfrm>
            <a:off x="1169670" y="2022475"/>
            <a:ext cx="4602480" cy="1325563"/>
          </a:xfrm>
        </p:spPr>
        <p:txBody>
          <a:bodyPr/>
          <a:lstStyle/>
          <a:p>
            <a:r>
              <a:rPr lang="en-US" dirty="0"/>
              <a:t>Click to edit Master title style</a:t>
            </a:r>
          </a:p>
        </p:txBody>
      </p:sp>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pic>
        <p:nvPicPr>
          <p:cNvPr id="12" name="Afbeelding 1">
            <a:extLst>
              <a:ext uri="{FF2B5EF4-FFF2-40B4-BE49-F238E27FC236}">
                <a16:creationId xmlns:a16="http://schemas.microsoft.com/office/drawing/2014/main" id="{071BA0D4-0B93-479D-85E8-08D60C5174D9}"/>
              </a:ext>
            </a:extLst>
          </p:cNvPr>
          <p:cNvPicPr>
            <a:picLocks noChangeAspect="1"/>
          </p:cNvPicPr>
          <p:nvPr userDrawn="1"/>
        </p:nvPicPr>
        <p:blipFill>
          <a:blip r:embed="rId3"/>
          <a:stretch>
            <a:fillRect/>
          </a:stretch>
        </p:blipFill>
        <p:spPr>
          <a:xfrm>
            <a:off x="6071044" y="1925617"/>
            <a:ext cx="191697" cy="191697"/>
          </a:xfrm>
          <a:prstGeom prst="rect">
            <a:avLst/>
          </a:prstGeom>
        </p:spPr>
      </p:pic>
      <p:pic>
        <p:nvPicPr>
          <p:cNvPr id="13" name="Afbeelding 11">
            <a:extLst>
              <a:ext uri="{FF2B5EF4-FFF2-40B4-BE49-F238E27FC236}">
                <a16:creationId xmlns:a16="http://schemas.microsoft.com/office/drawing/2014/main" id="{FA5003EA-07F9-4F25-A16B-DD53E728F814}"/>
              </a:ext>
            </a:extLst>
          </p:cNvPr>
          <p:cNvPicPr>
            <a:picLocks noChangeAspect="1"/>
          </p:cNvPicPr>
          <p:nvPr userDrawn="1"/>
        </p:nvPicPr>
        <p:blipFill>
          <a:blip r:embed="rId3"/>
          <a:stretch>
            <a:fillRect/>
          </a:stretch>
        </p:blipFill>
        <p:spPr>
          <a:xfrm>
            <a:off x="6071044" y="3162746"/>
            <a:ext cx="191697" cy="191697"/>
          </a:xfrm>
          <a:prstGeom prst="rect">
            <a:avLst/>
          </a:prstGeom>
        </p:spPr>
      </p:pic>
      <p:pic>
        <p:nvPicPr>
          <p:cNvPr id="14" name="Afbeelding 12">
            <a:extLst>
              <a:ext uri="{FF2B5EF4-FFF2-40B4-BE49-F238E27FC236}">
                <a16:creationId xmlns:a16="http://schemas.microsoft.com/office/drawing/2014/main" id="{EA323091-C82C-4E4C-90C9-DB5E85A1ACD7}"/>
              </a:ext>
            </a:extLst>
          </p:cNvPr>
          <p:cNvPicPr>
            <a:picLocks noChangeAspect="1"/>
          </p:cNvPicPr>
          <p:nvPr userDrawn="1"/>
        </p:nvPicPr>
        <p:blipFill>
          <a:blip r:embed="rId3"/>
          <a:stretch>
            <a:fillRect/>
          </a:stretch>
        </p:blipFill>
        <p:spPr>
          <a:xfrm>
            <a:off x="6071044" y="4389118"/>
            <a:ext cx="191697" cy="191697"/>
          </a:xfrm>
          <a:prstGeom prst="rect">
            <a:avLst/>
          </a:prstGeom>
        </p:spPr>
      </p:pic>
      <p:sp>
        <p:nvSpPr>
          <p:cNvPr id="15" name="Tijdelijke aanduiding voor tekst 8">
            <a:extLst>
              <a:ext uri="{FF2B5EF4-FFF2-40B4-BE49-F238E27FC236}">
                <a16:creationId xmlns:a16="http://schemas.microsoft.com/office/drawing/2014/main" id="{4E29CA66-CB24-0949-A555-88562E362190}"/>
              </a:ext>
            </a:extLst>
          </p:cNvPr>
          <p:cNvSpPr>
            <a:spLocks noGrp="1"/>
          </p:cNvSpPr>
          <p:nvPr>
            <p:ph type="body" sz="quarter" idx="13" hasCustomPrompt="1"/>
          </p:nvPr>
        </p:nvSpPr>
        <p:spPr>
          <a:xfrm>
            <a:off x="6419852" y="1858211"/>
            <a:ext cx="4602478" cy="924746"/>
          </a:xfrm>
        </p:spPr>
        <p:txBody>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Click </a:t>
            </a:r>
            <a:r>
              <a:rPr lang="nl-NL" dirty="0" err="1"/>
              <a:t>to</a:t>
            </a:r>
            <a:r>
              <a:rPr lang="nl-NL" dirty="0"/>
              <a:t> </a:t>
            </a:r>
            <a:r>
              <a:rPr lang="nl-NL" dirty="0" err="1"/>
              <a:t>edit</a:t>
            </a:r>
            <a:endParaRPr lang="nl-NL" dirty="0"/>
          </a:p>
        </p:txBody>
      </p:sp>
      <p:sp>
        <p:nvSpPr>
          <p:cNvPr id="16" name="Tijdelijke aanduiding voor tekst 8">
            <a:extLst>
              <a:ext uri="{FF2B5EF4-FFF2-40B4-BE49-F238E27FC236}">
                <a16:creationId xmlns:a16="http://schemas.microsoft.com/office/drawing/2014/main" id="{0C5C2877-54AF-AF42-BEE7-797EFC63260E}"/>
              </a:ext>
            </a:extLst>
          </p:cNvPr>
          <p:cNvSpPr>
            <a:spLocks noGrp="1"/>
          </p:cNvSpPr>
          <p:nvPr>
            <p:ph type="body" sz="quarter" idx="14" hasCustomPrompt="1"/>
          </p:nvPr>
        </p:nvSpPr>
        <p:spPr>
          <a:xfrm>
            <a:off x="6419852" y="3100603"/>
            <a:ext cx="4602478" cy="924746"/>
          </a:xfrm>
        </p:spPr>
        <p:txBody>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Click </a:t>
            </a:r>
            <a:r>
              <a:rPr lang="nl-NL" dirty="0" err="1"/>
              <a:t>to</a:t>
            </a:r>
            <a:r>
              <a:rPr lang="nl-NL" dirty="0"/>
              <a:t> </a:t>
            </a:r>
            <a:r>
              <a:rPr lang="nl-NL" dirty="0" err="1"/>
              <a:t>edit</a:t>
            </a:r>
            <a:endParaRPr lang="nl-NL" dirty="0"/>
          </a:p>
        </p:txBody>
      </p:sp>
      <p:sp>
        <p:nvSpPr>
          <p:cNvPr id="17" name="Tijdelijke aanduiding voor tekst 8">
            <a:extLst>
              <a:ext uri="{FF2B5EF4-FFF2-40B4-BE49-F238E27FC236}">
                <a16:creationId xmlns:a16="http://schemas.microsoft.com/office/drawing/2014/main" id="{2E443700-FF5F-1A4A-95F6-0E656D4F8628}"/>
              </a:ext>
            </a:extLst>
          </p:cNvPr>
          <p:cNvSpPr>
            <a:spLocks noGrp="1"/>
          </p:cNvSpPr>
          <p:nvPr>
            <p:ph type="body" sz="quarter" idx="15" hasCustomPrompt="1"/>
          </p:nvPr>
        </p:nvSpPr>
        <p:spPr>
          <a:xfrm>
            <a:off x="6419852" y="4326938"/>
            <a:ext cx="4602478" cy="924746"/>
          </a:xfrm>
        </p:spPr>
        <p:txBody>
          <a:bodyPr/>
          <a:lstStyle>
            <a:lvl1pPr marL="0" indent="0">
              <a:buNone/>
              <a:defRPr sz="1400"/>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Click </a:t>
            </a:r>
            <a:r>
              <a:rPr lang="nl-NL" dirty="0" err="1"/>
              <a:t>to</a:t>
            </a:r>
            <a:r>
              <a:rPr lang="nl-NL" dirty="0"/>
              <a:t> </a:t>
            </a:r>
            <a:r>
              <a:rPr lang="nl-NL" dirty="0" err="1"/>
              <a:t>edit</a:t>
            </a:r>
            <a:endParaRPr lang="nl-NL" dirty="0"/>
          </a:p>
        </p:txBody>
      </p:sp>
    </p:spTree>
    <p:extLst>
      <p:ext uri="{BB962C8B-B14F-4D97-AF65-F5344CB8AC3E}">
        <p14:creationId xmlns:p14="http://schemas.microsoft.com/office/powerpoint/2010/main" val="819788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1B5F9CD-09B2-4288-8B0F-DFE0E5E618AC}"/>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4987B25-8A83-4C70-B2F1-C1832EC7B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68EA61-ADEF-44A4-A550-82FA30A08C67}"/>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8" name="Tijdelijke aanduiding voor tekst 7">
            <a:extLst>
              <a:ext uri="{FF2B5EF4-FFF2-40B4-BE49-F238E27FC236}">
                <a16:creationId xmlns:a16="http://schemas.microsoft.com/office/drawing/2014/main" id="{FCDD82BE-D135-C544-8C46-204EE67B6B18}"/>
              </a:ext>
            </a:extLst>
          </p:cNvPr>
          <p:cNvSpPr>
            <a:spLocks noGrp="1"/>
          </p:cNvSpPr>
          <p:nvPr>
            <p:ph type="body" sz="quarter" idx="13" hasCustomPrompt="1"/>
          </p:nvPr>
        </p:nvSpPr>
        <p:spPr>
          <a:xfrm>
            <a:off x="5160963" y="1543050"/>
            <a:ext cx="5938837" cy="3602038"/>
          </a:xfrm>
        </p:spPr>
        <p:txBody>
          <a:bodyPr/>
          <a:lstStyle>
            <a:lvl1pPr marL="0" indent="0">
              <a:buNone/>
              <a:defRPr sz="1400" b="0">
                <a:solidFill>
                  <a:schemeClr val="tx2"/>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nl-NL" dirty="0"/>
              <a:t>Click </a:t>
            </a:r>
            <a:r>
              <a:rPr lang="nl-NL" dirty="0" err="1"/>
              <a:t>to</a:t>
            </a:r>
            <a:r>
              <a:rPr lang="nl-NL" dirty="0"/>
              <a:t> </a:t>
            </a:r>
            <a:r>
              <a:rPr lang="nl-NL" dirty="0" err="1"/>
              <a:t>edit</a:t>
            </a:r>
            <a:endParaRPr lang="nl-NL" dirty="0"/>
          </a:p>
        </p:txBody>
      </p:sp>
    </p:spTree>
    <p:extLst>
      <p:ext uri="{BB962C8B-B14F-4D97-AF65-F5344CB8AC3E}">
        <p14:creationId xmlns:p14="http://schemas.microsoft.com/office/powerpoint/2010/main" val="1980864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8D6DCD4-D09A-424D-BCF1-10D9CEB389E1}"/>
              </a:ext>
            </a:extLst>
          </p:cNvPr>
          <p:cNvSpPr>
            <a:spLocks noGrp="1"/>
          </p:cNvSpPr>
          <p:nvPr>
            <p:ph type="dt" sz="half" idx="10"/>
          </p:nvPr>
        </p:nvSpPr>
        <p:spPr/>
        <p:txBody>
          <a:bodyPr/>
          <a:lstStyle/>
          <a:p>
            <a:fld id="{EA730EFB-AB28-4A68-9CF2-24FEA7CF3D98}" type="datetimeFigureOut">
              <a:rPr lang="en-US" smtClean="0"/>
              <a:t>9/11/2026</a:t>
            </a:fld>
            <a:endParaRPr lang="en-US"/>
          </a:p>
        </p:txBody>
      </p:sp>
      <p:sp>
        <p:nvSpPr>
          <p:cNvPr id="4" name="Footer Placeholder 3">
            <a:extLst>
              <a:ext uri="{FF2B5EF4-FFF2-40B4-BE49-F238E27FC236}">
                <a16:creationId xmlns:a16="http://schemas.microsoft.com/office/drawing/2014/main" id="{64A81BBE-0237-4A1F-BA6E-13DF7555F8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FC6D35-11CD-4922-8A60-58D2E1AB67C1}"/>
              </a:ext>
            </a:extLst>
          </p:cNvPr>
          <p:cNvSpPr>
            <a:spLocks noGrp="1"/>
          </p:cNvSpPr>
          <p:nvPr>
            <p:ph type="sldNum" sz="quarter" idx="12"/>
          </p:nvPr>
        </p:nvSpPr>
        <p:spPr/>
        <p:txBody>
          <a:bodyPr/>
          <a:lstStyle/>
          <a:p>
            <a:fld id="{98F0EB9D-8EC8-4EF4-9A95-65EE5F6F83A2}" type="slidenum">
              <a:rPr lang="en-US" smtClean="0"/>
              <a:t>‹#›</a:t>
            </a:fld>
            <a:endParaRPr lang="en-US"/>
          </a:p>
        </p:txBody>
      </p:sp>
      <p:sp>
        <p:nvSpPr>
          <p:cNvPr id="6" name="Title 1">
            <a:extLst>
              <a:ext uri="{FF2B5EF4-FFF2-40B4-BE49-F238E27FC236}">
                <a16:creationId xmlns:a16="http://schemas.microsoft.com/office/drawing/2014/main" id="{5692AEA3-9819-8946-A9C8-BDDE9DB69499}"/>
              </a:ext>
            </a:extLst>
          </p:cNvPr>
          <p:cNvSpPr>
            <a:spLocks noGrp="1"/>
          </p:cNvSpPr>
          <p:nvPr>
            <p:ph type="title" hasCustomPrompt="1"/>
          </p:nvPr>
        </p:nvSpPr>
        <p:spPr>
          <a:xfrm>
            <a:off x="623980" y="2821303"/>
            <a:ext cx="3034539" cy="1325563"/>
          </a:xfrm>
        </p:spPr>
        <p:txBody>
          <a:bodyPr/>
          <a:lstStyle>
            <a:lvl1pPr>
              <a:defRPr/>
            </a:lvl1pPr>
          </a:lstStyle>
          <a:p>
            <a:r>
              <a:rPr lang="en-US" dirty="0"/>
              <a:t>Let’s stay</a:t>
            </a:r>
            <a:br>
              <a:rPr lang="en-US" dirty="0"/>
            </a:br>
            <a:r>
              <a:rPr lang="en-US" dirty="0"/>
              <a:t>in touch</a:t>
            </a:r>
          </a:p>
        </p:txBody>
      </p:sp>
      <p:sp>
        <p:nvSpPr>
          <p:cNvPr id="8" name="Tijdelijke aanduiding voor tekst 7">
            <a:extLst>
              <a:ext uri="{FF2B5EF4-FFF2-40B4-BE49-F238E27FC236}">
                <a16:creationId xmlns:a16="http://schemas.microsoft.com/office/drawing/2014/main" id="{D7EA6672-B697-1F45-B601-485816F12E4D}"/>
              </a:ext>
            </a:extLst>
          </p:cNvPr>
          <p:cNvSpPr>
            <a:spLocks noGrp="1"/>
          </p:cNvSpPr>
          <p:nvPr>
            <p:ph type="body" sz="quarter" idx="13" hasCustomPrompt="1"/>
          </p:nvPr>
        </p:nvSpPr>
        <p:spPr>
          <a:xfrm>
            <a:off x="6441850" y="2411300"/>
            <a:ext cx="3334964" cy="454071"/>
          </a:xfrm>
        </p:spPr>
        <p:txBody>
          <a:bodyPr/>
          <a:lstStyle>
            <a:lvl1pPr marL="0" indent="0">
              <a:lnSpc>
                <a:spcPct val="100000"/>
              </a:lnSpc>
              <a:buNone/>
              <a:defRPr sz="1400" baseline="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err="1"/>
              <a:t>www.eScienceCenter.nl</a:t>
            </a:r>
            <a:endParaRPr lang="nl-NL" dirty="0"/>
          </a:p>
        </p:txBody>
      </p:sp>
      <p:sp>
        <p:nvSpPr>
          <p:cNvPr id="9" name="Tijdelijke aanduiding voor tekst 7">
            <a:extLst>
              <a:ext uri="{FF2B5EF4-FFF2-40B4-BE49-F238E27FC236}">
                <a16:creationId xmlns:a16="http://schemas.microsoft.com/office/drawing/2014/main" id="{8044E8D2-73A1-754B-A79F-38C8566011BC}"/>
              </a:ext>
            </a:extLst>
          </p:cNvPr>
          <p:cNvSpPr>
            <a:spLocks noGrp="1"/>
          </p:cNvSpPr>
          <p:nvPr>
            <p:ph type="body" sz="quarter" idx="14" hasCustomPrompt="1"/>
          </p:nvPr>
        </p:nvSpPr>
        <p:spPr>
          <a:xfrm>
            <a:off x="6441850" y="3138788"/>
            <a:ext cx="3334964" cy="454071"/>
          </a:xfrm>
        </p:spPr>
        <p:txBody>
          <a:bodyPr/>
          <a:lstStyle>
            <a:lvl1pPr marL="0" indent="0">
              <a:lnSpc>
                <a:spcPct val="100000"/>
              </a:lnSpc>
              <a:buNone/>
              <a:defRPr sz="1400" baseline="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err="1"/>
              <a:t>info@esciencecenter.com</a:t>
            </a:r>
            <a:endParaRPr lang="nl-NL" dirty="0"/>
          </a:p>
        </p:txBody>
      </p:sp>
      <p:sp>
        <p:nvSpPr>
          <p:cNvPr id="10" name="Tijdelijke aanduiding voor tekst 7">
            <a:extLst>
              <a:ext uri="{FF2B5EF4-FFF2-40B4-BE49-F238E27FC236}">
                <a16:creationId xmlns:a16="http://schemas.microsoft.com/office/drawing/2014/main" id="{5F583079-5811-6140-9BA6-DF65FDE8673E}"/>
              </a:ext>
            </a:extLst>
          </p:cNvPr>
          <p:cNvSpPr>
            <a:spLocks noGrp="1"/>
          </p:cNvSpPr>
          <p:nvPr>
            <p:ph type="body" sz="quarter" idx="15" hasCustomPrompt="1"/>
          </p:nvPr>
        </p:nvSpPr>
        <p:spPr>
          <a:xfrm>
            <a:off x="6441850" y="3865901"/>
            <a:ext cx="3334964" cy="454071"/>
          </a:xfrm>
        </p:spPr>
        <p:txBody>
          <a:bodyPr/>
          <a:lstStyle>
            <a:lvl1pPr marL="0" indent="0">
              <a:lnSpc>
                <a:spcPct val="100000"/>
              </a:lnSpc>
              <a:buNone/>
              <a:defRPr sz="1400" baseline="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nl-NL" dirty="0"/>
              <a:t>+31 (0)20 460 4770</a:t>
            </a:r>
          </a:p>
        </p:txBody>
      </p:sp>
    </p:spTree>
    <p:extLst>
      <p:ext uri="{BB962C8B-B14F-4D97-AF65-F5344CB8AC3E}">
        <p14:creationId xmlns:p14="http://schemas.microsoft.com/office/powerpoint/2010/main" val="41801693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953DF0-B3E3-4CA0-901B-3E9940F70D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2F47C2B6-AE5B-4C95-AFBB-4E4C0CAEA11F}"/>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999343F-3D17-496B-B837-C1FFB896E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30EFB-AB28-4A68-9CF2-24FEA7CF3D98}" type="datetimeFigureOut">
              <a:rPr lang="en-US" smtClean="0"/>
              <a:t>9/11/2026</a:t>
            </a:fld>
            <a:endParaRPr lang="en-US"/>
          </a:p>
        </p:txBody>
      </p:sp>
      <p:sp>
        <p:nvSpPr>
          <p:cNvPr id="5" name="Footer Placeholder 4">
            <a:extLst>
              <a:ext uri="{FF2B5EF4-FFF2-40B4-BE49-F238E27FC236}">
                <a16:creationId xmlns:a16="http://schemas.microsoft.com/office/drawing/2014/main" id="{9F8C3BB4-6034-4D3F-9DBD-013180527E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31F1FB-D371-4F1E-A37C-3BD40CF8FC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F0EB9D-8EC8-4EF4-9A95-65EE5F6F83A2}" type="slidenum">
              <a:rPr lang="en-US" smtClean="0"/>
              <a:t>‹#›</a:t>
            </a:fld>
            <a:endParaRPr lang="en-US"/>
          </a:p>
        </p:txBody>
      </p:sp>
    </p:spTree>
    <p:extLst>
      <p:ext uri="{BB962C8B-B14F-4D97-AF65-F5344CB8AC3E}">
        <p14:creationId xmlns:p14="http://schemas.microsoft.com/office/powerpoint/2010/main" val="11646047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2" r:id="rId3"/>
    <p:sldLayoutId id="2147483667" r:id="rId4"/>
    <p:sldLayoutId id="2147483663" r:id="rId5"/>
    <p:sldLayoutId id="2147483650" r:id="rId6"/>
    <p:sldLayoutId id="2147483671" r:id="rId7"/>
    <p:sldLayoutId id="2147483670" r:id="rId8"/>
    <p:sldLayoutId id="2147483661" r:id="rId9"/>
    <p:sldLayoutId id="2147483664" r:id="rId10"/>
    <p:sldLayoutId id="2147483668" r:id="rId11"/>
    <p:sldLayoutId id="2147483665" r:id="rId12"/>
    <p:sldLayoutId id="2147483669" r:id="rId13"/>
    <p:sldLayoutId id="2147483666" r:id="rId1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0" y="1417320"/>
            <a:ext cx="5669280" cy="310896"/>
          </a:xfrm>
          <a:prstGeom prst="rect">
            <a:avLst/>
          </a:prstGeom>
          <a:noFill/>
        </p:spPr>
        <p:txBody>
          <a:bodyPr wrap="square" anchor="t" lIns="0" rIns="0" tIns="0" bIns="0">
            <a:spAutoFit/>
          </a:bodyPr>
          <a:lstStyle/>
          <a:p>
            <a:pPr algn="l"/>
            <a:r>
              <a:rPr sz="1150" b="1" i="0">
                <a:solidFill>
                  <a:srgbClr val="FFB213"/>
                </a:solidFill>
                <a:latin typeface="Assistant"/>
              </a:rPr>
              <a:t>ONE-HOUR WORKSHOP  ·  TALK + A 15-MINUTE HANDS-ON</a:t>
            </a:r>
          </a:p>
        </p:txBody>
      </p:sp>
      <p:sp>
        <p:nvSpPr>
          <p:cNvPr id="3" name="TextBox 2"/>
          <p:cNvSpPr txBox="1"/>
          <p:nvPr/>
        </p:nvSpPr>
        <p:spPr>
          <a:xfrm>
            <a:off x="2267712" y="1719072"/>
            <a:ext cx="5760720" cy="1371600"/>
          </a:xfrm>
          <a:prstGeom prst="rect">
            <a:avLst/>
          </a:prstGeom>
          <a:noFill/>
        </p:spPr>
        <p:txBody>
          <a:bodyPr wrap="square" anchor="t" lIns="0" rIns="0" tIns="0" bIns="0">
            <a:spAutoFit/>
          </a:bodyPr>
          <a:lstStyle/>
          <a:p>
            <a:pPr algn="l">
              <a:lnSpc>
                <a:spcPct val="104000"/>
              </a:lnSpc>
            </a:pPr>
            <a:r>
              <a:rPr sz="3200" b="0" i="0">
                <a:solidFill>
                  <a:srgbClr val="FFFFFF"/>
                </a:solidFill>
                <a:latin typeface="Nunito"/>
              </a:rPr>
              <a:t>Reproducible Science in the Age of Vibe Coding</a:t>
            </a:r>
          </a:p>
        </p:txBody>
      </p:sp>
      <p:sp>
        <p:nvSpPr>
          <p:cNvPr id="4" name="Rectangle 3"/>
          <p:cNvSpPr/>
          <p:nvPr/>
        </p:nvSpPr>
        <p:spPr>
          <a:xfrm>
            <a:off x="2304288" y="3063240"/>
            <a:ext cx="1234440" cy="64008"/>
          </a:xfrm>
          <a:prstGeom prst="rect">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3273552"/>
            <a:ext cx="5669280" cy="822960"/>
          </a:xfrm>
          <a:prstGeom prst="rect">
            <a:avLst/>
          </a:prstGeom>
          <a:noFill/>
        </p:spPr>
        <p:txBody>
          <a:bodyPr wrap="square" anchor="t" lIns="0" rIns="0" tIns="0" bIns="0">
            <a:spAutoFit/>
          </a:bodyPr>
          <a:lstStyle/>
          <a:p>
            <a:pPr algn="l">
              <a:lnSpc>
                <a:spcPct val="114000"/>
              </a:lnSpc>
            </a:pPr>
            <a:r>
              <a:rPr sz="1500" b="0" i="0">
                <a:solidFill>
                  <a:srgbClr val="D8E8F5"/>
                </a:solidFill>
                <a:latin typeface="Assistant"/>
              </a:rPr>
              <a:t>LLMs have made writing code almost free. What is still expensive is being wrong — and not being able to tell.</a:t>
            </a:r>
          </a:p>
        </p:txBody>
      </p:sp>
      <p:sp>
        <p:nvSpPr>
          <p:cNvPr id="6" name="TextBox 5"/>
          <p:cNvSpPr txBox="1"/>
          <p:nvPr/>
        </p:nvSpPr>
        <p:spPr>
          <a:xfrm>
            <a:off x="2286000" y="4224528"/>
            <a:ext cx="5760720" cy="685800"/>
          </a:xfrm>
          <a:prstGeom prst="rect">
            <a:avLst/>
          </a:prstGeom>
          <a:noFill/>
        </p:spPr>
        <p:txBody>
          <a:bodyPr wrap="square" anchor="t" lIns="0" rIns="0" tIns="0" bIns="0">
            <a:spAutoFit/>
          </a:bodyPr>
          <a:lstStyle/>
          <a:p>
            <a:pPr algn="l">
              <a:lnSpc>
                <a:spcPct val="114000"/>
              </a:lnSpc>
            </a:pPr>
            <a:r>
              <a:rPr sz="1050" b="0" i="0">
                <a:solidFill>
                  <a:srgbClr val="C9DCEA"/>
                </a:solidFill>
                <a:latin typeface="Assistant"/>
              </a:rPr>
              <a:t>Facilitator: [Your name]  ·  [Institution]  ·  [Date]</a:t>
            </a:r>
          </a:p>
          <a:p>
            <a:pPr algn="l">
              <a:lnSpc>
                <a:spcPct val="114000"/>
              </a:lnSpc>
            </a:pPr>
            <a:r>
              <a:rPr sz="1050" b="0" i="0">
                <a:solidFill>
                  <a:srgbClr val="C9DCEA"/>
                </a:solidFill>
                <a:latin typeface="Assistant"/>
              </a:rPr>
              <a:t>Built on four Carpentries Incubator lessons, all CC-BY 4.0: Good Practices in Research Software Development · Generative AI for Coding · Reproducible Research through Reusable Code · Collaborative Git and GitHub</a:t>
            </a:r>
          </a:p>
        </p:txBody>
      </p:sp>
      <p:sp>
        <p:nvSpPr>
          <p:cNvPr id="7" name="Rounded Rectangle 6"/>
          <p:cNvSpPr/>
          <p:nvPr/>
        </p:nvSpPr>
        <p:spPr>
          <a:xfrm>
            <a:off x="10204704" y="201168"/>
            <a:ext cx="1325880"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CORE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58000"/>
          </a:xfrm>
          <a:prstGeom prst="rect">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37360"/>
            <a:ext cx="9692640" cy="292608"/>
          </a:xfrm>
          <a:prstGeom prst="rect">
            <a:avLst/>
          </a:prstGeom>
          <a:noFill/>
        </p:spPr>
        <p:txBody>
          <a:bodyPr wrap="square" anchor="t" lIns="0" rIns="0" tIns="0" bIns="0">
            <a:spAutoFit/>
          </a:bodyPr>
          <a:lstStyle/>
          <a:p>
            <a:pPr algn="l"/>
            <a:r>
              <a:rPr sz="1100" b="1" i="0">
                <a:solidFill>
                  <a:srgbClr val="FFB213"/>
                </a:solidFill>
                <a:latin typeface="Assistant"/>
              </a:rPr>
              <a:t>MINUTE 1</a:t>
            </a:r>
          </a:p>
        </p:txBody>
      </p:sp>
      <p:sp>
        <p:nvSpPr>
          <p:cNvPr id="5" name="TextBox 4"/>
          <p:cNvSpPr txBox="1"/>
          <p:nvPr/>
        </p:nvSpPr>
        <p:spPr>
          <a:xfrm>
            <a:off x="960120" y="2176272"/>
            <a:ext cx="10241280" cy="2194560"/>
          </a:xfrm>
          <a:prstGeom prst="rect">
            <a:avLst/>
          </a:prstGeom>
          <a:noFill/>
        </p:spPr>
        <p:txBody>
          <a:bodyPr wrap="square" anchor="t" lIns="0" rIns="0" tIns="0" bIns="0">
            <a:spAutoFit/>
          </a:bodyPr>
          <a:lstStyle/>
          <a:p>
            <a:pPr algn="l">
              <a:lnSpc>
                <a:spcPct val="106000"/>
              </a:lnSpc>
            </a:pPr>
            <a:r>
              <a:rPr sz="3600" b="0" i="0">
                <a:solidFill>
                  <a:srgbClr val="FFFFFF"/>
                </a:solidFill>
                <a:latin typeface="Nunito"/>
              </a:rPr>
              <a:t>It worked on my laptop.</a:t>
            </a:r>
          </a:p>
        </p:txBody>
      </p:sp>
      <p:sp>
        <p:nvSpPr>
          <p:cNvPr id="6" name="TextBox 5"/>
          <p:cNvSpPr txBox="1"/>
          <p:nvPr/>
        </p:nvSpPr>
        <p:spPr>
          <a:xfrm>
            <a:off x="978408" y="4224528"/>
            <a:ext cx="9784080" cy="1645920"/>
          </a:xfrm>
          <a:prstGeom prst="rect">
            <a:avLst/>
          </a:prstGeom>
          <a:noFill/>
        </p:spPr>
        <p:txBody>
          <a:bodyPr wrap="square" anchor="t" lIns="0" rIns="0" tIns="0" bIns="0">
            <a:spAutoFit/>
          </a:bodyPr>
          <a:lstStyle/>
          <a:p>
            <a:pPr algn="l">
              <a:lnSpc>
                <a:spcPct val="116000"/>
              </a:lnSpc>
            </a:pPr>
            <a:r>
              <a:rPr sz="1500" b="0" i="0">
                <a:solidFill>
                  <a:srgbClr val="D8E8F5"/>
                </a:solidFill>
                <a:latin typeface="Assistant"/>
              </a:rPr>
              <a:t>Two years after the paper, a reviewer asks for the same analysis with a different threshold. The script is 400 lines, with no functions and no tests, and the data path points at a folder you deleted.</a:t>
            </a:r>
          </a:p>
          <a:p>
            <a:pPr algn="l">
              <a:lnSpc>
                <a:spcPct val="116000"/>
              </a:lnSpc>
            </a:pPr>
            <a:r>
              <a:rPr sz="1500" b="0" i="0">
                <a:solidFill>
                  <a:srgbClr val="D8E8F5"/>
                </a:solidFill>
                <a:latin typeface="Assistant"/>
              </a:rPr>
              <a:t/>
            </a:r>
          </a:p>
          <a:p>
            <a:pPr algn="l">
              <a:lnSpc>
                <a:spcPct val="116000"/>
              </a:lnSpc>
            </a:pPr>
            <a:r>
              <a:rPr sz="1500" b="0" i="0">
                <a:solidFill>
                  <a:srgbClr val="D8E8F5"/>
                </a:solidFill>
                <a:latin typeface="Assistant"/>
              </a:rPr>
              <a:t>Nothing here is a coding problem. It is a reproducibility problem — and assistants changed the cost of writing code, not the cost of being wrong.</a:t>
            </a:r>
          </a:p>
        </p:txBody>
      </p:sp>
      <p:sp>
        <p:nvSpPr>
          <p:cNvPr id="7" name="Rounded Rectangle 6"/>
          <p:cNvSpPr/>
          <p:nvPr/>
        </p:nvSpPr>
        <p:spPr>
          <a:xfrm>
            <a:off x="10204704" y="201168"/>
            <a:ext cx="1325880"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CORE</a:t>
            </a:r>
          </a:p>
        </p:txBody>
      </p:sp>
      <p:sp>
        <p:nvSpPr>
          <p:cNvPr id="9" name="TextBox 8"/>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D8E8F5"/>
                </a:solidFill>
                <a:latin typeface="Assistant"/>
              </a:rPr>
              <a:t>Reproducible Science in the Age of Vibe Coding</a:t>
            </a:r>
          </a:p>
        </p:txBody>
      </p:sp>
      <p:sp>
        <p:nvSpPr>
          <p:cNvPr id="10" name="TextBox 9"/>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D8E8F5"/>
                </a:solidFill>
                <a:latin typeface="Assistant"/>
              </a:rPr>
              <a:t>02 / 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WHAT WE WILL DO, AND WHEN YOU GET TO TYPE</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hour at a glance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graphicFrame>
        <p:nvGraphicFramePr>
          <p:cNvPr id="7" name="Table 6"/>
          <p:cNvGraphicFramePr>
            <a:graphicFrameLocks noGrp="1"/>
          </p:cNvGraphicFramePr>
          <p:nvPr/>
        </p:nvGraphicFramePr>
        <p:xfrm>
          <a:off x="978408" y="1673352"/>
          <a:ext cx="10232135" cy="4114800"/>
        </p:xfrm>
        <a:graphic>
          <a:graphicData uri="http://schemas.openxmlformats.org/drawingml/2006/table">
            <a:tbl>
              <a:tblPr firstRow="1" bandRow="1">
                <a:tableStyleId>{5C22544A-7EE6-4342-B048-85BDC9FD1C3A}</a:tableStyleId>
              </a:tblPr>
              <a:tblGrid>
                <a:gridCol w="1031812"/>
                <a:gridCol w="3267404"/>
                <a:gridCol w="5932919"/>
              </a:tblGrid>
              <a:tr h="514350">
                <a:tc>
                  <a:txBody>
                    <a:bodyPr wrap="square"/>
                    <a:lstStyle/>
                    <a:p>
                      <a:pPr>
                        <a:lnSpc>
                          <a:spcPct val="95000"/>
                        </a:lnSpc>
                      </a:pPr>
                      <a:r>
                        <a:rPr sz="1200" b="1">
                          <a:solidFill>
                            <a:srgbClr val="FFFFFF"/>
                          </a:solidFill>
                          <a:latin typeface="Assistant"/>
                        </a:rPr>
                        <a:t>Time</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Block</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What happens</a:t>
                      </a:r>
                    </a:p>
                  </a:txBody>
                  <a:tcPr marL="91440" marR="91440" marT="45720" marB="45720" anchor="ctr">
                    <a:solidFill>
                      <a:srgbClr val="006B96"/>
                    </a:solidFill>
                  </a:tcPr>
                </a:tc>
              </a:tr>
              <a:tr h="514350">
                <a:tc>
                  <a:txBody>
                    <a:bodyPr wrap="square"/>
                    <a:lstStyle/>
                    <a:p>
                      <a:pPr>
                        <a:lnSpc>
                          <a:spcPct val="95000"/>
                        </a:lnSpc>
                      </a:pPr>
                      <a:r>
                        <a:rPr sz="1150">
                          <a:solidFill>
                            <a:srgbClr val="333333"/>
                          </a:solidFill>
                          <a:latin typeface="Assistant"/>
                        </a:rPr>
                        <a:t>0:00–0:04</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Welcome and the problem</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Why reproducibility and AI assistants collide</a:t>
                      </a:r>
                    </a:p>
                  </a:txBody>
                  <a:tcPr marL="91440" marR="91440" marT="45720" marB="45720" anchor="ctr">
                    <a:solidFill>
                      <a:srgbClr val="FFFFFF"/>
                    </a:solidFill>
                  </a:tcPr>
                </a:tc>
              </a:tr>
              <a:tr h="514350">
                <a:tc>
                  <a:txBody>
                    <a:bodyPr wrap="square"/>
                    <a:lstStyle/>
                    <a:p>
                      <a:pPr>
                        <a:lnSpc>
                          <a:spcPct val="95000"/>
                        </a:lnSpc>
                      </a:pPr>
                      <a:r>
                        <a:rPr sz="1150">
                          <a:solidFill>
                            <a:srgbClr val="333333"/>
                          </a:solidFill>
                          <a:latin typeface="Assistant"/>
                        </a:rPr>
                        <a:t>0:04–0:12</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Part 1 — Reproducible by construction</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Modules, documentation, one test, version control and CI</a:t>
                      </a:r>
                    </a:p>
                  </a:txBody>
                  <a:tcPr marL="91440" marR="91440" marT="45720" marB="45720" anchor="ctr">
                    <a:solidFill>
                      <a:srgbClr val="EEF3F9"/>
                    </a:solidFill>
                  </a:tcPr>
                </a:tc>
              </a:tr>
              <a:tr h="514350">
                <a:tc>
                  <a:txBody>
                    <a:bodyPr wrap="square"/>
                    <a:lstStyle/>
                    <a:p>
                      <a:pPr>
                        <a:lnSpc>
                          <a:spcPct val="95000"/>
                        </a:lnSpc>
                      </a:pPr>
                      <a:r>
                        <a:rPr sz="1150">
                          <a:solidFill>
                            <a:srgbClr val="333333"/>
                          </a:solidFill>
                          <a:latin typeface="Assistant"/>
                        </a:rPr>
                        <a:t>0:12–0:22</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Part 2 — Vibe coding with LLMs</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How assistants work, the three modes, prompting, and the bug that looks fine</a:t>
                      </a:r>
                    </a:p>
                  </a:txBody>
                  <a:tcPr marL="91440" marR="91440" marT="45720" marB="45720" anchor="ctr">
                    <a:solidFill>
                      <a:srgbClr val="FFFFFF"/>
                    </a:solidFill>
                  </a:tcPr>
                </a:tc>
              </a:tr>
              <a:tr h="514350">
                <a:tc>
                  <a:txBody>
                    <a:bodyPr wrap="square"/>
                    <a:lstStyle/>
                    <a:p>
                      <a:pPr>
                        <a:lnSpc>
                          <a:spcPct val="95000"/>
                        </a:lnSpc>
                      </a:pPr>
                      <a:r>
                        <a:rPr sz="1150">
                          <a:solidFill>
                            <a:srgbClr val="333333"/>
                          </a:solidFill>
                          <a:latin typeface="Assistant"/>
                        </a:rPr>
                        <a:t>0:22–0:37</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HANDS-ON — fix a script that runs but lies</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Everyone types: diagnose it, prompt an assistant, fix it, then break the fix</a:t>
                      </a:r>
                    </a:p>
                  </a:txBody>
                  <a:tcPr marL="91440" marR="91440" marT="45720" marB="45720" anchor="ctr">
                    <a:solidFill>
                      <a:srgbClr val="EEF3F9"/>
                    </a:solidFill>
                  </a:tcPr>
                </a:tc>
              </a:tr>
              <a:tr h="514350">
                <a:tc>
                  <a:txBody>
                    <a:bodyPr wrap="square"/>
                    <a:lstStyle/>
                    <a:p>
                      <a:pPr>
                        <a:lnSpc>
                          <a:spcPct val="95000"/>
                        </a:lnSpc>
                      </a:pPr>
                      <a:r>
                        <a:rPr sz="1150">
                          <a:solidFill>
                            <a:srgbClr val="333333"/>
                          </a:solidFill>
                          <a:latin typeface="Assistant"/>
                        </a:rPr>
                        <a:t>0:37–0:47</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Part 3 — Risks and guardrails</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Analytical reproducibility, ethics, security, and the review checklist</a:t>
                      </a:r>
                    </a:p>
                  </a:txBody>
                  <a:tcPr marL="91440" marR="91440" marT="45720" marB="45720" anchor="ctr">
                    <a:solidFill>
                      <a:srgbClr val="FFFFFF"/>
                    </a:solidFill>
                  </a:tcPr>
                </a:tc>
              </a:tr>
              <a:tr h="514350">
                <a:tc>
                  <a:txBody>
                    <a:bodyPr wrap="square"/>
                    <a:lstStyle/>
                    <a:p>
                      <a:pPr>
                        <a:lnSpc>
                          <a:spcPct val="95000"/>
                        </a:lnSpc>
                      </a:pPr>
                      <a:r>
                        <a:rPr sz="1150">
                          <a:solidFill>
                            <a:srgbClr val="333333"/>
                          </a:solidFill>
                          <a:latin typeface="Assistant"/>
                        </a:rPr>
                        <a:t>0:47–0:51</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Wrap-up</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The checklist, and what to do on Monday</a:t>
                      </a:r>
                    </a:p>
                  </a:txBody>
                  <a:tcPr marL="91440" marR="91440" marT="45720" marB="45720" anchor="ctr">
                    <a:solidFill>
                      <a:srgbClr val="EEF3F9"/>
                    </a:solidFill>
                  </a:tcPr>
                </a:tc>
              </a:tr>
              <a:tr h="514350">
                <a:tc>
                  <a:txBody>
                    <a:bodyPr wrap="square"/>
                    <a:lstStyle/>
                    <a:p>
                      <a:pPr>
                        <a:lnSpc>
                          <a:spcPct val="95000"/>
                        </a:lnSpc>
                      </a:pPr>
                      <a:r>
                        <a:rPr sz="1150">
                          <a:solidFill>
                            <a:srgbClr val="333333"/>
                          </a:solidFill>
                          <a:latin typeface="Assistant"/>
                        </a:rPr>
                        <a:t>0:51–1:00</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Q&amp;A</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Anything you want to raise, plus the appendix as reference</a:t>
                      </a:r>
                    </a:p>
                  </a:txBody>
                  <a:tcPr marL="91440" marR="91440" marT="45720" marB="45720" anchor="ctr">
                    <a:solidFill>
                      <a:srgbClr val="FFFFFF"/>
                    </a:solidFill>
                  </a:tcPr>
                </a:tc>
              </a:tr>
            </a:tbl>
          </a:graphicData>
        </a:graphic>
      </p:graphicFrame>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03 /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1 · THE STANDARD WE ARE AIMING AT</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What “reproducible” actually means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1100"/>
              </a:spcAft>
            </a:pPr>
            <a:r>
              <a:rPr sz="1000">
                <a:solidFill>
                  <a:srgbClr val="009DDD"/>
                </a:solidFill>
                <a:latin typeface="Assistant"/>
              </a:rPr>
              <a:t>●  </a:t>
            </a:r>
            <a:r>
              <a:rPr sz="1500">
                <a:solidFill>
                  <a:srgbClr val="333333"/>
                </a:solidFill>
                <a:latin typeface="Assistant"/>
              </a:rPr>
              <a:t>Repeat: the same person, on the same machine, gets the same result. The weakest standard, and the most common thing people mean when they say “it works”.</a:t>
            </a:r>
          </a:p>
          <a:p>
            <a:pPr>
              <a:lnSpc>
                <a:spcPct val="97000"/>
              </a:lnSpc>
              <a:spcAft>
                <a:spcPts val="1100"/>
              </a:spcAft>
            </a:pPr>
            <a:r>
              <a:rPr sz="1000">
                <a:solidFill>
                  <a:srgbClr val="009DDD"/>
                </a:solidFill>
                <a:latin typeface="Assistant"/>
              </a:rPr>
              <a:t>●  </a:t>
            </a:r>
            <a:r>
              <a:rPr sz="1500">
                <a:solidFill>
                  <a:srgbClr val="333333"/>
                </a:solidFill>
                <a:latin typeface="Assistant"/>
              </a:rPr>
              <a:t>Reproduce: a different person, on a different machine, gets the same result. This is what a reviewer is actually asking for.</a:t>
            </a:r>
          </a:p>
          <a:p>
            <a:pPr>
              <a:lnSpc>
                <a:spcPct val="97000"/>
              </a:lnSpc>
              <a:spcAft>
                <a:spcPts val="1100"/>
              </a:spcAft>
            </a:pPr>
            <a:r>
              <a:rPr sz="1000">
                <a:solidFill>
                  <a:srgbClr val="009DDD"/>
                </a:solidFill>
                <a:latin typeface="Assistant"/>
              </a:rPr>
              <a:t>●  </a:t>
            </a:r>
            <a:r>
              <a:rPr sz="1500">
                <a:solidFill>
                  <a:srgbClr val="333333"/>
                </a:solidFill>
                <a:latin typeface="Assistant"/>
              </a:rPr>
              <a:t>Reuse: a stranger extends your analysis without emailing you first. This is what turns software into a research output.</a:t>
            </a:r>
          </a:p>
          <a:p>
            <a:pPr>
              <a:lnSpc>
                <a:spcPct val="97000"/>
              </a:lnSpc>
              <a:spcAft>
                <a:spcPts val="1100"/>
              </a:spcAft>
            </a:pPr>
            <a:r>
              <a:rPr sz="1000">
                <a:solidFill>
                  <a:srgbClr val="009DDD"/>
                </a:solidFill>
                <a:latin typeface="Assistant"/>
              </a:rPr>
              <a:t>●  </a:t>
            </a:r>
            <a:r>
              <a:rPr sz="1500">
                <a:solidFill>
                  <a:srgbClr val="333333"/>
                </a:solidFill>
                <a:latin typeface="Assistant"/>
              </a:rPr>
              <a:t>The test is concrete: can someone clone your repository, follow the README, and obtain the numbers in your paper?</a:t>
            </a:r>
          </a:p>
          <a:p>
            <a:pPr>
              <a:lnSpc>
                <a:spcPct val="97000"/>
              </a:lnSpc>
              <a:spcAft>
                <a:spcPts val="1100"/>
              </a:spcAft>
            </a:pPr>
            <a:r>
              <a:rPr sz="1000">
                <a:solidFill>
                  <a:srgbClr val="009DDD"/>
                </a:solidFill>
                <a:latin typeface="Assistant"/>
              </a:rPr>
              <a:t>●  </a:t>
            </a:r>
            <a:r>
              <a:rPr sz="1500">
                <a:solidFill>
                  <a:srgbClr val="333333"/>
                </a:solidFill>
                <a:latin typeface="Assistant"/>
              </a:rPr>
              <a:t>Most published code sits at “repeat”. Getting to “reproduce” is mostly structure, not talent — and structure is what the next three slides are about.</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04 /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1 · THE CHANGE THAT MAKES EVERYTHING ELSE POSSIBLE</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Modular code: the same analysis, ten minutes of work</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94944" y="1536192"/>
            <a:ext cx="5257800" cy="274320"/>
          </a:xfrm>
          <a:prstGeom prst="rect">
            <a:avLst/>
          </a:prstGeom>
          <a:noFill/>
        </p:spPr>
        <p:txBody>
          <a:bodyPr wrap="square" anchor="t" lIns="0" rIns="0" tIns="0" bIns="0">
            <a:spAutoFit/>
          </a:bodyPr>
          <a:lstStyle/>
          <a:p>
            <a:pPr algn="l"/>
            <a:r>
              <a:rPr sz="1100" b="1" i="0">
                <a:solidFill>
                  <a:srgbClr val="9A6600"/>
                </a:solidFill>
                <a:latin typeface="Assistant"/>
              </a:rPr>
              <a:t>ONE SCRIPT, FOUR JOBS</a:t>
            </a:r>
          </a:p>
        </p:txBody>
      </p:sp>
      <p:sp>
        <p:nvSpPr>
          <p:cNvPr id="8" name="Rounded Rectangle 7"/>
          <p:cNvSpPr/>
          <p:nvPr/>
        </p:nvSpPr>
        <p:spPr>
          <a:xfrm>
            <a:off x="658368" y="1883664"/>
            <a:ext cx="5257800" cy="2834640"/>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2057400"/>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 y="2057400"/>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43584" y="2057400"/>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04288"/>
            <a:ext cx="4800600" cy="2267712"/>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f</a:t>
            </a:r>
            <a:r>
              <a:rPr sz="1150">
                <a:solidFill>
                  <a:srgbClr val="F2ECF2"/>
                </a:solidFill>
                <a:latin typeface="Consolas"/>
              </a:rPr>
              <a:t> = open("data/trajectory.csv")</a:t>
            </a:r>
          </a:p>
          <a:p>
            <a:pPr>
              <a:lnSpc>
                <a:spcPct val="100000"/>
              </a:lnSpc>
              <a:spcAft>
                <a:spcPts val="0"/>
              </a:spcAft>
            </a:pPr>
            <a:r>
              <a:rPr sz="1150" b="0">
                <a:solidFill>
                  <a:srgbClr val="F2ECF2"/>
                </a:solidFill>
                <a:latin typeface="Consolas"/>
              </a:rPr>
              <a:t>rows</a:t>
            </a:r>
            <a:r>
              <a:rPr sz="1150">
                <a:solidFill>
                  <a:srgbClr val="F2ECF2"/>
                </a:solidFill>
                <a:latin typeface="Consolas"/>
              </a:rPr>
              <a:t> = []</a:t>
            </a:r>
          </a:p>
          <a:p>
            <a:pPr>
              <a:lnSpc>
                <a:spcPct val="100000"/>
              </a:lnSpc>
              <a:spcAft>
                <a:spcPts val="0"/>
              </a:spcAft>
            </a:pPr>
            <a:r>
              <a:rPr sz="1150" b="1">
                <a:solidFill>
                  <a:srgbClr val="009DDD"/>
                </a:solidFill>
                <a:latin typeface="Consolas"/>
              </a:rPr>
              <a:t>for</a:t>
            </a:r>
            <a:r>
              <a:rPr sz="1150">
                <a:solidFill>
                  <a:srgbClr val="F2ECF2"/>
                </a:solidFill>
                <a:latin typeface="Consolas"/>
              </a:rPr>
              <a:t> line in f:</a:t>
            </a:r>
          </a:p>
          <a:p>
            <a:pPr>
              <a:lnSpc>
                <a:spcPct val="100000"/>
              </a:lnSpc>
              <a:spcAft>
                <a:spcPts val="0"/>
              </a:spcAft>
            </a:pPr>
            <a:r>
              <a:rPr sz="1150">
                <a:solidFill>
                  <a:srgbClr val="F2ECF2"/>
                </a:solidFill>
                <a:latin typeface="Consolas"/>
              </a:rPr>
              <a:t>    </a:t>
            </a:r>
            <a:r>
              <a:rPr sz="1150" b="0">
                <a:solidFill>
                  <a:srgbClr val="F2ECF2"/>
                </a:solidFill>
                <a:latin typeface="Consolas"/>
              </a:rPr>
              <a:t>p</a:t>
            </a:r>
            <a:r>
              <a:rPr sz="1150">
                <a:solidFill>
                  <a:srgbClr val="F2ECF2"/>
                </a:solidFill>
                <a:latin typeface="Consolas"/>
              </a:rPr>
              <a:t> = line.strip().split(",")</a:t>
            </a:r>
          </a:p>
          <a:p>
            <a:pPr>
              <a:lnSpc>
                <a:spcPct val="100000"/>
              </a:lnSpc>
              <a:spcAft>
                <a:spcPts val="0"/>
              </a:spcAft>
            </a:pPr>
            <a:r>
              <a:rPr sz="1150">
                <a:solidFill>
                  <a:srgbClr val="F2ECF2"/>
                </a:solidFill>
                <a:latin typeface="Consolas"/>
              </a:rPr>
              <a:t>    </a:t>
            </a:r>
            <a:r>
              <a:rPr sz="1150" b="1">
                <a:solidFill>
                  <a:srgbClr val="009DDD"/>
                </a:solidFill>
                <a:latin typeface="Consolas"/>
              </a:rPr>
              <a:t>if</a:t>
            </a:r>
            <a:r>
              <a:rPr sz="1150">
                <a:solidFill>
                  <a:srgbClr val="F2ECF2"/>
                </a:solidFill>
                <a:latin typeface="Consolas"/>
              </a:rPr>
              <a:t> len(p) == 4 and p[2] != "":</a:t>
            </a:r>
          </a:p>
          <a:p>
            <a:pPr>
              <a:lnSpc>
                <a:spcPct val="100000"/>
              </a:lnSpc>
              <a:spcAft>
                <a:spcPts val="0"/>
              </a:spcAft>
            </a:pPr>
            <a:r>
              <a:rPr sz="1150">
                <a:solidFill>
                  <a:srgbClr val="F2ECF2"/>
                </a:solidFill>
                <a:latin typeface="Consolas"/>
              </a:rPr>
              <a:t>        </a:t>
            </a:r>
            <a:r>
              <a:rPr sz="1150" b="0">
                <a:solidFill>
                  <a:srgbClr val="F2ECF2"/>
                </a:solidFill>
                <a:latin typeface="Consolas"/>
              </a:rPr>
              <a:t>rows.append</a:t>
            </a:r>
            <a:r>
              <a:rPr sz="1150">
                <a:solidFill>
                  <a:srgbClr val="F2ECF2"/>
                </a:solidFill>
                <a:latin typeface="Consolas"/>
              </a:rPr>
              <a:t>(float(p[2]))</a:t>
            </a:r>
          </a:p>
          <a:p>
            <a:pPr>
              <a:lnSpc>
                <a:spcPct val="100000"/>
              </a:lnSpc>
              <a:spcAft>
                <a:spcPts val="0"/>
              </a:spcAft>
            </a:pPr>
            <a:r>
              <a:rPr sz="1150" b="0">
                <a:solidFill>
                  <a:srgbClr val="F2ECF2"/>
                </a:solidFill>
                <a:latin typeface="Consolas"/>
              </a:rPr>
              <a:t>total</a:t>
            </a:r>
            <a:r>
              <a:rPr sz="1150">
                <a:solidFill>
                  <a:srgbClr val="F2ECF2"/>
                </a:solidFill>
                <a:latin typeface="Consolas"/>
              </a:rPr>
              <a:t> = 0</a:t>
            </a:r>
          </a:p>
          <a:p>
            <a:pPr>
              <a:lnSpc>
                <a:spcPct val="100000"/>
              </a:lnSpc>
              <a:spcAft>
                <a:spcPts val="0"/>
              </a:spcAft>
            </a:pPr>
            <a:r>
              <a:rPr sz="1150" b="1">
                <a:solidFill>
                  <a:srgbClr val="009DDD"/>
                </a:solidFill>
                <a:latin typeface="Consolas"/>
              </a:rPr>
              <a:t>for</a:t>
            </a:r>
            <a:r>
              <a:rPr sz="1150">
                <a:solidFill>
                  <a:srgbClr val="F2ECF2"/>
                </a:solidFill>
                <a:latin typeface="Consolas"/>
              </a:rPr>
              <a:t> r in rows:</a:t>
            </a:r>
          </a:p>
          <a:p>
            <a:pPr>
              <a:lnSpc>
                <a:spcPct val="100000"/>
              </a:lnSpc>
              <a:spcAft>
                <a:spcPts val="0"/>
              </a:spcAft>
            </a:pPr>
            <a:r>
              <a:rPr sz="1150">
                <a:solidFill>
                  <a:srgbClr val="F2ECF2"/>
                </a:solidFill>
                <a:latin typeface="Consolas"/>
              </a:rPr>
              <a:t>    </a:t>
            </a:r>
            <a:r>
              <a:rPr sz="1150" b="0">
                <a:solidFill>
                  <a:srgbClr val="F2ECF2"/>
                </a:solidFill>
                <a:latin typeface="Consolas"/>
              </a:rPr>
              <a:t>total</a:t>
            </a:r>
            <a:r>
              <a:rPr sz="1150">
                <a:solidFill>
                  <a:srgbClr val="F2ECF2"/>
                </a:solidFill>
                <a:latin typeface="Consolas"/>
              </a:rPr>
              <a:t> = total + r</a:t>
            </a:r>
          </a:p>
          <a:p>
            <a:pPr>
              <a:lnSpc>
                <a:spcPct val="100000"/>
              </a:lnSpc>
              <a:spcAft>
                <a:spcPts val="0"/>
              </a:spcAft>
            </a:pPr>
            <a:r>
              <a:rPr sz="1150" b="1">
                <a:solidFill>
                  <a:srgbClr val="009DDD"/>
                </a:solidFill>
                <a:latin typeface="Consolas"/>
              </a:rPr>
              <a:t>print</a:t>
            </a:r>
            <a:r>
              <a:rPr sz="1150">
                <a:solidFill>
                  <a:srgbClr val="F2ECF2"/>
                </a:solidFill>
                <a:latin typeface="Consolas"/>
              </a:rPr>
              <a:t>(total / len(rows))</a:t>
            </a:r>
          </a:p>
          <a:p>
            <a:pPr>
              <a:lnSpc>
                <a:spcPct val="100000"/>
              </a:lnSpc>
              <a:spcAft>
                <a:spcPts val="0"/>
              </a:spcAft>
            </a:pPr>
            <a:r>
              <a:rPr sz="1150" i="1">
                <a:solidFill>
                  <a:srgbClr val="BAA7BA"/>
                </a:solidFill>
                <a:latin typeface="Consolas"/>
              </a:rPr>
              <a:t># ... 90 more lines, and a second</a:t>
            </a:r>
          </a:p>
          <a:p>
            <a:pPr>
              <a:lnSpc>
                <a:spcPct val="100000"/>
              </a:lnSpc>
              <a:spcAft>
                <a:spcPts val="0"/>
              </a:spcAft>
            </a:pPr>
            <a:r>
              <a:rPr sz="1150" i="1">
                <a:solidFill>
                  <a:srgbClr val="BAA7BA"/>
                </a:solidFill>
                <a:latin typeface="Consolas"/>
              </a:rPr>
              <a:t># copy of this loop to get the MSD</a:t>
            </a:r>
          </a:p>
        </p:txBody>
      </p:sp>
      <p:sp>
        <p:nvSpPr>
          <p:cNvPr id="13" name="TextBox 12"/>
          <p:cNvSpPr txBox="1"/>
          <p:nvPr/>
        </p:nvSpPr>
        <p:spPr>
          <a:xfrm>
            <a:off x="6318504" y="1536192"/>
            <a:ext cx="5257800" cy="274320"/>
          </a:xfrm>
          <a:prstGeom prst="rect">
            <a:avLst/>
          </a:prstGeom>
          <a:noFill/>
        </p:spPr>
        <p:txBody>
          <a:bodyPr wrap="square" anchor="t" lIns="0" rIns="0" tIns="0" bIns="0">
            <a:spAutoFit/>
          </a:bodyPr>
          <a:lstStyle/>
          <a:p>
            <a:pPr algn="l"/>
            <a:r>
              <a:rPr sz="1100" b="1" i="0">
                <a:solidFill>
                  <a:srgbClr val="009DDD"/>
                </a:solidFill>
                <a:latin typeface="Assistant"/>
              </a:rPr>
              <a:t>TWO FUNCTIONS, TWO SENTENCES</a:t>
            </a:r>
          </a:p>
        </p:txBody>
      </p:sp>
      <p:sp>
        <p:nvSpPr>
          <p:cNvPr id="14" name="Rounded Rectangle 13"/>
          <p:cNvSpPr/>
          <p:nvPr/>
        </p:nvSpPr>
        <p:spPr>
          <a:xfrm>
            <a:off x="6281928" y="1883664"/>
            <a:ext cx="5257800" cy="2834640"/>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83096" y="2057400"/>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75120" y="2057400"/>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67144" y="2057400"/>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304288"/>
            <a:ext cx="4800600" cy="2267712"/>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DATA</a:t>
            </a:r>
            <a:r>
              <a:rPr sz="1150">
                <a:solidFill>
                  <a:srgbClr val="F2ECF2"/>
                </a:solidFill>
                <a:latin typeface="Consolas"/>
              </a:rPr>
              <a:t> = Path("data")</a:t>
            </a:r>
          </a:p>
          <a:p>
            <a:pPr>
              <a:lnSpc>
                <a:spcPct val="100000"/>
              </a:lnSpc>
              <a:spcAft>
                <a:spcPts val="0"/>
              </a:spcAft>
            </a:pPr>
          </a:p>
          <a:p>
            <a:pPr>
              <a:lnSpc>
                <a:spcPct val="100000"/>
              </a:lnSpc>
              <a:spcAft>
                <a:spcPts val="0"/>
              </a:spcAft>
            </a:pPr>
            <a:r>
              <a:rPr sz="1150" b="1">
                <a:solidFill>
                  <a:srgbClr val="009DDD"/>
                </a:solidFill>
                <a:latin typeface="Consolas"/>
              </a:rPr>
              <a:t>def</a:t>
            </a:r>
            <a:r>
              <a:rPr sz="1150">
                <a:solidFill>
                  <a:srgbClr val="F2ECF2"/>
                </a:solidFill>
                <a:latin typeface="Consolas"/>
              </a:rPr>
              <a:t> read_trajectory(path: Path) -&gt; pd.DataFrame:</a:t>
            </a:r>
          </a:p>
          <a:p>
            <a:pPr>
              <a:lnSpc>
                <a:spcPct val="100000"/>
              </a:lnSpc>
              <a:spcAft>
                <a:spcPts val="0"/>
              </a:spcAft>
            </a:pPr>
            <a:r>
              <a:rPr sz="1150">
                <a:solidFill>
                  <a:srgbClr val="F2ECF2"/>
                </a:solidFill>
                <a:latin typeface="Consolas"/>
              </a:rPr>
              <a:t>    </a:t>
            </a:r>
            <a:r>
              <a:rPr sz="1150" b="0">
                <a:solidFill>
                  <a:srgbClr val="F2ECF2"/>
                </a:solidFill>
                <a:latin typeface="Consolas"/>
              </a:rPr>
              <a:t>"""Read the positions; drop missed frames."""</a:t>
            </a:r>
          </a:p>
          <a:p>
            <a:pPr>
              <a:lnSpc>
                <a:spcPct val="100000"/>
              </a:lnSpc>
              <a:spcAft>
                <a:spcPts val="0"/>
              </a:spcAft>
            </a:pPr>
            <a:r>
              <a:rPr sz="1150">
                <a:solidFill>
                  <a:srgbClr val="F2ECF2"/>
                </a:solidFill>
                <a:latin typeface="Consolas"/>
              </a:rPr>
              <a:t>    </a:t>
            </a:r>
            <a:r>
              <a:rPr sz="1150" b="0">
                <a:solidFill>
                  <a:srgbClr val="F2ECF2"/>
                </a:solidFill>
                <a:latin typeface="Consolas"/>
              </a:rPr>
              <a:t>df</a:t>
            </a:r>
            <a:r>
              <a:rPr sz="1150">
                <a:solidFill>
                  <a:srgbClr val="F2ECF2"/>
                </a:solidFill>
                <a:latin typeface="Consolas"/>
              </a:rPr>
              <a:t> = pd.read_csv(path)</a:t>
            </a:r>
          </a:p>
          <a:p>
            <a:pPr>
              <a:lnSpc>
                <a:spcPct val="100000"/>
              </a:lnSpc>
              <a:spcAft>
                <a:spcPts val="0"/>
              </a:spcAft>
            </a:pPr>
            <a:r>
              <a:rPr sz="1150">
                <a:solidFill>
                  <a:srgbClr val="F2ECF2"/>
                </a:solidFill>
                <a:latin typeface="Consolas"/>
              </a:rPr>
              <a:t>    </a:t>
            </a:r>
            <a:r>
              <a:rPr sz="1150" b="1">
                <a:solidFill>
                  <a:srgbClr val="009DDD"/>
                </a:solidFill>
                <a:latin typeface="Consolas"/>
              </a:rPr>
              <a:t>return</a:t>
            </a:r>
            <a:r>
              <a:rPr sz="1150">
                <a:solidFill>
                  <a:srgbClr val="F2ECF2"/>
                </a:solidFill>
                <a:latin typeface="Consolas"/>
              </a:rPr>
              <a:t> df.dropna(subset=["X (µm)", "Y (µm)"])</a:t>
            </a:r>
          </a:p>
          <a:p>
            <a:pPr>
              <a:lnSpc>
                <a:spcPct val="100000"/>
              </a:lnSpc>
              <a:spcAft>
                <a:spcPts val="0"/>
              </a:spcAft>
            </a:pPr>
          </a:p>
          <a:p>
            <a:pPr>
              <a:lnSpc>
                <a:spcPct val="100000"/>
              </a:lnSpc>
              <a:spcAft>
                <a:spcPts val="0"/>
              </a:spcAft>
            </a:pPr>
            <a:r>
              <a:rPr sz="1150" b="1">
                <a:solidFill>
                  <a:srgbClr val="009DDD"/>
                </a:solidFill>
                <a:latin typeface="Consolas"/>
              </a:rPr>
              <a:t>def</a:t>
            </a:r>
            <a:r>
              <a:rPr sz="1150">
                <a:solidFill>
                  <a:srgbClr val="F2ECF2"/>
                </a:solidFill>
                <a:latin typeface="Consolas"/>
              </a:rPr>
              <a:t> diffusion_coefficient(df: pd.DataFrame) -&gt; float:</a:t>
            </a:r>
          </a:p>
          <a:p>
            <a:pPr>
              <a:lnSpc>
                <a:spcPct val="100000"/>
              </a:lnSpc>
              <a:spcAft>
                <a:spcPts val="0"/>
              </a:spcAft>
            </a:pPr>
            <a:r>
              <a:rPr sz="1150">
                <a:solidFill>
                  <a:srgbClr val="F2ECF2"/>
                </a:solidFill>
                <a:latin typeface="Consolas"/>
              </a:rPr>
              <a:t>    </a:t>
            </a:r>
            <a:r>
              <a:rPr sz="1150" b="0">
                <a:solidFill>
                  <a:srgbClr val="F2ECF2"/>
                </a:solidFill>
                <a:latin typeface="Consolas"/>
              </a:rPr>
              <a:t>"""Self-diffusion coefficient in µm²/s."""</a:t>
            </a:r>
          </a:p>
          <a:p>
            <a:pPr>
              <a:lnSpc>
                <a:spcPct val="100000"/>
              </a:lnSpc>
              <a:spcAft>
                <a:spcPts val="0"/>
              </a:spcAft>
            </a:pPr>
            <a:r>
              <a:rPr sz="1150">
                <a:solidFill>
                  <a:srgbClr val="F2ECF2"/>
                </a:solidFill>
                <a:latin typeface="Consolas"/>
              </a:rPr>
              <a:t>    </a:t>
            </a:r>
            <a:r>
              <a:rPr sz="1150" b="0">
                <a:solidFill>
                  <a:srgbClr val="F2ECF2"/>
                </a:solidFill>
                <a:latin typeface="Consolas"/>
              </a:rPr>
              <a:t>msd</a:t>
            </a:r>
            <a:r>
              <a:rPr sz="1150">
                <a:solidFill>
                  <a:srgbClr val="F2ECF2"/>
                </a:solidFill>
                <a:latin typeface="Consolas"/>
              </a:rPr>
              <a:t> = mean_squared_displacement(df)</a:t>
            </a:r>
          </a:p>
          <a:p>
            <a:pPr>
              <a:lnSpc>
                <a:spcPct val="100000"/>
              </a:lnSpc>
              <a:spcAft>
                <a:spcPts val="0"/>
              </a:spcAft>
            </a:pPr>
            <a:r>
              <a:rPr sz="1150">
                <a:solidFill>
                  <a:srgbClr val="F2ECF2"/>
                </a:solidFill>
                <a:latin typeface="Consolas"/>
              </a:rPr>
              <a:t>    </a:t>
            </a:r>
            <a:r>
              <a:rPr sz="1150" b="0">
                <a:solidFill>
                  <a:srgbClr val="F2ECF2"/>
                </a:solidFill>
                <a:latin typeface="Consolas"/>
              </a:rPr>
              <a:t>slope</a:t>
            </a:r>
            <a:r>
              <a:rPr sz="1150">
                <a:solidFill>
                  <a:srgbClr val="F2ECF2"/>
                </a:solidFill>
                <a:latin typeface="Consolas"/>
              </a:rPr>
              <a:t> = np.polyfit(lag_times(df), msd, 1)[0]</a:t>
            </a:r>
          </a:p>
          <a:p>
            <a:pPr>
              <a:lnSpc>
                <a:spcPct val="100000"/>
              </a:lnSpc>
              <a:spcAft>
                <a:spcPts val="0"/>
              </a:spcAft>
            </a:pPr>
            <a:r>
              <a:rPr sz="1150">
                <a:solidFill>
                  <a:srgbClr val="F2ECF2"/>
                </a:solidFill>
                <a:latin typeface="Consolas"/>
              </a:rPr>
              <a:t>    </a:t>
            </a:r>
            <a:r>
              <a:rPr sz="1150" b="1">
                <a:solidFill>
                  <a:srgbClr val="009DDD"/>
                </a:solidFill>
                <a:latin typeface="Consolas"/>
              </a:rPr>
              <a:t>return</a:t>
            </a:r>
            <a:r>
              <a:rPr sz="1150">
                <a:solidFill>
                  <a:srgbClr val="F2ECF2"/>
                </a:solidFill>
                <a:latin typeface="Consolas"/>
              </a:rPr>
              <a:t> float(slope / 4.0)</a:t>
            </a:r>
          </a:p>
        </p:txBody>
      </p:sp>
      <p:sp>
        <p:nvSpPr>
          <p:cNvPr id="19" name="Rounded Rectangle 18"/>
          <p:cNvSpPr/>
          <p:nvPr/>
        </p:nvSpPr>
        <p:spPr>
          <a:xfrm>
            <a:off x="658368" y="4901184"/>
            <a:ext cx="10872216" cy="786384"/>
          </a:xfrm>
          <a:prstGeom prst="roundRect">
            <a:avLst>
              <a:gd name="adj" fmla="val 13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056632"/>
            <a:ext cx="10360152" cy="512064"/>
          </a:xfrm>
          <a:prstGeom prst="rect">
            <a:avLst/>
          </a:prstGeom>
          <a:noFill/>
        </p:spPr>
        <p:txBody>
          <a:bodyPr wrap="square" anchor="t" lIns="0" rIns="0" tIns="0" bIns="0">
            <a:spAutoFit/>
          </a:bodyPr>
          <a:lstStyle/>
          <a:p>
            <a:pPr algn="l">
              <a:lnSpc>
                <a:spcPct val="108000"/>
              </a:lnSpc>
            </a:pPr>
            <a:r>
              <a:rPr sz="1350" b="1" i="0">
                <a:solidFill>
                  <a:srgbClr val="333333"/>
                </a:solidFill>
                <a:latin typeface="Assistant"/>
              </a:rPr>
              <a:t>Limited tasks, descriptive names, one job per function. The payoff is not elegance — it is that diffusion_coefficient can now be checked against a stored value without opening a file.</a:t>
            </a:r>
          </a:p>
        </p:txBody>
      </p:sp>
      <p:sp>
        <p:nvSpPr>
          <p:cNvPr id="21" name="TextBox 2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22" name="TextBox 2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05 / 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1 · THE LANDING PAGE</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Documentation: the README answers four questions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DEEP DIVE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900"/>
              </a:spcAft>
            </a:pPr>
            <a:r>
              <a:rPr sz="950">
                <a:solidFill>
                  <a:srgbClr val="009DDD"/>
                </a:solidFill>
                <a:latin typeface="Assistant"/>
              </a:rPr>
              <a:t>●  </a:t>
            </a:r>
            <a:r>
              <a:rPr sz="1450">
                <a:solidFill>
                  <a:srgbClr val="333333"/>
                </a:solidFill>
                <a:latin typeface="Assistant"/>
              </a:rPr>
              <a:t>What does it do? Two sentences, no jargon.</a:t>
            </a:r>
          </a:p>
          <a:p>
            <a:pPr>
              <a:lnSpc>
                <a:spcPct val="97000"/>
              </a:lnSpc>
              <a:spcAft>
                <a:spcPts val="900"/>
              </a:spcAft>
            </a:pPr>
            <a:r>
              <a:rPr sz="950">
                <a:solidFill>
                  <a:srgbClr val="009DDD"/>
                </a:solidFill>
                <a:latin typeface="Assistant"/>
              </a:rPr>
              <a:t>●  </a:t>
            </a:r>
            <a:r>
              <a:rPr sz="1450">
                <a:solidFill>
                  <a:srgbClr val="333333"/>
                </a:solidFill>
                <a:latin typeface="Assistant"/>
              </a:rPr>
              <a:t>How do I install it? Copy-pasteable, with versions pinned.</a:t>
            </a:r>
          </a:p>
          <a:p>
            <a:pPr>
              <a:lnSpc>
                <a:spcPct val="97000"/>
              </a:lnSpc>
              <a:spcAft>
                <a:spcPts val="900"/>
              </a:spcAft>
            </a:pPr>
            <a:r>
              <a:rPr sz="950">
                <a:solidFill>
                  <a:srgbClr val="009DDD"/>
                </a:solidFill>
                <a:latin typeface="Assistant"/>
              </a:rPr>
              <a:t>●  </a:t>
            </a:r>
            <a:r>
              <a:rPr sz="1450">
                <a:solidFill>
                  <a:srgbClr val="333333"/>
                </a:solidFill>
                <a:latin typeface="Assistant"/>
              </a:rPr>
              <a:t>How do I run it? The exact command, including arguments.</a:t>
            </a:r>
          </a:p>
          <a:p>
            <a:pPr>
              <a:lnSpc>
                <a:spcPct val="97000"/>
              </a:lnSpc>
              <a:spcAft>
                <a:spcPts val="900"/>
              </a:spcAft>
            </a:pPr>
            <a:r>
              <a:rPr sz="950">
                <a:solidFill>
                  <a:srgbClr val="009DDD"/>
                </a:solidFill>
                <a:latin typeface="Assistant"/>
              </a:rPr>
              <a:t>●  </a:t>
            </a:r>
            <a:r>
              <a:rPr sz="1450">
                <a:solidFill>
                  <a:srgbClr val="333333"/>
                </a:solidFill>
                <a:latin typeface="Assistant"/>
              </a:rPr>
              <a:t>How do I know it worked? The number they should expect.</a:t>
            </a:r>
          </a:p>
          <a:p>
            <a:pPr>
              <a:lnSpc>
                <a:spcPct val="97000"/>
              </a:lnSpc>
              <a:spcAft>
                <a:spcPts val="900"/>
              </a:spcAft>
            </a:pPr>
            <a:r>
              <a:rPr sz="950">
                <a:solidFill>
                  <a:srgbClr val="009DDD"/>
                </a:solidFill>
                <a:latin typeface="Assistant"/>
              </a:rPr>
              <a:t>●  </a:t>
            </a:r>
            <a:r>
              <a:rPr sz="1450">
                <a:solidFill>
                  <a:srgbClr val="333333"/>
                </a:solidFill>
                <a:latin typeface="Assistant"/>
              </a:rPr>
              <a:t>That fourth question is the one almost everybody omits, and the one a reviewer actually needs.</a:t>
            </a:r>
          </a:p>
          <a:p>
            <a:pPr>
              <a:lnSpc>
                <a:spcPct val="97000"/>
              </a:lnSpc>
              <a:spcAft>
                <a:spcPts val="900"/>
              </a:spcAft>
            </a:pPr>
            <a:r>
              <a:rPr sz="950">
                <a:solidFill>
                  <a:srgbClr val="009DDD"/>
                </a:solidFill>
                <a:latin typeface="Assistant"/>
              </a:rPr>
              <a:t>●  </a:t>
            </a:r>
            <a:r>
              <a:rPr sz="1450">
                <a:solidFill>
                  <a:srgbClr val="333333"/>
                </a:solidFill>
                <a:latin typeface="Assistant"/>
              </a:rPr>
              <a:t>Comments explain the why, not the what; docstrings describe the interface. Neither should narrate syntax the code already shows.</a:t>
            </a:r>
          </a:p>
          <a:p>
            <a:pPr>
              <a:lnSpc>
                <a:spcPct val="97000"/>
              </a:lnSpc>
              <a:spcAft>
                <a:spcPts val="900"/>
              </a:spcAft>
            </a:pPr>
            <a:r>
              <a:rPr sz="950">
                <a:solidFill>
                  <a:srgbClr val="009DDD"/>
                </a:solidFill>
                <a:latin typeface="Assistant"/>
              </a:rPr>
              <a:t>●  </a:t>
            </a:r>
            <a:r>
              <a:rPr sz="1450">
                <a:solidFill>
                  <a:srgbClr val="333333"/>
                </a:solidFill>
                <a:latin typeface="Assistant"/>
              </a:rPr>
              <a:t>If you write nothing else for a project, write this page.</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06 / 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1 · A REPRODUCIBILITY CHECK WITH A COMPILER ATTACHED</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test that makes the rest possible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ounded Rectangle 6"/>
          <p:cNvSpPr/>
          <p:nvPr/>
        </p:nvSpPr>
        <p:spPr>
          <a:xfrm>
            <a:off x="658368" y="1536192"/>
            <a:ext cx="6903720" cy="4224528"/>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09928"/>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709928"/>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43584" y="1709928"/>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56816"/>
            <a:ext cx="6446520" cy="3657600"/>
          </a:xfrm>
          <a:prstGeom prst="rect">
            <a:avLst/>
          </a:prstGeom>
          <a:noFill/>
        </p:spPr>
        <p:txBody>
          <a:bodyPr wrap="square" anchor="t" lIns="0" rIns="0" tIns="0" bIns="0">
            <a:spAutoFit/>
          </a:bodyPr>
          <a:lstStyle/>
          <a:p>
            <a:pPr>
              <a:lnSpc>
                <a:spcPct val="100000"/>
              </a:lnSpc>
              <a:spcAft>
                <a:spcPts val="0"/>
              </a:spcAft>
            </a:pPr>
            <a:r>
              <a:rPr sz="1100" i="1">
                <a:solidFill>
                  <a:srgbClr val="BAA7BA"/>
                </a:solidFill>
                <a:latin typeface="Consolas"/>
              </a:rPr>
              <a:t># tests/test_analysis.py</a:t>
            </a:r>
          </a:p>
          <a:p>
            <a:pPr>
              <a:lnSpc>
                <a:spcPct val="100000"/>
              </a:lnSpc>
              <a:spcAft>
                <a:spcPts val="0"/>
              </a:spcAft>
            </a:pPr>
            <a:r>
              <a:rPr sz="1100" b="1">
                <a:solidFill>
                  <a:srgbClr val="009DDD"/>
                </a:solidFill>
                <a:latin typeface="Consolas"/>
              </a:rPr>
              <a:t>import</a:t>
            </a:r>
            <a:r>
              <a:rPr sz="1100">
                <a:solidFill>
                  <a:srgbClr val="F2ECF2"/>
                </a:solidFill>
                <a:latin typeface="Consolas"/>
              </a:rPr>
              <a:t> pytest</a:t>
            </a:r>
          </a:p>
          <a:p>
            <a:pPr>
              <a:lnSpc>
                <a:spcPct val="100000"/>
              </a:lnSpc>
              <a:spcAft>
                <a:spcPts val="0"/>
              </a:spcAft>
            </a:pPr>
          </a:p>
          <a:p>
            <a:pPr>
              <a:lnSpc>
                <a:spcPct val="100000"/>
              </a:lnSpc>
              <a:spcAft>
                <a:spcPts val="0"/>
              </a:spcAft>
            </a:pPr>
            <a:r>
              <a:rPr sz="1100" b="1">
                <a:solidFill>
                  <a:srgbClr val="009DDD"/>
                </a:solidFill>
                <a:latin typeface="Consolas"/>
              </a:rPr>
              <a:t>from</a:t>
            </a:r>
            <a:r>
              <a:rPr sz="1100">
                <a:solidFill>
                  <a:srgbClr val="F2ECF2"/>
                </a:solidFill>
                <a:latin typeface="Consolas"/>
              </a:rPr>
              <a:t> analysis import DATA, diffusion_coefficient, read_trajectory</a:t>
            </a:r>
          </a:p>
          <a:p>
            <a:pPr>
              <a:lnSpc>
                <a:spcPct val="100000"/>
              </a:lnSpc>
              <a:spcAft>
                <a:spcPts val="0"/>
              </a:spcAft>
            </a:pPr>
          </a:p>
          <a:p>
            <a:pPr>
              <a:lnSpc>
                <a:spcPct val="100000"/>
              </a:lnSpc>
              <a:spcAft>
                <a:spcPts val="0"/>
              </a:spcAft>
            </a:pPr>
            <a:r>
              <a:rPr sz="1100" i="1">
                <a:solidFill>
                  <a:srgbClr val="BAA7BA"/>
                </a:solidFill>
                <a:latin typeface="Consolas"/>
              </a:rPr>
              <a:t># [placeholder] the value your published analysis produced</a:t>
            </a:r>
          </a:p>
          <a:p>
            <a:pPr>
              <a:lnSpc>
                <a:spcPct val="100000"/>
              </a:lnSpc>
              <a:spcAft>
                <a:spcPts val="0"/>
              </a:spcAft>
            </a:pPr>
            <a:r>
              <a:rPr sz="1100" b="0">
                <a:solidFill>
                  <a:srgbClr val="F2ECF2"/>
                </a:solidFill>
                <a:latin typeface="Consolas"/>
              </a:rPr>
              <a:t>EXPECTED</a:t>
            </a:r>
            <a:r>
              <a:rPr sz="1100">
                <a:solidFill>
                  <a:srgbClr val="F2ECF2"/>
                </a:solidFill>
                <a:latin typeface="Consolas"/>
              </a:rPr>
              <a:t> = 0.49</a:t>
            </a:r>
          </a:p>
          <a:p>
            <a:pPr>
              <a:lnSpc>
                <a:spcPct val="100000"/>
              </a:lnSpc>
              <a:spcAft>
                <a:spcPts val="0"/>
              </a:spcAft>
            </a:pPr>
          </a:p>
          <a:p>
            <a:pPr>
              <a:lnSpc>
                <a:spcPct val="100000"/>
              </a:lnSpc>
              <a:spcAft>
                <a:spcPts val="0"/>
              </a:spcAft>
            </a:pPr>
            <a:r>
              <a:rPr sz="1100" b="1">
                <a:solidFill>
                  <a:srgbClr val="009DDD"/>
                </a:solidFill>
                <a:latin typeface="Consolas"/>
              </a:rPr>
              <a:t>def</a:t>
            </a:r>
            <a:r>
              <a:rPr sz="1100">
                <a:solidFill>
                  <a:srgbClr val="F2ECF2"/>
                </a:solidFill>
                <a:latin typeface="Consolas"/>
              </a:rPr>
              <a:t> test_d_matches_recorded_value():</a:t>
            </a:r>
          </a:p>
          <a:p>
            <a:pPr>
              <a:lnSpc>
                <a:spcPct val="100000"/>
              </a:lnSpc>
              <a:spcAft>
                <a:spcPts val="0"/>
              </a:spcAft>
            </a:pPr>
            <a:r>
              <a:rPr sz="1100">
                <a:solidFill>
                  <a:srgbClr val="F2ECF2"/>
                </a:solidFill>
                <a:latin typeface="Consolas"/>
              </a:rPr>
              <a:t>    </a:t>
            </a:r>
            <a:r>
              <a:rPr sz="1100" b="0">
                <a:solidFill>
                  <a:srgbClr val="F2ECF2"/>
                </a:solidFill>
                <a:latin typeface="Consolas"/>
              </a:rPr>
              <a:t>df</a:t>
            </a:r>
            <a:r>
              <a:rPr sz="1100">
                <a:solidFill>
                  <a:srgbClr val="F2ECF2"/>
                </a:solidFill>
                <a:latin typeface="Consolas"/>
              </a:rPr>
              <a:t> = read_trajectory(DATA / "bead_trajectory.csv")</a:t>
            </a:r>
          </a:p>
          <a:p>
            <a:pPr>
              <a:lnSpc>
                <a:spcPct val="100000"/>
              </a:lnSpc>
              <a:spcAft>
                <a:spcPts val="0"/>
              </a:spcAft>
            </a:pPr>
            <a:r>
              <a:rPr sz="1100">
                <a:solidFill>
                  <a:srgbClr val="F2ECF2"/>
                </a:solidFill>
                <a:latin typeface="Consolas"/>
              </a:rPr>
              <a:t>    </a:t>
            </a:r>
            <a:r>
              <a:rPr sz="1100" b="1">
                <a:solidFill>
                  <a:srgbClr val="009DDD"/>
                </a:solidFill>
                <a:latin typeface="Consolas"/>
              </a:rPr>
              <a:t>assert</a:t>
            </a:r>
            <a:r>
              <a:rPr sz="1100">
                <a:solidFill>
                  <a:srgbClr val="F2ECF2"/>
                </a:solidFill>
                <a:latin typeface="Consolas"/>
              </a:rPr>
              <a:t> diffusion_coefficient(df) == pytest.approx(</a:t>
            </a:r>
          </a:p>
          <a:p>
            <a:pPr>
              <a:lnSpc>
                <a:spcPct val="100000"/>
              </a:lnSpc>
              <a:spcAft>
                <a:spcPts val="0"/>
              </a:spcAft>
            </a:pPr>
            <a:r>
              <a:rPr sz="1100">
                <a:solidFill>
                  <a:srgbClr val="F2ECF2"/>
                </a:solidFill>
                <a:latin typeface="Consolas"/>
              </a:rPr>
              <a:t>        </a:t>
            </a:r>
            <a:r>
              <a:rPr sz="1100" b="0">
                <a:solidFill>
                  <a:srgbClr val="F2ECF2"/>
                </a:solidFill>
                <a:latin typeface="Consolas"/>
              </a:rPr>
              <a:t>EXPECTED</a:t>
            </a:r>
            <a:r>
              <a:rPr sz="1100">
                <a:solidFill>
                  <a:srgbClr val="F2ECF2"/>
                </a:solidFill>
                <a:latin typeface="Consolas"/>
              </a:rPr>
              <a:t>, abs=0.05)</a:t>
            </a:r>
          </a:p>
          <a:p>
            <a:pPr>
              <a:lnSpc>
                <a:spcPct val="100000"/>
              </a:lnSpc>
              <a:spcAft>
                <a:spcPts val="0"/>
              </a:spcAft>
            </a:pPr>
          </a:p>
          <a:p>
            <a:pPr>
              <a:lnSpc>
                <a:spcPct val="100000"/>
              </a:lnSpc>
              <a:spcAft>
                <a:spcPts val="0"/>
              </a:spcAft>
            </a:pPr>
            <a:r>
              <a:rPr sz="1100" b="1">
                <a:solidFill>
                  <a:srgbClr val="009DDD"/>
                </a:solidFill>
                <a:latin typeface="Consolas"/>
              </a:rPr>
              <a:t>def</a:t>
            </a:r>
            <a:r>
              <a:rPr sz="1100">
                <a:solidFill>
                  <a:srgbClr val="F2ECF2"/>
                </a:solidFill>
                <a:latin typeface="Consolas"/>
              </a:rPr>
              <a:t> test_no_missing_frames_survive_loading():</a:t>
            </a:r>
          </a:p>
          <a:p>
            <a:pPr>
              <a:lnSpc>
                <a:spcPct val="100000"/>
              </a:lnSpc>
              <a:spcAft>
                <a:spcPts val="0"/>
              </a:spcAft>
            </a:pPr>
            <a:r>
              <a:rPr sz="1100">
                <a:solidFill>
                  <a:srgbClr val="F2ECF2"/>
                </a:solidFill>
                <a:latin typeface="Consolas"/>
              </a:rPr>
              <a:t>    </a:t>
            </a:r>
            <a:r>
              <a:rPr sz="1100" b="0">
                <a:solidFill>
                  <a:srgbClr val="F2ECF2"/>
                </a:solidFill>
                <a:latin typeface="Consolas"/>
              </a:rPr>
              <a:t>df</a:t>
            </a:r>
            <a:r>
              <a:rPr sz="1100">
                <a:solidFill>
                  <a:srgbClr val="F2ECF2"/>
                </a:solidFill>
                <a:latin typeface="Consolas"/>
              </a:rPr>
              <a:t> = read_trajectory(DATA / "bead_trajectory.csv")</a:t>
            </a:r>
          </a:p>
          <a:p>
            <a:pPr>
              <a:lnSpc>
                <a:spcPct val="100000"/>
              </a:lnSpc>
              <a:spcAft>
                <a:spcPts val="0"/>
              </a:spcAft>
            </a:pPr>
            <a:r>
              <a:rPr sz="1100">
                <a:solidFill>
                  <a:srgbClr val="F2ECF2"/>
                </a:solidFill>
                <a:latin typeface="Consolas"/>
              </a:rPr>
              <a:t>    </a:t>
            </a:r>
            <a:r>
              <a:rPr sz="1100" b="1">
                <a:solidFill>
                  <a:srgbClr val="009DDD"/>
                </a:solidFill>
                <a:latin typeface="Consolas"/>
              </a:rPr>
              <a:t>assert</a:t>
            </a:r>
            <a:r>
              <a:rPr sz="1100">
                <a:solidFill>
                  <a:srgbClr val="F2ECF2"/>
                </a:solidFill>
                <a:latin typeface="Consolas"/>
              </a:rPr>
              <a:t> not df["X (µm)"].isna().any()</a:t>
            </a:r>
          </a:p>
        </p:txBody>
      </p:sp>
      <p:sp>
        <p:nvSpPr>
          <p:cNvPr id="12" name="TextBox 11"/>
          <p:cNvSpPr txBox="1"/>
          <p:nvPr/>
        </p:nvSpPr>
        <p:spPr>
          <a:xfrm>
            <a:off x="7854696" y="1554480"/>
            <a:ext cx="3675888" cy="274320"/>
          </a:xfrm>
          <a:prstGeom prst="rect">
            <a:avLst/>
          </a:prstGeom>
          <a:noFill/>
        </p:spPr>
        <p:txBody>
          <a:bodyPr wrap="square" anchor="t" lIns="0" rIns="0" tIns="0" bIns="0">
            <a:spAutoFit/>
          </a:bodyPr>
          <a:lstStyle/>
          <a:p>
            <a:pPr algn="l"/>
            <a:r>
              <a:rPr sz="1050" b="1" i="0">
                <a:solidFill>
                  <a:srgbClr val="006B96"/>
                </a:solidFill>
                <a:latin typeface="Assistant"/>
              </a:rPr>
              <a:t>WHY THIS ONE MATTERS MOST</a:t>
            </a:r>
          </a:p>
        </p:txBody>
      </p:sp>
      <p:sp>
        <p:nvSpPr>
          <p:cNvPr id="13" name="TextBox 12"/>
          <p:cNvSpPr txBox="1"/>
          <p:nvPr/>
        </p:nvSpPr>
        <p:spPr>
          <a:xfrm>
            <a:off x="7854696" y="1920240"/>
            <a:ext cx="3675888" cy="3383280"/>
          </a:xfrm>
          <a:prstGeom prst="rect">
            <a:avLst/>
          </a:prstGeom>
          <a:noFill/>
        </p:spPr>
        <p:txBody>
          <a:bodyPr wrap="square" anchor="t" lIns="0" rIns="0" tIns="0" bIns="0">
            <a:spAutoFit/>
          </a:bodyPr>
          <a:lstStyle/>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Tests catch new errors early — before a reviewer does.</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They let a stranger verify that your install works.</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They make refactoring safe — including AI-assisted refactoring.</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TDD is optional. Tests are not.</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One stored expected value is worth twenty structural tests.</a:t>
            </a:r>
          </a:p>
        </p:txBody>
      </p:sp>
      <p:sp>
        <p:nvSpPr>
          <p:cNvPr id="14" name="TextBox 13"/>
          <p:cNvSpPr txBox="1"/>
          <p:nvPr/>
        </p:nvSpPr>
        <p:spPr>
          <a:xfrm>
            <a:off x="7854696" y="5074920"/>
            <a:ext cx="3675888" cy="868680"/>
          </a:xfrm>
          <a:prstGeom prst="rect">
            <a:avLst/>
          </a:prstGeom>
          <a:noFill/>
        </p:spPr>
        <p:txBody>
          <a:bodyPr wrap="square" anchor="t" lIns="0" rIns="0" tIns="0" bIns="0">
            <a:spAutoFit/>
          </a:bodyPr>
          <a:lstStyle/>
          <a:p>
            <a:pPr algn="l">
              <a:lnSpc>
                <a:spcPct val="112000"/>
              </a:lnSpc>
            </a:pPr>
            <a:r>
              <a:rPr sz="1150" b="0" i="1">
                <a:solidFill>
                  <a:srgbClr val="5F6B76"/>
                </a:solidFill>
                <a:latin typeface="Assistant"/>
              </a:rPr>
              <a:t>Remember this slide. In twenty minutes you will watch a test exactly like this catch a bug that no reviewer, linter or assistant noticed.</a:t>
            </a:r>
          </a:p>
        </p:txBody>
      </p:sp>
      <p:sp>
        <p:nvSpPr>
          <p:cNvPr id="15" name="TextBox 14"/>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6" name="TextBox 15"/>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07 / 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1 · THE LAST PIECE OF THE SAFETY NET</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Version control and CI: the safety net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1000"/>
              </a:spcAft>
            </a:pPr>
            <a:r>
              <a:rPr sz="900">
                <a:solidFill>
                  <a:srgbClr val="009DDD"/>
                </a:solidFill>
                <a:latin typeface="Assistant"/>
              </a:rPr>
              <a:t>●  </a:t>
            </a:r>
            <a:r>
              <a:rPr sz="1400">
                <a:solidFill>
                  <a:srgbClr val="333333"/>
                </a:solidFill>
                <a:latin typeface="Assistant"/>
              </a:rPr>
              <a:t>Version control is an unlimited undo button, and it lets many people work in parallel.</a:t>
            </a:r>
          </a:p>
          <a:p>
            <a:pPr>
              <a:lnSpc>
                <a:spcPct val="97000"/>
              </a:lnSpc>
              <a:spcAft>
                <a:spcPts val="1000"/>
              </a:spcAft>
            </a:pPr>
            <a:r>
              <a:rPr sz="900">
                <a:solidFill>
                  <a:srgbClr val="009DDD"/>
                </a:solidFill>
                <a:latin typeface="Assistant"/>
              </a:rPr>
              <a:t>●  </a:t>
            </a:r>
            <a:r>
              <a:rPr sz="1400">
                <a:solidFill>
                  <a:srgbClr val="333333"/>
                </a:solidFill>
                <a:latin typeface="Assistant"/>
              </a:rPr>
              <a:t>If it is not in Git, it does not exist. Commit in small, meaningful steps — the history is your lab notebook for code.</a:t>
            </a:r>
          </a:p>
          <a:p>
            <a:pPr>
              <a:lnSpc>
                <a:spcPct val="97000"/>
              </a:lnSpc>
              <a:spcAft>
                <a:spcPts val="1000"/>
              </a:spcAft>
            </a:pPr>
            <a:r>
              <a:rPr sz="900">
                <a:solidFill>
                  <a:srgbClr val="009DDD"/>
                </a:solidFill>
                <a:latin typeface="Assistant"/>
              </a:rPr>
              <a:t>●  </a:t>
            </a:r>
            <a:r>
              <a:rPr sz="1400">
                <a:solidFill>
                  <a:srgbClr val="333333"/>
                </a:solidFill>
                <a:latin typeface="Assistant"/>
              </a:rPr>
              <a:t>Use .gitignore for data, environments, credentials and generated files. Never commit secrets, and rotate anything that leaks.</a:t>
            </a:r>
          </a:p>
          <a:p>
            <a:pPr>
              <a:lnSpc>
                <a:spcPct val="97000"/>
              </a:lnSpc>
              <a:spcAft>
                <a:spcPts val="1000"/>
              </a:spcAft>
            </a:pPr>
            <a:r>
              <a:rPr sz="900">
                <a:solidFill>
                  <a:srgbClr val="009DDD"/>
                </a:solidFill>
                <a:latin typeface="Assistant"/>
              </a:rPr>
              <a:t>●  </a:t>
            </a:r>
            <a:r>
              <a:rPr sz="1400">
                <a:solidFill>
                  <a:srgbClr val="333333"/>
                </a:solidFill>
                <a:latin typeface="Assistant"/>
              </a:rPr>
              <a:t>Continuous integration runs your tests on a machine that is not yours, from a clean checkout, on every push.</a:t>
            </a:r>
          </a:p>
          <a:p>
            <a:pPr>
              <a:lnSpc>
                <a:spcPct val="97000"/>
              </a:lnSpc>
              <a:spcAft>
                <a:spcPts val="1000"/>
              </a:spcAft>
            </a:pPr>
            <a:r>
              <a:rPr sz="900">
                <a:solidFill>
                  <a:srgbClr val="009DDD"/>
                </a:solidFill>
                <a:latin typeface="Assistant"/>
              </a:rPr>
              <a:t>●  </a:t>
            </a:r>
            <a:r>
              <a:rPr sz="1400">
                <a:solidFill>
                  <a:srgbClr val="333333"/>
                </a:solidFill>
                <a:latin typeface="Assistant"/>
              </a:rPr>
              <a:t>It turns “I ran it on my machine” into a timestamped, linkable result — and it is where pinned dependencies get enforced.</a:t>
            </a:r>
          </a:p>
          <a:p>
            <a:pPr>
              <a:lnSpc>
                <a:spcPct val="97000"/>
              </a:lnSpc>
              <a:spcAft>
                <a:spcPts val="1000"/>
              </a:spcAft>
            </a:pPr>
            <a:r>
              <a:rPr sz="900">
                <a:solidFill>
                  <a:srgbClr val="009DDD"/>
                </a:solidFill>
                <a:latin typeface="Assistant"/>
              </a:rPr>
              <a:t>●  </a:t>
            </a:r>
            <a:r>
              <a:rPr sz="1400">
                <a:solidFill>
                  <a:srgbClr val="333333"/>
                </a:solidFill>
                <a:latin typeface="Assistant"/>
              </a:rPr>
              <a:t>For this workshop it does one more job: it is the reason a bad assistant edit is recoverable. You can always see the diff, and you can always revert it.</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08 / 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2 · A FAST, CONFIDENT, UNACCOUNTABLE CO-AUTHOR</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What assistants are, and what they are not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1000"/>
              </a:spcAft>
            </a:pPr>
            <a:r>
              <a:rPr sz="900">
                <a:solidFill>
                  <a:srgbClr val="009DDD"/>
                </a:solidFill>
                <a:latin typeface="Assistant"/>
              </a:rPr>
              <a:t>●  </a:t>
            </a:r>
            <a:r>
              <a:rPr sz="1400">
                <a:solidFill>
                  <a:srgbClr val="333333"/>
                </a:solidFill>
                <a:latin typeface="Assistant"/>
              </a:rPr>
              <a:t>They combine machine learning, contextual code understanding and natural language processing. Most are fine-tuned from foundation models trained on public code and documentation.</a:t>
            </a:r>
          </a:p>
          <a:p>
            <a:pPr>
              <a:lnSpc>
                <a:spcPct val="97000"/>
              </a:lnSpc>
              <a:spcAft>
                <a:spcPts val="1000"/>
              </a:spcAft>
            </a:pPr>
            <a:r>
              <a:rPr sz="900">
                <a:solidFill>
                  <a:srgbClr val="009DDD"/>
                </a:solidFill>
                <a:latin typeface="Assistant"/>
              </a:rPr>
              <a:t>●  </a:t>
            </a:r>
            <a:r>
              <a:rPr sz="1400">
                <a:solidFill>
                  <a:srgbClr val="333333"/>
                </a:solidFill>
                <a:latin typeface="Assistant"/>
              </a:rPr>
              <a:t>They are context-aware: the current file, other open files, and a local index of your repository, pulled in on demand (retrieval-augmented generation).</a:t>
            </a:r>
          </a:p>
          <a:p>
            <a:pPr>
              <a:lnSpc>
                <a:spcPct val="97000"/>
              </a:lnSpc>
              <a:spcAft>
                <a:spcPts val="1000"/>
              </a:spcAft>
            </a:pPr>
            <a:r>
              <a:rPr sz="900">
                <a:solidFill>
                  <a:srgbClr val="009DDD"/>
                </a:solidFill>
                <a:latin typeface="Assistant"/>
              </a:rPr>
              <a:t>●  </a:t>
            </a:r>
            <a:r>
              <a:rPr sz="1400">
                <a:solidFill>
                  <a:srgbClr val="333333"/>
                </a:solidFill>
                <a:latin typeface="Assistant"/>
              </a:rPr>
              <a:t>They predict the most likely continuation. They optimise for plausible — not for correct.</a:t>
            </a:r>
          </a:p>
          <a:p>
            <a:pPr>
              <a:lnSpc>
                <a:spcPct val="97000"/>
              </a:lnSpc>
              <a:spcAft>
                <a:spcPts val="1000"/>
              </a:spcAft>
            </a:pPr>
            <a:r>
              <a:rPr sz="900">
                <a:solidFill>
                  <a:srgbClr val="009DDD"/>
                </a:solidFill>
                <a:latin typeface="Assistant"/>
              </a:rPr>
              <a:t>●  </a:t>
            </a:r>
            <a:r>
              <a:rPr sz="1400">
                <a:solidFill>
                  <a:srgbClr val="333333"/>
                </a:solidFill>
                <a:latin typeface="Assistant"/>
              </a:rPr>
              <a:t>They learn from your accept and reject decisions, so they adapt to your style, including your bad habits.</a:t>
            </a:r>
          </a:p>
          <a:p>
            <a:pPr>
              <a:lnSpc>
                <a:spcPct val="97000"/>
              </a:lnSpc>
              <a:spcAft>
                <a:spcPts val="1000"/>
              </a:spcAft>
            </a:pPr>
            <a:r>
              <a:rPr sz="900">
                <a:solidFill>
                  <a:srgbClr val="009DDD"/>
                </a:solidFill>
                <a:latin typeface="Assistant"/>
              </a:rPr>
              <a:t>●  </a:t>
            </a:r>
            <a:r>
              <a:rPr sz="1400">
                <a:solidFill>
                  <a:srgbClr val="333333"/>
                </a:solidFill>
                <a:latin typeface="Assistant"/>
              </a:rPr>
              <a:t>What they never do: run your code, see your data, or know whether the result means anything.</a:t>
            </a:r>
          </a:p>
          <a:p>
            <a:pPr>
              <a:lnSpc>
                <a:spcPct val="97000"/>
              </a:lnSpc>
              <a:spcAft>
                <a:spcPts val="1000"/>
              </a:spcAft>
            </a:pPr>
            <a:r>
              <a:rPr sz="900">
                <a:solidFill>
                  <a:srgbClr val="009DDD"/>
                </a:solidFill>
                <a:latin typeface="Assistant"/>
              </a:rPr>
              <a:t>●  </a:t>
            </a:r>
            <a:r>
              <a:rPr sz="1400">
                <a:solidFill>
                  <a:srgbClr val="333333"/>
                </a:solidFill>
                <a:latin typeface="Assistant"/>
              </a:rPr>
              <a:t>That last line is the whole risk section in one sentence.</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09 / 41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097280"/>
            <a:ext cx="9692640" cy="292608"/>
          </a:xfrm>
          <a:prstGeom prst="rect">
            <a:avLst/>
          </a:prstGeom>
          <a:noFill/>
        </p:spPr>
        <p:txBody>
          <a:bodyPr wrap="square" anchor="t" lIns="0" rIns="0" tIns="0" bIns="0">
            <a:spAutoFit/>
          </a:bodyPr>
          <a:lstStyle/>
          <a:p>
            <a:pPr algn="l"/>
            <a:r>
              <a:rPr sz="1100" b="1" i="0">
                <a:solidFill>
                  <a:srgbClr val="FFB213"/>
                </a:solidFill>
                <a:latin typeface="Assistant"/>
              </a:rPr>
              <a:t>PART 2 · THE NUMBER TO REMEMBER</a:t>
            </a:r>
          </a:p>
        </p:txBody>
      </p:sp>
      <p:sp>
        <p:nvSpPr>
          <p:cNvPr id="5" name="TextBox 4"/>
          <p:cNvSpPr txBox="1"/>
          <p:nvPr/>
        </p:nvSpPr>
        <p:spPr>
          <a:xfrm>
            <a:off x="914400" y="1554480"/>
            <a:ext cx="10332720" cy="1920240"/>
          </a:xfrm>
          <a:prstGeom prst="rect">
            <a:avLst/>
          </a:prstGeom>
          <a:noFill/>
        </p:spPr>
        <p:txBody>
          <a:bodyPr wrap="square" anchor="t" lIns="0" rIns="0" tIns="0" bIns="0">
            <a:spAutoFit/>
          </a:bodyPr>
          <a:lstStyle/>
          <a:p>
            <a:pPr algn="l"/>
            <a:r>
              <a:rPr sz="10000" b="0" i="0">
                <a:solidFill>
                  <a:srgbClr val="FFFFFF"/>
                </a:solidFill>
                <a:latin typeface="Nunito"/>
              </a:rPr>
              <a:t>46.3%</a:t>
            </a:r>
          </a:p>
        </p:txBody>
      </p:sp>
      <p:sp>
        <p:nvSpPr>
          <p:cNvPr id="6" name="TextBox 5"/>
          <p:cNvSpPr txBox="1"/>
          <p:nvPr/>
        </p:nvSpPr>
        <p:spPr>
          <a:xfrm>
            <a:off x="978408" y="3566160"/>
            <a:ext cx="9784080" cy="914400"/>
          </a:xfrm>
          <a:prstGeom prst="rect">
            <a:avLst/>
          </a:prstGeom>
          <a:noFill/>
        </p:spPr>
        <p:txBody>
          <a:bodyPr wrap="square" anchor="t" lIns="0" rIns="0" tIns="0" bIns="0">
            <a:spAutoFit/>
          </a:bodyPr>
          <a:lstStyle/>
          <a:p>
            <a:pPr algn="l">
              <a:lnSpc>
                <a:spcPct val="112000"/>
              </a:lnSpc>
            </a:pPr>
            <a:r>
              <a:rPr sz="1900" b="0" i="0">
                <a:solidFill>
                  <a:srgbClr val="FFB213"/>
                </a:solidFill>
                <a:latin typeface="Assistant"/>
              </a:rPr>
              <a:t>GitHub Copilot produced correct code in 46.3% of cases in one study (researchers at Bilkent University).</a:t>
            </a:r>
          </a:p>
        </p:txBody>
      </p:sp>
      <p:sp>
        <p:nvSpPr>
          <p:cNvPr id="7" name="TextBox 6"/>
          <p:cNvSpPr txBox="1"/>
          <p:nvPr/>
        </p:nvSpPr>
        <p:spPr>
          <a:xfrm>
            <a:off x="978408" y="4800600"/>
            <a:ext cx="9784080" cy="1188720"/>
          </a:xfrm>
          <a:prstGeom prst="rect">
            <a:avLst/>
          </a:prstGeom>
          <a:noFill/>
        </p:spPr>
        <p:txBody>
          <a:bodyPr wrap="square" anchor="t" lIns="0" rIns="0" tIns="0" bIns="0">
            <a:spAutoFit/>
          </a:bodyPr>
          <a:lstStyle/>
          <a:p>
            <a:pPr algn="l">
              <a:lnSpc>
                <a:spcPct val="118000"/>
              </a:lnSpc>
            </a:pPr>
            <a:r>
              <a:rPr sz="1400" b="0" i="0">
                <a:solidFill>
                  <a:srgbClr val="D8E8F5"/>
                </a:solidFill>
                <a:latin typeface="Assistant"/>
              </a:rPr>
              <a:t>Slightly worse odds than a coin toss. You would not publish a coin toss without checking it, and you would not merge that code without reading it.</a:t>
            </a:r>
          </a:p>
          <a:p>
            <a:pPr algn="l">
              <a:lnSpc>
                <a:spcPct val="118000"/>
              </a:lnSpc>
            </a:pPr>
            <a:r>
              <a:rPr sz="1400" b="0" i="0">
                <a:solidFill>
                  <a:srgbClr val="D8E8F5"/>
                </a:solidFill>
                <a:latin typeface="Assistant"/>
              </a:rPr>
              <a:t/>
            </a:r>
          </a:p>
          <a:p>
            <a:pPr algn="l">
              <a:lnSpc>
                <a:spcPct val="118000"/>
              </a:lnSpc>
            </a:pPr>
            <a:r>
              <a:rPr sz="1400" b="0" i="0">
                <a:solidFill>
                  <a:srgbClr val="D8E8F5"/>
                </a:solidFill>
                <a:latin typeface="Assistant"/>
              </a:rPr>
              <a:t>Newer models have improved the base rate. That changes how often you have to check — not whether the check is your job.</a:t>
            </a:r>
          </a:p>
        </p:txBody>
      </p:sp>
      <p:sp>
        <p:nvSpPr>
          <p:cNvPr id="8" name="Rounded Rectangle 7"/>
          <p:cNvSpPr/>
          <p:nvPr/>
        </p:nvSpPr>
        <p:spPr>
          <a:xfrm>
            <a:off x="10204704" y="201168"/>
            <a:ext cx="1325880"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CORE</a:t>
            </a:r>
          </a:p>
        </p:txBody>
      </p:sp>
      <p:sp>
        <p:nvSpPr>
          <p:cNvPr id="10" name="TextBox 9"/>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D8E8F5"/>
                </a:solidFill>
                <a:latin typeface="Assistant"/>
              </a:rPr>
              <a:t>Reproducible Science in the Age of Vibe Coding</a:t>
            </a:r>
          </a:p>
        </p:txBody>
      </p:sp>
      <p:sp>
        <p:nvSpPr>
          <p:cNvPr id="11" name="TextBox 10"/>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D8E8F5"/>
                </a:solidFill>
                <a:latin typeface="Assistant"/>
              </a:rPr>
              <a:t>10 / 41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2 · KNOW WHICH ONE YOU ARE REACHING FOR</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Three modes, three different jobs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graphicFrame>
        <p:nvGraphicFramePr>
          <p:cNvPr id="7" name="Table 6"/>
          <p:cNvGraphicFramePr>
            <a:graphicFrameLocks noGrp="1"/>
          </p:cNvGraphicFramePr>
          <p:nvPr/>
        </p:nvGraphicFramePr>
        <p:xfrm>
          <a:off x="978408" y="1673352"/>
          <a:ext cx="10232135" cy="4114800"/>
        </p:xfrm>
        <a:graphic>
          <a:graphicData uri="http://schemas.openxmlformats.org/drawingml/2006/table">
            <a:tbl>
              <a:tblPr firstRow="1" bandRow="1">
                <a:tableStyleId>{5C22544A-7EE6-4342-B048-85BDC9FD1C3A}</a:tableStyleId>
              </a:tblPr>
              <a:tblGrid>
                <a:gridCol w="1256578"/>
                <a:gridCol w="4577534"/>
                <a:gridCol w="4398023"/>
              </a:tblGrid>
              <a:tr h="1028700">
                <a:tc>
                  <a:txBody>
                    <a:bodyPr wrap="square"/>
                    <a:lstStyle/>
                    <a:p>
                      <a:pPr>
                        <a:lnSpc>
                          <a:spcPct val="95000"/>
                        </a:lnSpc>
                      </a:pPr>
                      <a:r>
                        <a:rPr sz="1200" b="1">
                          <a:solidFill>
                            <a:srgbClr val="FFFFFF"/>
                          </a:solidFill>
                          <a:latin typeface="Assistant"/>
                        </a:rPr>
                        <a:t>Mode</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Reach for it when…</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The catch</a:t>
                      </a:r>
                    </a:p>
                  </a:txBody>
                  <a:tcPr marL="91440" marR="91440" marT="45720" marB="45720" anchor="ctr">
                    <a:solidFill>
                      <a:srgbClr val="006B96"/>
                    </a:solidFill>
                  </a:tcPr>
                </a:tc>
              </a:tr>
              <a:tr h="1028700">
                <a:tc>
                  <a:txBody>
                    <a:bodyPr wrap="square"/>
                    <a:lstStyle/>
                    <a:p>
                      <a:pPr>
                        <a:lnSpc>
                          <a:spcPct val="95000"/>
                        </a:lnSpc>
                      </a:pPr>
                      <a:r>
                        <a:rPr sz="1150">
                          <a:solidFill>
                            <a:srgbClr val="333333"/>
                          </a:solidFill>
                          <a:latin typeface="Assistant"/>
                        </a:rPr>
                        <a:t>Autocomplete</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You know roughly what you want and need the typing done: boilerplate, repetitive patterns, formatting. Fill-in-the-Middle reads the code above and below the cursor.</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Runs passively all day. Only as good as your names and comments — and it will happily complete a bad pattern.</a:t>
                      </a:r>
                    </a:p>
                  </a:txBody>
                  <a:tcPr marL="91440" marR="91440" marT="45720" marB="45720" anchor="ctr">
                    <a:solidFill>
                      <a:srgbClr val="FFFFFF"/>
                    </a:solidFill>
                  </a:tcPr>
                </a:tc>
              </a:tr>
              <a:tr h="1028700">
                <a:tc>
                  <a:txBody>
                    <a:bodyPr wrap="square"/>
                    <a:lstStyle/>
                    <a:p>
                      <a:pPr>
                        <a:lnSpc>
                          <a:spcPct val="95000"/>
                        </a:lnSpc>
                      </a:pPr>
                      <a:r>
                        <a:rPr sz="1150">
                          <a:solidFill>
                            <a:srgbClr val="333333"/>
                          </a:solidFill>
                          <a:latin typeface="Assistant"/>
                        </a:rPr>
                        <a:t>Chat</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You want to understand, plan or generate in bulk: explain this function, write tests, brainstorm edge cases. @-mention functions and files to pin context.</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Conversational confidence is not evidence. It will fluently explain code it has misread.</a:t>
                      </a:r>
                    </a:p>
                  </a:txBody>
                  <a:tcPr marL="91440" marR="91440" marT="45720" marB="45720" anchor="ctr">
                    <a:solidFill>
                      <a:srgbClr val="EEF3F9"/>
                    </a:solidFill>
                  </a:tcPr>
                </a:tc>
              </a:tr>
              <a:tr h="1028700">
                <a:tc>
                  <a:txBody>
                    <a:bodyPr wrap="square"/>
                    <a:lstStyle/>
                    <a:p>
                      <a:pPr>
                        <a:lnSpc>
                          <a:spcPct val="95000"/>
                        </a:lnSpc>
                      </a:pPr>
                      <a:r>
                        <a:rPr sz="1150">
                          <a:solidFill>
                            <a:srgbClr val="333333"/>
                          </a:solidFill>
                          <a:latin typeface="Assistant"/>
                        </a:rPr>
                        <a:t>Command</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You want a surgical edit on a selection: refactor this loop, add a docstring, fix this bug. Highlight first, then invoke (Ctrl+I).</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A stronger, slower model. Without a selection it writes at the cursor, and it can change more than you asked for.</a:t>
                      </a:r>
                    </a:p>
                  </a:txBody>
                  <a:tcPr marL="91440" marR="91440" marT="45720" marB="45720" anchor="ctr">
                    <a:solidFill>
                      <a:srgbClr val="FFFFFF"/>
                    </a:solidFill>
                  </a:tcPr>
                </a:tc>
              </a:tr>
            </a:tbl>
          </a:graphicData>
        </a:graphic>
      </p:graphicFrame>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11 / 41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2 · OBJECTIVE + CONTEXT + CONSTRAINTS</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Prompting: the difference between a diff and a rewrite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94944" y="1536192"/>
            <a:ext cx="5257800" cy="274320"/>
          </a:xfrm>
          <a:prstGeom prst="rect">
            <a:avLst/>
          </a:prstGeom>
          <a:noFill/>
        </p:spPr>
        <p:txBody>
          <a:bodyPr wrap="square" anchor="t" lIns="0" rIns="0" tIns="0" bIns="0">
            <a:spAutoFit/>
          </a:bodyPr>
          <a:lstStyle/>
          <a:p>
            <a:pPr algn="l"/>
            <a:r>
              <a:rPr sz="1100" b="1" i="0">
                <a:solidFill>
                  <a:srgbClr val="9A6600"/>
                </a:solidFill>
                <a:latin typeface="Assistant"/>
              </a:rPr>
              <a:t>BAD — THE ASSISTANT INVENTS</a:t>
            </a:r>
          </a:p>
        </p:txBody>
      </p:sp>
      <p:sp>
        <p:nvSpPr>
          <p:cNvPr id="8" name="Rounded Rectangle 7"/>
          <p:cNvSpPr/>
          <p:nvPr/>
        </p:nvSpPr>
        <p:spPr>
          <a:xfrm>
            <a:off x="658368" y="1883664"/>
            <a:ext cx="5257800" cy="2834640"/>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2057400"/>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 y="2057400"/>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43584" y="2057400"/>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04288"/>
            <a:ext cx="4800600" cy="2267712"/>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Refactor</a:t>
            </a:r>
            <a:r>
              <a:rPr sz="1150">
                <a:solidFill>
                  <a:srgbClr val="F2ECF2"/>
                </a:solidFill>
                <a:latin typeface="Consolas"/>
              </a:rPr>
              <a:t> rawDataTransform</a:t>
            </a:r>
          </a:p>
          <a:p>
            <a:pPr>
              <a:lnSpc>
                <a:spcPct val="100000"/>
              </a:lnSpc>
              <a:spcAft>
                <a:spcPts val="0"/>
              </a:spcAft>
            </a:pPr>
          </a:p>
          <a:p>
            <a:pPr>
              <a:lnSpc>
                <a:spcPct val="100000"/>
              </a:lnSpc>
              <a:spcAft>
                <a:spcPts val="0"/>
              </a:spcAft>
            </a:pPr>
          </a:p>
          <a:p>
            <a:pPr>
              <a:lnSpc>
                <a:spcPct val="100000"/>
              </a:lnSpc>
              <a:spcAft>
                <a:spcPts val="0"/>
              </a:spcAft>
            </a:pPr>
            <a:r>
              <a:rPr sz="1150" i="1">
                <a:solidFill>
                  <a:srgbClr val="BAA7BA"/>
                </a:solidFill>
                <a:latin typeface="Consolas"/>
              </a:rPr>
              <a:t># no method specified</a:t>
            </a:r>
          </a:p>
          <a:p>
            <a:pPr>
              <a:lnSpc>
                <a:spcPct val="100000"/>
              </a:lnSpc>
              <a:spcAft>
                <a:spcPts val="0"/>
              </a:spcAft>
            </a:pPr>
            <a:r>
              <a:rPr sz="1150" i="1">
                <a:solidFill>
                  <a:srgbClr val="BAA7BA"/>
                </a:solidFill>
                <a:latin typeface="Consolas"/>
              </a:rPr>
              <a:t># no output contract</a:t>
            </a:r>
          </a:p>
          <a:p>
            <a:pPr>
              <a:lnSpc>
                <a:spcPct val="100000"/>
              </a:lnSpc>
              <a:spcAft>
                <a:spcPts val="0"/>
              </a:spcAft>
            </a:pPr>
            <a:r>
              <a:rPr sz="1150" i="1">
                <a:solidFill>
                  <a:srgbClr val="BAA7BA"/>
                </a:solidFill>
                <a:latin typeface="Consolas"/>
              </a:rPr>
              <a:t># no constraints at all</a:t>
            </a:r>
          </a:p>
          <a:p>
            <a:pPr>
              <a:lnSpc>
                <a:spcPct val="100000"/>
              </a:lnSpc>
              <a:spcAft>
                <a:spcPts val="0"/>
              </a:spcAft>
            </a:pPr>
            <a:r>
              <a:rPr sz="1150" i="1">
                <a:solidFill>
                  <a:srgbClr val="BAA7BA"/>
                </a:solidFill>
                <a:latin typeface="Consolas"/>
              </a:rPr>
              <a:t># so the assistant guesses</a:t>
            </a:r>
          </a:p>
        </p:txBody>
      </p:sp>
      <p:sp>
        <p:nvSpPr>
          <p:cNvPr id="13" name="TextBox 12"/>
          <p:cNvSpPr txBox="1"/>
          <p:nvPr/>
        </p:nvSpPr>
        <p:spPr>
          <a:xfrm>
            <a:off x="6318504" y="1536192"/>
            <a:ext cx="5257800" cy="274320"/>
          </a:xfrm>
          <a:prstGeom prst="rect">
            <a:avLst/>
          </a:prstGeom>
          <a:noFill/>
        </p:spPr>
        <p:txBody>
          <a:bodyPr wrap="square" anchor="t" lIns="0" rIns="0" tIns="0" bIns="0">
            <a:spAutoFit/>
          </a:bodyPr>
          <a:lstStyle/>
          <a:p>
            <a:pPr algn="l"/>
            <a:r>
              <a:rPr sz="1100" b="1" i="0">
                <a:solidFill>
                  <a:srgbClr val="009DDD"/>
                </a:solidFill>
                <a:latin typeface="Assistant"/>
              </a:rPr>
              <a:t>GOOD — THE ASSISTANT COMPLIES</a:t>
            </a:r>
          </a:p>
        </p:txBody>
      </p:sp>
      <p:sp>
        <p:nvSpPr>
          <p:cNvPr id="14" name="Rounded Rectangle 13"/>
          <p:cNvSpPr/>
          <p:nvPr/>
        </p:nvSpPr>
        <p:spPr>
          <a:xfrm>
            <a:off x="6281928" y="1883664"/>
            <a:ext cx="5257800" cy="2834640"/>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83096" y="2057400"/>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75120" y="2057400"/>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67144" y="2057400"/>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304288"/>
            <a:ext cx="4800600" cy="2267712"/>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Refactor</a:t>
            </a:r>
            <a:r>
              <a:rPr sz="1150">
                <a:solidFill>
                  <a:srgbClr val="F2ECF2"/>
                </a:solidFill>
                <a:latin typeface="Consolas"/>
              </a:rPr>
              <a:t> @func:rawDataTransform by turning</a:t>
            </a:r>
          </a:p>
          <a:p>
            <a:pPr>
              <a:lnSpc>
                <a:spcPct val="100000"/>
              </a:lnSpc>
              <a:spcAft>
                <a:spcPts val="0"/>
              </a:spcAft>
            </a:pPr>
            <a:r>
              <a:rPr sz="1150" b="0">
                <a:solidFill>
                  <a:srgbClr val="F2ECF2"/>
                </a:solidFill>
                <a:latin typeface="Consolas"/>
              </a:rPr>
              <a:t>the</a:t>
            </a:r>
            <a:r>
              <a:rPr sz="1150">
                <a:solidFill>
                  <a:srgbClr val="F2ECF2"/>
                </a:solidFill>
                <a:latin typeface="Consolas"/>
              </a:rPr>
              <a:t> while loop into a for loop, and use the</a:t>
            </a:r>
          </a:p>
          <a:p>
            <a:pPr>
              <a:lnSpc>
                <a:spcPct val="100000"/>
              </a:lnSpc>
              <a:spcAft>
                <a:spcPts val="0"/>
              </a:spcAft>
            </a:pPr>
            <a:r>
              <a:rPr sz="1150" b="0">
                <a:solidFill>
                  <a:srgbClr val="F2ECF2"/>
                </a:solidFill>
                <a:latin typeface="Consolas"/>
              </a:rPr>
              <a:t>same</a:t>
            </a:r>
            <a:r>
              <a:rPr sz="1150">
                <a:solidFill>
                  <a:srgbClr val="F2ECF2"/>
                </a:solidFill>
                <a:latin typeface="Consolas"/>
              </a:rPr>
              <a:t> output structure as</a:t>
            </a:r>
          </a:p>
          <a:p>
            <a:pPr>
              <a:lnSpc>
                <a:spcPct val="100000"/>
              </a:lnSpc>
              <a:spcAft>
                <a:spcPts val="0"/>
              </a:spcAft>
            </a:pPr>
            <a:r>
              <a:rPr sz="1150" b="0">
                <a:solidFill>
                  <a:srgbClr val="F2ECF2"/>
                </a:solidFill>
                <a:latin typeface="Consolas"/>
              </a:rPr>
              <a:t>@func:otherDataTransformer</a:t>
            </a:r>
          </a:p>
          <a:p>
            <a:pPr>
              <a:lnSpc>
                <a:spcPct val="100000"/>
              </a:lnSpc>
              <a:spcAft>
                <a:spcPts val="0"/>
              </a:spcAft>
            </a:pPr>
          </a:p>
          <a:p>
            <a:pPr>
              <a:lnSpc>
                <a:spcPct val="100000"/>
              </a:lnSpc>
              <a:spcAft>
                <a:spcPts val="0"/>
              </a:spcAft>
            </a:pPr>
            <a:r>
              <a:rPr sz="1150" i="1">
                <a:solidFill>
                  <a:srgbClr val="BAA7BA"/>
                </a:solidFill>
                <a:latin typeface="Consolas"/>
              </a:rPr>
              <a:t># target: which function</a:t>
            </a:r>
          </a:p>
          <a:p>
            <a:pPr>
              <a:lnSpc>
                <a:spcPct val="100000"/>
              </a:lnSpc>
              <a:spcAft>
                <a:spcPts val="0"/>
              </a:spcAft>
            </a:pPr>
            <a:r>
              <a:rPr sz="1150" i="1">
                <a:solidFill>
                  <a:srgbClr val="BAA7BA"/>
                </a:solidFill>
                <a:latin typeface="Consolas"/>
              </a:rPr>
              <a:t># method: while -&gt; for</a:t>
            </a:r>
          </a:p>
          <a:p>
            <a:pPr>
              <a:lnSpc>
                <a:spcPct val="100000"/>
              </a:lnSpc>
              <a:spcAft>
                <a:spcPts val="0"/>
              </a:spcAft>
            </a:pPr>
            <a:r>
              <a:rPr sz="1150" i="1">
                <a:solidFill>
                  <a:srgbClr val="BAA7BA"/>
                </a:solidFill>
                <a:latin typeface="Consolas"/>
              </a:rPr>
              <a:t># contract: match the existing shape</a:t>
            </a:r>
          </a:p>
        </p:txBody>
      </p:sp>
      <p:sp>
        <p:nvSpPr>
          <p:cNvPr id="19" name="Rounded Rectangle 18"/>
          <p:cNvSpPr/>
          <p:nvPr/>
        </p:nvSpPr>
        <p:spPr>
          <a:xfrm>
            <a:off x="658368" y="4901184"/>
            <a:ext cx="10872216" cy="786384"/>
          </a:xfrm>
          <a:prstGeom prst="roundRect">
            <a:avLst>
              <a:gd name="adj" fmla="val 13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056632"/>
            <a:ext cx="10360152" cy="512064"/>
          </a:xfrm>
          <a:prstGeom prst="rect">
            <a:avLst/>
          </a:prstGeom>
          <a:noFill/>
        </p:spPr>
        <p:txBody>
          <a:bodyPr wrap="square" anchor="t" lIns="0" rIns="0" tIns="0" bIns="0">
            <a:spAutoFit/>
          </a:bodyPr>
          <a:lstStyle/>
          <a:p>
            <a:pPr algn="l">
              <a:lnSpc>
                <a:spcPct val="108000"/>
              </a:lnSpc>
            </a:pPr>
            <a:r>
              <a:rPr sz="1350" b="1" i="0">
                <a:solidFill>
                  <a:srgbClr val="333333"/>
                </a:solidFill>
                <a:latin typeface="Assistant"/>
              </a:rPr>
              <a:t>Objective, context, constraints. The same three parts work in every assistant you will use — and you will use them in the exercise in a few minutes.</a:t>
            </a:r>
          </a:p>
        </p:txBody>
      </p:sp>
      <p:sp>
        <p:nvSpPr>
          <p:cNvPr id="21" name="TextBox 2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22" name="TextBox 2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12 / 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2 · SIXTY SECONDS, DISCUSS WITH THE PERSON NEXT TO YOU</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Spot the bug: it runs, the number is wrong</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ounded Rectangle 6"/>
          <p:cNvSpPr/>
          <p:nvPr/>
        </p:nvSpPr>
        <p:spPr>
          <a:xfrm>
            <a:off x="658368" y="1536192"/>
            <a:ext cx="6903720" cy="4224528"/>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09928"/>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709928"/>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43584" y="1709928"/>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56816"/>
            <a:ext cx="6446520" cy="3657600"/>
          </a:xfrm>
          <a:prstGeom prst="rect">
            <a:avLst/>
          </a:prstGeom>
          <a:noFill/>
        </p:spPr>
        <p:txBody>
          <a:bodyPr wrap="square" anchor="t" lIns="0" rIns="0" tIns="0" bIns="0">
            <a:spAutoFit/>
          </a:bodyPr>
          <a:lstStyle/>
          <a:p>
            <a:pPr>
              <a:lnSpc>
                <a:spcPct val="100000"/>
              </a:lnSpc>
              <a:spcAft>
                <a:spcPts val="0"/>
              </a:spcAft>
            </a:pPr>
            <a:r>
              <a:rPr sz="1100" i="1">
                <a:solidFill>
                  <a:srgbClr val="BAA7BA"/>
                </a:solidFill>
                <a:latin typeface="Consolas"/>
              </a:rPr>
              <a:t># the assistant "tidies up" your conversion</a:t>
            </a:r>
          </a:p>
          <a:p>
            <a:pPr>
              <a:lnSpc>
                <a:spcPct val="100000"/>
              </a:lnSpc>
              <a:spcAft>
                <a:spcPts val="0"/>
              </a:spcAft>
            </a:pPr>
            <a:r>
              <a:rPr sz="1100" b="1">
                <a:solidFill>
                  <a:srgbClr val="009DDD"/>
                </a:solidFill>
                <a:latin typeface="Consolas"/>
              </a:rPr>
              <a:t>def</a:t>
            </a:r>
            <a:r>
              <a:rPr sz="1100">
                <a:solidFill>
                  <a:srgbClr val="F2ECF2"/>
                </a:solidFill>
                <a:latin typeface="Consolas"/>
              </a:rPr>
              <a:t> diffusion_coefficient(df):</a:t>
            </a:r>
          </a:p>
          <a:p>
            <a:pPr>
              <a:lnSpc>
                <a:spcPct val="100000"/>
              </a:lnSpc>
              <a:spcAft>
                <a:spcPts val="0"/>
              </a:spcAft>
            </a:pPr>
            <a:r>
              <a:rPr sz="1100">
                <a:solidFill>
                  <a:srgbClr val="F2ECF2"/>
                </a:solidFill>
                <a:latin typeface="Consolas"/>
              </a:rPr>
              <a:t>    </a:t>
            </a:r>
            <a:r>
              <a:rPr sz="1100" b="0">
                <a:solidFill>
                  <a:srgbClr val="F2ECF2"/>
                </a:solidFill>
                <a:latin typeface="Consolas"/>
              </a:rPr>
              <a:t>msd</a:t>
            </a:r>
            <a:r>
              <a:rPr sz="1100">
                <a:solidFill>
                  <a:srgbClr val="F2ECF2"/>
                </a:solidFill>
                <a:latin typeface="Consolas"/>
              </a:rPr>
              <a:t> = mean_squared_displacement(df)</a:t>
            </a:r>
          </a:p>
          <a:p>
            <a:pPr>
              <a:lnSpc>
                <a:spcPct val="100000"/>
              </a:lnSpc>
              <a:spcAft>
                <a:spcPts val="0"/>
              </a:spcAft>
            </a:pPr>
            <a:r>
              <a:rPr sz="1100">
                <a:solidFill>
                  <a:srgbClr val="F2ECF2"/>
                </a:solidFill>
                <a:latin typeface="Consolas"/>
              </a:rPr>
              <a:t>    </a:t>
            </a:r>
            <a:r>
              <a:rPr sz="1100" b="0">
                <a:solidFill>
                  <a:srgbClr val="F2ECF2"/>
                </a:solidFill>
                <a:latin typeface="Consolas"/>
              </a:rPr>
              <a:t>slope</a:t>
            </a:r>
            <a:r>
              <a:rPr sz="1100">
                <a:solidFill>
                  <a:srgbClr val="F2ECF2"/>
                </a:solidFill>
                <a:latin typeface="Consolas"/>
              </a:rPr>
              <a:t> = np.polyfit(lag_times(df), msd, 1)[0]</a:t>
            </a:r>
          </a:p>
          <a:p>
            <a:pPr>
              <a:lnSpc>
                <a:spcPct val="100000"/>
              </a:lnSpc>
              <a:spcAft>
                <a:spcPts val="0"/>
              </a:spcAft>
            </a:pPr>
            <a:r>
              <a:rPr sz="1100">
                <a:solidFill>
                  <a:srgbClr val="F2ECF2"/>
                </a:solidFill>
                <a:latin typeface="Consolas"/>
              </a:rPr>
              <a:t>    </a:t>
            </a:r>
            <a:r>
              <a:rPr sz="1100" b="1">
                <a:solidFill>
                  <a:srgbClr val="009DDD"/>
                </a:solidFill>
                <a:latin typeface="Consolas"/>
              </a:rPr>
              <a:t>return</a:t>
            </a:r>
            <a:r>
              <a:rPr sz="1100">
                <a:solidFill>
                  <a:srgbClr val="F2ECF2"/>
                </a:solidFill>
                <a:latin typeface="Consolas"/>
              </a:rPr>
              <a:t> float(slope / 2)</a:t>
            </a:r>
          </a:p>
          <a:p>
            <a:pPr>
              <a:lnSpc>
                <a:spcPct val="100000"/>
              </a:lnSpc>
              <a:spcAft>
                <a:spcPts val="0"/>
              </a:spcAft>
            </a:pPr>
          </a:p>
          <a:p>
            <a:pPr>
              <a:lnSpc>
                <a:spcPct val="100000"/>
              </a:lnSpc>
              <a:spcAft>
                <a:spcPts val="0"/>
              </a:spcAft>
            </a:pPr>
          </a:p>
          <a:p>
            <a:pPr>
              <a:lnSpc>
                <a:spcPct val="100000"/>
              </a:lnSpc>
              <a:spcAft>
                <a:spcPts val="0"/>
              </a:spcAft>
            </a:pPr>
            <a:r>
              <a:rPr sz="1100" i="1">
                <a:solidFill>
                  <a:srgbClr val="BAA7BA"/>
                </a:solidFill>
                <a:latin typeface="Consolas"/>
              </a:rPr>
              <a:t># It runs. It returns a number. It plots fine.</a:t>
            </a:r>
          </a:p>
          <a:p>
            <a:pPr>
              <a:lnSpc>
                <a:spcPct val="100000"/>
              </a:lnSpc>
              <a:spcAft>
                <a:spcPts val="0"/>
              </a:spcAft>
            </a:pPr>
            <a:r>
              <a:rPr sz="1100" i="1">
                <a:solidFill>
                  <a:srgbClr val="BAA7BA"/>
                </a:solidFill>
                <a:latin typeface="Consolas"/>
              </a:rPr>
              <a:t># Nothing raises. Nothing warns.</a:t>
            </a:r>
          </a:p>
        </p:txBody>
      </p:sp>
      <p:sp>
        <p:nvSpPr>
          <p:cNvPr id="12" name="TextBox 11"/>
          <p:cNvSpPr txBox="1"/>
          <p:nvPr/>
        </p:nvSpPr>
        <p:spPr>
          <a:xfrm>
            <a:off x="7854696" y="1554480"/>
            <a:ext cx="3675888" cy="274320"/>
          </a:xfrm>
          <a:prstGeom prst="rect">
            <a:avLst/>
          </a:prstGeom>
          <a:noFill/>
        </p:spPr>
        <p:txBody>
          <a:bodyPr wrap="square" anchor="t" lIns="0" rIns="0" tIns="0" bIns="0">
            <a:spAutoFit/>
          </a:bodyPr>
          <a:lstStyle/>
          <a:p>
            <a:pPr algn="l"/>
            <a:r>
              <a:rPr sz="1050" b="1" i="0">
                <a:solidFill>
                  <a:srgbClr val="006B96"/>
                </a:solidFill>
                <a:latin typeface="Assistant"/>
              </a:rPr>
              <a:t>ANSWER — AFTER THEY HAVE GUESSED</a:t>
            </a:r>
          </a:p>
        </p:txBody>
      </p:sp>
      <p:sp>
        <p:nvSpPr>
          <p:cNvPr id="13" name="TextBox 12"/>
          <p:cNvSpPr txBox="1"/>
          <p:nvPr/>
        </p:nvSpPr>
        <p:spPr>
          <a:xfrm>
            <a:off x="7854696" y="1920240"/>
            <a:ext cx="3675888" cy="3383280"/>
          </a:xfrm>
          <a:prstGeom prst="rect">
            <a:avLst/>
          </a:prstGeom>
          <a:noFill/>
        </p:spPr>
        <p:txBody>
          <a:bodyPr wrap="square" anchor="t" lIns="0" rIns="0" tIns="0" bIns="0">
            <a:spAutoFit/>
          </a:bodyPr>
          <a:lstStyle/>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 bead moves in the plane, so in 2D, MSD = 4 D t, not 2 D t.</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D comes out exactly twice too large, and the curve still looks perfect.</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 test from Part 1 catches it: the stored value fails loudly.</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Quietly wrong does more damage than loudly broken.</a:t>
            </a:r>
          </a:p>
        </p:txBody>
      </p:sp>
      <p:sp>
        <p:nvSpPr>
          <p:cNvPr id="14" name="TextBox 13"/>
          <p:cNvSpPr txBox="1"/>
          <p:nvPr/>
        </p:nvSpPr>
        <p:spPr>
          <a:xfrm>
            <a:off x="7854696" y="5074920"/>
            <a:ext cx="3675888" cy="868680"/>
          </a:xfrm>
          <a:prstGeom prst="rect">
            <a:avLst/>
          </a:prstGeom>
          <a:noFill/>
        </p:spPr>
        <p:txBody>
          <a:bodyPr wrap="square" anchor="t" lIns="0" rIns="0" tIns="0" bIns="0">
            <a:spAutoFit/>
          </a:bodyPr>
          <a:lstStyle/>
          <a:p>
            <a:pPr algn="l">
              <a:lnSpc>
                <a:spcPct val="112000"/>
              </a:lnSpc>
            </a:pPr>
            <a:r>
              <a:rPr sz="1150" b="0" i="1">
                <a:solidFill>
                  <a:srgbClr val="5F6B76"/>
                </a:solidFill>
                <a:latin typeface="Assistant"/>
              </a:rPr>
              <a:t>Adapted from the lesson's bug-fixing exercise. In the next fifteen minutes you will meet this same failure mode in your own terminal.</a:t>
            </a:r>
          </a:p>
        </p:txBody>
      </p:sp>
      <p:sp>
        <p:nvSpPr>
          <p:cNvPr id="15" name="TextBox 14"/>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6" name="TextBox 15"/>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13 / 41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HANDS-ON · YOUR CODE, NOT A TOY PROBLEM</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Fix a script that runs but lies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ectangle 6"/>
          <p:cNvSpPr/>
          <p:nvPr/>
        </p:nvSpPr>
        <p:spPr>
          <a:xfrm>
            <a:off x="658368" y="1298448"/>
            <a:ext cx="10872216" cy="27432"/>
          </a:xfrm>
          <a:prstGeom prst="rect">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219456"/>
            <a:ext cx="2240280" cy="274320"/>
          </a:xfrm>
          <a:prstGeom prst="rect">
            <a:avLst/>
          </a:prstGeom>
          <a:noFill/>
        </p:spPr>
        <p:txBody>
          <a:bodyPr wrap="square" anchor="t" lIns="0" rIns="0" tIns="0" bIns="0">
            <a:spAutoFit/>
          </a:bodyPr>
          <a:lstStyle/>
          <a:p>
            <a:pPr algn="r"/>
            <a:r>
              <a:rPr sz="1200" b="1" i="0">
                <a:solidFill>
                  <a:srgbClr val="006B96"/>
                </a:solidFill>
                <a:latin typeface="Assistant"/>
              </a:rPr>
              <a:t>15 min</a:t>
            </a:r>
          </a:p>
        </p:txBody>
      </p:sp>
      <p:sp>
        <p:nvSpPr>
          <p:cNvPr id="9" name="Rounded Rectangle 8"/>
          <p:cNvSpPr/>
          <p:nvPr/>
        </p:nvSpPr>
        <p:spPr>
          <a:xfrm>
            <a:off x="658368" y="1536192"/>
            <a:ext cx="6400800" cy="4224528"/>
          </a:xfrm>
          <a:prstGeom prst="roundRect">
            <a:avLst>
              <a:gd name="adj" fmla="val 35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755648"/>
            <a:ext cx="5815584" cy="868680"/>
          </a:xfrm>
          <a:prstGeom prst="rect">
            <a:avLst/>
          </a:prstGeom>
          <a:noFill/>
        </p:spPr>
        <p:txBody>
          <a:bodyPr wrap="square" anchor="t" lIns="0" rIns="0" tIns="0" bIns="0">
            <a:spAutoFit/>
          </a:bodyPr>
          <a:lstStyle/>
          <a:p>
            <a:pPr algn="l">
              <a:lnSpc>
                <a:spcPct val="112000"/>
              </a:lnSpc>
            </a:pPr>
            <a:r>
              <a:rPr sz="1300" b="0" i="0">
                <a:solidFill>
                  <a:srgbClr val="333333"/>
                </a:solidFill>
                <a:latin typeface="Assistant"/>
              </a:rPr>
              <a:t>You are handed a script that measures how fast a bead diffuses in water. It crashes. Once it runs, it reports a diffusion coefficient that is wrong by a factor of twenty. Find out why, with an assistant's help, and prove the fix with a test.</a:t>
            </a:r>
          </a:p>
        </p:txBody>
      </p:sp>
      <p:sp>
        <p:nvSpPr>
          <p:cNvPr id="11" name="TextBox 10"/>
          <p:cNvSpPr txBox="1"/>
          <p:nvPr/>
        </p:nvSpPr>
        <p:spPr>
          <a:xfrm>
            <a:off x="950976" y="2706624"/>
            <a:ext cx="5815584" cy="2880360"/>
          </a:xfrm>
          <a:prstGeom prst="rect">
            <a:avLst/>
          </a:prstGeom>
          <a:noFill/>
        </p:spPr>
        <p:txBody>
          <a:bodyPr wrap="square" anchor="t" lIns="0" rIns="0" tIns="0" bIns="0">
            <a:spAutoFit/>
          </a:bodyPr>
          <a:lstStyle/>
          <a:p>
            <a:pPr>
              <a:lnSpc>
                <a:spcPct val="97000"/>
              </a:lnSpc>
              <a:spcAft>
                <a:spcPts val="800"/>
              </a:spcAft>
            </a:pPr>
            <a:r>
              <a:rPr sz="750">
                <a:solidFill>
                  <a:srgbClr val="009DDD"/>
                </a:solidFill>
                <a:latin typeface="Assistant"/>
              </a:rPr>
              <a:t>●  </a:t>
            </a:r>
            <a:r>
              <a:rPr sz="1250">
                <a:solidFill>
                  <a:srgbClr val="333333"/>
                </a:solidFill>
                <a:latin typeface="Assistant"/>
              </a:rPr>
              <a:t>Run it. Read the error before you touch anything — and notice that it is the easy problem.</a:t>
            </a:r>
          </a:p>
          <a:p>
            <a:pPr>
              <a:lnSpc>
                <a:spcPct val="97000"/>
              </a:lnSpc>
              <a:spcAft>
                <a:spcPts val="800"/>
              </a:spcAft>
            </a:pPr>
            <a:r>
              <a:rPr sz="750">
                <a:solidFill>
                  <a:srgbClr val="009DDD"/>
                </a:solidFill>
                <a:latin typeface="Assistant"/>
              </a:rPr>
              <a:t>●  </a:t>
            </a:r>
            <a:r>
              <a:rPr sz="1250">
                <a:solidFill>
                  <a:srgbClr val="333333"/>
                </a:solidFill>
                <a:latin typeface="Assistant"/>
              </a:rPr>
              <a:t>Look at the data first: the fit uses Frame. Is a frame a time axis, and is it the one the units claim?</a:t>
            </a:r>
          </a:p>
          <a:p>
            <a:pPr>
              <a:lnSpc>
                <a:spcPct val="97000"/>
              </a:lnSpc>
              <a:spcAft>
                <a:spcPts val="800"/>
              </a:spcAft>
            </a:pPr>
            <a:r>
              <a:rPr sz="750">
                <a:solidFill>
                  <a:srgbClr val="009DDD"/>
                </a:solidFill>
                <a:latin typeface="Assistant"/>
              </a:rPr>
              <a:t>●  </a:t>
            </a:r>
            <a:r>
              <a:rPr sz="1250">
                <a:solidFill>
                  <a:srgbClr val="333333"/>
                </a:solidFill>
                <a:latin typeface="Assistant"/>
              </a:rPr>
              <a:t>Run the test. Its failure is the most useful information in the room.</a:t>
            </a:r>
          </a:p>
          <a:p>
            <a:pPr>
              <a:lnSpc>
                <a:spcPct val="97000"/>
              </a:lnSpc>
              <a:spcAft>
                <a:spcPts val="800"/>
              </a:spcAft>
            </a:pPr>
            <a:r>
              <a:rPr sz="750">
                <a:solidFill>
                  <a:srgbClr val="009DDD"/>
                </a:solidFill>
                <a:latin typeface="Assistant"/>
              </a:rPr>
              <a:t>●  </a:t>
            </a:r>
            <a:r>
              <a:rPr sz="1250">
                <a:solidFill>
                  <a:srgbClr val="333333"/>
                </a:solidFill>
                <a:latin typeface="Assistant"/>
              </a:rPr>
              <a:t>Now use the assistant. Ask it to explain before it edits, and read the whole diff.</a:t>
            </a:r>
          </a:p>
          <a:p>
            <a:pPr>
              <a:lnSpc>
                <a:spcPct val="97000"/>
              </a:lnSpc>
              <a:spcAft>
                <a:spcPts val="800"/>
              </a:spcAft>
            </a:pPr>
            <a:r>
              <a:rPr sz="750">
                <a:solidFill>
                  <a:srgbClr val="009DDD"/>
                </a:solidFill>
                <a:latin typeface="Assistant"/>
              </a:rPr>
              <a:t>●  </a:t>
            </a:r>
            <a:r>
              <a:rPr sz="1250">
                <a:solidFill>
                  <a:srgbClr val="333333"/>
                </a:solidFill>
                <a:latin typeface="Assistant"/>
              </a:rPr>
              <a:t>Re-run the test, then put the bug back on purpose and check it fails again.</a:t>
            </a:r>
          </a:p>
        </p:txBody>
      </p:sp>
      <p:sp>
        <p:nvSpPr>
          <p:cNvPr id="12" name="Rounded Rectangle 11"/>
          <p:cNvSpPr/>
          <p:nvPr/>
        </p:nvSpPr>
        <p:spPr>
          <a:xfrm>
            <a:off x="7379208" y="1536192"/>
            <a:ext cx="4151376" cy="4224528"/>
          </a:xfrm>
          <a:prstGeom prst="roundRect">
            <a:avLst>
              <a:gd name="adj" fmla="val 3500"/>
            </a:avLst>
          </a:prstGeom>
          <a:solidFill>
            <a:srgbClr val="E4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755648"/>
            <a:ext cx="3639312" cy="274320"/>
          </a:xfrm>
          <a:prstGeom prst="rect">
            <a:avLst/>
          </a:prstGeom>
          <a:noFill/>
        </p:spPr>
        <p:txBody>
          <a:bodyPr wrap="square" anchor="t" lIns="0" rIns="0" tIns="0" bIns="0">
            <a:spAutoFit/>
          </a:bodyPr>
          <a:lstStyle/>
          <a:p>
            <a:pPr algn="l"/>
            <a:r>
              <a:rPr sz="1050" b="1" i="0">
                <a:solidFill>
                  <a:srgbClr val="006B96"/>
                </a:solidFill>
                <a:latin typeface="Assistant"/>
              </a:rPr>
              <a:t>DEFINITION OF DONE</a:t>
            </a:r>
          </a:p>
        </p:txBody>
      </p:sp>
      <p:sp>
        <p:nvSpPr>
          <p:cNvPr id="14" name="TextBox 13"/>
          <p:cNvSpPr txBox="1"/>
          <p:nvPr/>
        </p:nvSpPr>
        <p:spPr>
          <a:xfrm>
            <a:off x="7635240" y="2103120"/>
            <a:ext cx="3639312" cy="2103120"/>
          </a:xfrm>
          <a:prstGeom prst="rect">
            <a:avLst/>
          </a:prstGeom>
          <a:noFill/>
        </p:spPr>
        <p:txBody>
          <a:bodyPr wrap="square" anchor="t" lIns="0" rIns="0" tIns="0" bIns="0">
            <a:spAutoFit/>
          </a:bodyPr>
          <a:lstStyle/>
          <a:p>
            <a:pPr>
              <a:lnSpc>
                <a:spcPct val="97000"/>
              </a:lnSpc>
              <a:spcAft>
                <a:spcPts val="600"/>
              </a:spcAft>
            </a:pPr>
            <a:r>
              <a:rPr sz="700">
                <a:solidFill>
                  <a:srgbClr val="009DDD"/>
                </a:solidFill>
                <a:latin typeface="Assistant"/>
              </a:rPr>
              <a:t>●  </a:t>
            </a:r>
            <a:r>
              <a:rPr sz="1200">
                <a:solidFill>
                  <a:srgbClr val="333333"/>
                </a:solidFill>
                <a:latin typeface="Assistant"/>
              </a:rPr>
              <a:t>analysis.py prints about 0.49 µm²/s</a:t>
            </a:r>
          </a:p>
          <a:p>
            <a:pPr>
              <a:lnSpc>
                <a:spcPct val="97000"/>
              </a:lnSpc>
              <a:spcAft>
                <a:spcPts val="600"/>
              </a:spcAft>
            </a:pPr>
            <a:r>
              <a:rPr sz="700">
                <a:solidFill>
                  <a:srgbClr val="009DDD"/>
                </a:solidFill>
                <a:latin typeface="Assistant"/>
              </a:rPr>
              <a:t>●  </a:t>
            </a:r>
            <a:r>
              <a:rPr sz="1200">
                <a:solidFill>
                  <a:srgbClr val="333333"/>
                </a:solidFill>
                <a:latin typeface="Assistant"/>
              </a:rPr>
              <a:t>pytest passes</a:t>
            </a:r>
          </a:p>
          <a:p>
            <a:pPr>
              <a:lnSpc>
                <a:spcPct val="97000"/>
              </a:lnSpc>
              <a:spcAft>
                <a:spcPts val="600"/>
              </a:spcAft>
            </a:pPr>
            <a:r>
              <a:rPr sz="700">
                <a:solidFill>
                  <a:srgbClr val="009DDD"/>
                </a:solidFill>
                <a:latin typeface="Assistant"/>
              </a:rPr>
              <a:t>●  </a:t>
            </a:r>
            <a:r>
              <a:rPr sz="1200">
                <a:solidFill>
                  <a:srgbClr val="333333"/>
                </a:solidFill>
                <a:latin typeface="Assistant"/>
              </a:rPr>
              <a:t>You can say aloud what the bug was and why the wrong number looked fine</a:t>
            </a:r>
          </a:p>
          <a:p>
            <a:pPr>
              <a:lnSpc>
                <a:spcPct val="97000"/>
              </a:lnSpc>
              <a:spcAft>
                <a:spcPts val="600"/>
              </a:spcAft>
            </a:pPr>
            <a:r>
              <a:rPr sz="700">
                <a:solidFill>
                  <a:srgbClr val="009DDD"/>
                </a:solidFill>
                <a:latin typeface="Assistant"/>
              </a:rPr>
              <a:t>●  </a:t>
            </a:r>
            <a:r>
              <a:rPr sz="1200">
                <a:solidFill>
                  <a:srgbClr val="333333"/>
                </a:solidFill>
                <a:latin typeface="Assistant"/>
              </a:rPr>
              <a:t>Your prompt is saved beside the code</a:t>
            </a:r>
          </a:p>
        </p:txBody>
      </p:sp>
      <p:sp>
        <p:nvSpPr>
          <p:cNvPr id="15" name="TextBox 14"/>
          <p:cNvSpPr txBox="1"/>
          <p:nvPr/>
        </p:nvSpPr>
        <p:spPr>
          <a:xfrm>
            <a:off x="7635240" y="4325112"/>
            <a:ext cx="3639312" cy="274320"/>
          </a:xfrm>
          <a:prstGeom prst="rect">
            <a:avLst/>
          </a:prstGeom>
          <a:noFill/>
        </p:spPr>
        <p:txBody>
          <a:bodyPr wrap="square" anchor="t" lIns="0" rIns="0" tIns="0" bIns="0">
            <a:spAutoFit/>
          </a:bodyPr>
          <a:lstStyle/>
          <a:p>
            <a:pPr algn="l"/>
            <a:r>
              <a:rPr sz="1050" b="1" i="0">
                <a:solidFill>
                  <a:srgbClr val="006B96"/>
                </a:solidFill>
                <a:latin typeface="Assistant"/>
              </a:rPr>
              <a:t>TOOLING</a:t>
            </a:r>
          </a:p>
        </p:txBody>
      </p:sp>
      <p:sp>
        <p:nvSpPr>
          <p:cNvPr id="16" name="TextBox 15"/>
          <p:cNvSpPr txBox="1"/>
          <p:nvPr/>
        </p:nvSpPr>
        <p:spPr>
          <a:xfrm>
            <a:off x="7635240" y="4608576"/>
            <a:ext cx="3639312" cy="960120"/>
          </a:xfrm>
          <a:prstGeom prst="rect">
            <a:avLst/>
          </a:prstGeom>
          <a:noFill/>
        </p:spPr>
        <p:txBody>
          <a:bodyPr wrap="square" anchor="t" lIns="0" rIns="0" tIns="0" bIns="0">
            <a:spAutoFit/>
          </a:bodyPr>
          <a:lstStyle/>
          <a:p>
            <a:pPr algn="l">
              <a:lnSpc>
                <a:spcPct val="106000"/>
              </a:lnSpc>
            </a:pPr>
            <a:r>
              <a:rPr sz="1150" b="0" i="0">
                <a:solidFill>
                  <a:srgbClr val="5F6B76"/>
                </a:solidFill>
                <a:latin typeface="Assistant"/>
              </a:rPr>
              <a:t>The hands-on/ folder: analysis.py, bead_trajectory.csv, test_analysis.py and README.md. Python with pandas, numpy and pytest, plus a chat box with an assistant. Work in pairs if you like.</a:t>
            </a:r>
          </a:p>
        </p:txBody>
      </p:sp>
      <p:sp>
        <p:nvSpPr>
          <p:cNvPr id="17" name="TextBox 16"/>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8" name="TextBox 17"/>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14 / 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HANDS-ON · THREE MINUTES BEFORE YOU ASK FOR HELP</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Step 1 and 2: run it, then look at the data</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ounded Rectangle 6"/>
          <p:cNvSpPr/>
          <p:nvPr/>
        </p:nvSpPr>
        <p:spPr>
          <a:xfrm>
            <a:off x="658368" y="1536192"/>
            <a:ext cx="6903720" cy="4224528"/>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09928"/>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709928"/>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43584" y="1709928"/>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56816"/>
            <a:ext cx="6446520" cy="3657600"/>
          </a:xfrm>
          <a:prstGeom prst="rect">
            <a:avLst/>
          </a:prstGeom>
          <a:noFill/>
        </p:spPr>
        <p:txBody>
          <a:bodyPr wrap="square" anchor="t" lIns="0" rIns="0" tIns="0" bIns="0">
            <a:spAutoFit/>
          </a:bodyPr>
          <a:lstStyle/>
          <a:p>
            <a:pPr>
              <a:lnSpc>
                <a:spcPct val="100000"/>
              </a:lnSpc>
              <a:spcAft>
                <a:spcPts val="0"/>
              </a:spcAft>
            </a:pPr>
            <a:r>
              <a:rPr sz="1000" i="1">
                <a:solidFill>
                  <a:srgbClr val="BAA7BA"/>
                </a:solidFill>
                <a:latin typeface="Consolas"/>
              </a:rPr>
              <a:t># Step 1 - run it, and read the error</a:t>
            </a:r>
          </a:p>
          <a:p>
            <a:pPr>
              <a:lnSpc>
                <a:spcPct val="100000"/>
              </a:lnSpc>
              <a:spcAft>
                <a:spcPts val="0"/>
              </a:spcAft>
            </a:pPr>
            <a:r>
              <a:rPr sz="1000" b="0">
                <a:solidFill>
                  <a:srgbClr val="F2ECF2"/>
                </a:solidFill>
                <a:latin typeface="Consolas"/>
              </a:rPr>
              <a:t>$ python analysis.py</a:t>
            </a:r>
          </a:p>
          <a:p>
            <a:pPr>
              <a:lnSpc>
                <a:spcPct val="100000"/>
              </a:lnSpc>
              <a:spcAft>
                <a:spcPts val="0"/>
              </a:spcAft>
            </a:pPr>
            <a:r>
              <a:rPr sz="1000" b="0">
                <a:solidFill>
                  <a:srgbClr val="F2ECF2"/>
                </a:solidFill>
                <a:latin typeface="Consolas"/>
              </a:rPr>
              <a:t>FileNotFoundError</a:t>
            </a:r>
            <a:r>
              <a:rPr sz="1000">
                <a:solidFill>
                  <a:srgbClr val="F2ECF2"/>
                </a:solidFill>
                <a:latin typeface="Consolas"/>
              </a:rPr>
              <a:t>: [Errno 2] No such file or directory:</a:t>
            </a:r>
          </a:p>
          <a:p>
            <a:pPr>
              <a:lnSpc>
                <a:spcPct val="100000"/>
              </a:lnSpc>
              <a:spcAft>
                <a:spcPts val="0"/>
              </a:spcAft>
            </a:pPr>
            <a:r>
              <a:rPr sz="1000">
                <a:solidFill>
                  <a:srgbClr val="F2ECF2"/>
                </a:solidFill>
                <a:latin typeface="Consolas"/>
              </a:rPr>
              <a:t>  </a:t>
            </a:r>
            <a:r>
              <a:rPr sz="1000" b="0">
                <a:solidFill>
                  <a:srgbClr val="F2ECF2"/>
                </a:solidFill>
                <a:latin typeface="Consolas"/>
              </a:rPr>
              <a:t>'/Users/yourname/Downloads/bead_trajectory.csv'</a:t>
            </a:r>
          </a:p>
          <a:p>
            <a:pPr>
              <a:lnSpc>
                <a:spcPct val="100000"/>
              </a:lnSpc>
              <a:spcAft>
                <a:spcPts val="0"/>
              </a:spcAft>
            </a:pPr>
            <a:r>
              <a:rPr sz="1000" i="1">
                <a:solidFill>
                  <a:srgbClr val="BAA7BA"/>
                </a:solidFill>
                <a:latin typeface="Consolas"/>
              </a:rPr>
              <a:t># One line to fix. And it teaches you nothing.</a:t>
            </a:r>
          </a:p>
          <a:p>
            <a:pPr>
              <a:lnSpc>
                <a:spcPct val="100000"/>
              </a:lnSpc>
              <a:spcAft>
                <a:spcPts val="0"/>
              </a:spcAft>
            </a:pPr>
          </a:p>
          <a:p>
            <a:pPr>
              <a:lnSpc>
                <a:spcPct val="100000"/>
              </a:lnSpc>
              <a:spcAft>
                <a:spcPts val="0"/>
              </a:spcAft>
            </a:pPr>
            <a:r>
              <a:rPr sz="1000" i="1">
                <a:solidFill>
                  <a:srgbClr val="BAA7BA"/>
                </a:solidFill>
                <a:latin typeface="Consolas"/>
              </a:rPr>
              <a:t># Step 2 - look at the data before you ask an assistant</a:t>
            </a:r>
          </a:p>
          <a:p>
            <a:pPr>
              <a:lnSpc>
                <a:spcPct val="100000"/>
              </a:lnSpc>
              <a:spcAft>
                <a:spcPts val="0"/>
              </a:spcAft>
            </a:pPr>
            <a:r>
              <a:rPr sz="1000" b="0">
                <a:solidFill>
                  <a:srgbClr val="F2ECF2"/>
                </a:solidFill>
                <a:latin typeface="Consolas"/>
              </a:rPr>
              <a:t>&gt;&gt;&gt; import pandas as pd</a:t>
            </a:r>
          </a:p>
          <a:p>
            <a:pPr>
              <a:lnSpc>
                <a:spcPct val="100000"/>
              </a:lnSpc>
              <a:spcAft>
                <a:spcPts val="0"/>
              </a:spcAft>
            </a:pPr>
            <a:r>
              <a:rPr sz="1000" b="0">
                <a:solidFill>
                  <a:srgbClr val="F2ECF2"/>
                </a:solidFill>
                <a:latin typeface="Consolas"/>
              </a:rPr>
              <a:t>&gt;&gt;&gt; d = pd.read_csv("bead_trajectory.csv")</a:t>
            </a:r>
          </a:p>
          <a:p>
            <a:pPr>
              <a:lnSpc>
                <a:spcPct val="100000"/>
              </a:lnSpc>
              <a:spcAft>
                <a:spcPts val="0"/>
              </a:spcAft>
            </a:pPr>
            <a:r>
              <a:rPr sz="1000" b="0">
                <a:solidFill>
                  <a:srgbClr val="F2ECF2"/>
                </a:solidFill>
                <a:latin typeface="Consolas"/>
              </a:rPr>
              <a:t>&gt;&gt;&gt; d.head()</a:t>
            </a:r>
          </a:p>
          <a:p>
            <a:pPr>
              <a:lnSpc>
                <a:spcPct val="100000"/>
              </a:lnSpc>
              <a:spcAft>
                <a:spcPts val="0"/>
              </a:spcAft>
            </a:pPr>
            <a:r>
              <a:rPr sz="1000">
                <a:solidFill>
                  <a:srgbClr val="F2ECF2"/>
                </a:solidFill>
                <a:latin typeface="Consolas"/>
              </a:rPr>
              <a:t>   </a:t>
            </a:r>
            <a:r>
              <a:rPr sz="1000" b="0">
                <a:solidFill>
                  <a:srgbClr val="F2ECF2"/>
                </a:solidFill>
                <a:latin typeface="Consolas"/>
              </a:rPr>
              <a:t>Frame</a:t>
            </a:r>
            <a:r>
              <a:rPr sz="1000">
                <a:solidFill>
                  <a:srgbClr val="F2ECF2"/>
                </a:solidFill>
                <a:latin typeface="Consolas"/>
              </a:rPr>
              <a:t>  Time (s)  X (µm)  Y (µm)</a:t>
            </a:r>
          </a:p>
          <a:p>
            <a:pPr>
              <a:lnSpc>
                <a:spcPct val="100000"/>
              </a:lnSpc>
              <a:spcAft>
                <a:spcPts val="0"/>
              </a:spcAft>
            </a:pPr>
            <a:r>
              <a:rPr sz="1000" b="0">
                <a:solidFill>
                  <a:srgbClr val="F2ECF2"/>
                </a:solidFill>
                <a:latin typeface="Consolas"/>
              </a:rPr>
              <a:t>0      0      0.00  31.585  23.723</a:t>
            </a:r>
          </a:p>
          <a:p>
            <a:pPr>
              <a:lnSpc>
                <a:spcPct val="100000"/>
              </a:lnSpc>
              <a:spcAft>
                <a:spcPts val="0"/>
              </a:spcAft>
            </a:pPr>
            <a:r>
              <a:rPr sz="1000" b="0">
                <a:solidFill>
                  <a:srgbClr val="F2ECF2"/>
                </a:solidFill>
                <a:latin typeface="Consolas"/>
              </a:rPr>
              <a:t>1      1      0.05  31.645  23.493</a:t>
            </a:r>
          </a:p>
          <a:p>
            <a:pPr>
              <a:lnSpc>
                <a:spcPct val="100000"/>
              </a:lnSpc>
              <a:spcAft>
                <a:spcPts val="0"/>
              </a:spcAft>
            </a:pPr>
            <a:r>
              <a:rPr sz="1000" b="0">
                <a:solidFill>
                  <a:srgbClr val="F2ECF2"/>
                </a:solidFill>
                <a:latin typeface="Consolas"/>
              </a:rPr>
              <a:t>2      2      0.10  31.750  23.580</a:t>
            </a:r>
          </a:p>
          <a:p>
            <a:pPr>
              <a:lnSpc>
                <a:spcPct val="100000"/>
              </a:lnSpc>
              <a:spcAft>
                <a:spcPts val="0"/>
              </a:spcAft>
            </a:pPr>
          </a:p>
          <a:p>
            <a:pPr>
              <a:lnSpc>
                <a:spcPct val="100000"/>
              </a:lnSpc>
              <a:spcAft>
                <a:spcPts val="0"/>
              </a:spcAft>
            </a:pPr>
            <a:r>
              <a:rPr sz="1000" i="1">
                <a:solidFill>
                  <a:srgbClr val="BAA7BA"/>
                </a:solidFill>
                <a:latin typeface="Consolas"/>
              </a:rPr>
              <a:t># Two questions to answer yourself:</a:t>
            </a:r>
          </a:p>
          <a:p>
            <a:pPr>
              <a:lnSpc>
                <a:spcPct val="100000"/>
              </a:lnSpc>
              <a:spcAft>
                <a:spcPts val="0"/>
              </a:spcAft>
            </a:pPr>
            <a:r>
              <a:rPr sz="1000" i="1">
                <a:solidFill>
                  <a:srgbClr val="BAA7BA"/>
                </a:solidFill>
                <a:latin typeface="Consolas"/>
              </a:rPr>
              <a:t>#   1. which column is the time axis?</a:t>
            </a:r>
          </a:p>
          <a:p>
            <a:pPr>
              <a:lnSpc>
                <a:spcPct val="100000"/>
              </a:lnSpc>
              <a:spcAft>
                <a:spcPts val="0"/>
              </a:spcAft>
            </a:pPr>
            <a:r>
              <a:rPr sz="1000" i="1">
                <a:solidFill>
                  <a:srgbClr val="BAA7BA"/>
                </a:solidFill>
                <a:latin typeface="Consolas"/>
              </a:rPr>
              <a:t>#   2. does analysis.py use that column?</a:t>
            </a:r>
          </a:p>
        </p:txBody>
      </p:sp>
      <p:sp>
        <p:nvSpPr>
          <p:cNvPr id="12" name="TextBox 11"/>
          <p:cNvSpPr txBox="1"/>
          <p:nvPr/>
        </p:nvSpPr>
        <p:spPr>
          <a:xfrm>
            <a:off x="7854696" y="1554480"/>
            <a:ext cx="3675888" cy="274320"/>
          </a:xfrm>
          <a:prstGeom prst="rect">
            <a:avLst/>
          </a:prstGeom>
          <a:noFill/>
        </p:spPr>
        <p:txBody>
          <a:bodyPr wrap="square" anchor="t" lIns="0" rIns="0" tIns="0" bIns="0">
            <a:spAutoFit/>
          </a:bodyPr>
          <a:lstStyle/>
          <a:p>
            <a:pPr algn="l"/>
            <a:r>
              <a:rPr sz="1050" b="1" i="0">
                <a:solidFill>
                  <a:srgbClr val="006B96"/>
                </a:solidFill>
                <a:latin typeface="Assistant"/>
              </a:rPr>
              <a:t>WHY THIS ORDER MATTERS</a:t>
            </a:r>
          </a:p>
        </p:txBody>
      </p:sp>
      <p:sp>
        <p:nvSpPr>
          <p:cNvPr id="13" name="TextBox 12"/>
          <p:cNvSpPr txBox="1"/>
          <p:nvPr/>
        </p:nvSpPr>
        <p:spPr>
          <a:xfrm>
            <a:off x="7854696" y="1920240"/>
            <a:ext cx="3675888" cy="3383280"/>
          </a:xfrm>
          <a:prstGeom prst="rect">
            <a:avLst/>
          </a:prstGeom>
          <a:noFill/>
        </p:spPr>
        <p:txBody>
          <a:bodyPr wrap="square" anchor="t" lIns="0" rIns="0" tIns="0" bIns="0">
            <a:spAutoFit/>
          </a:bodyPr>
          <a:lstStyle/>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 crash is a decoy. Fixing it takes one line and teaches nothing.</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 real defect survives the fix: the script then runs and reports a plausible wrong number.</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Which column is the time axis? Time (s) — a frame is not a second.</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Does analysis.py use it? Look at the two lines inside diffusion_coefficient.</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Reading the data first is what makes the assistant's answer checkable rather than persuasive.</a:t>
            </a:r>
          </a:p>
        </p:txBody>
      </p:sp>
      <p:sp>
        <p:nvSpPr>
          <p:cNvPr id="14" name="TextBox 13"/>
          <p:cNvSpPr txBox="1"/>
          <p:nvPr/>
        </p:nvSpPr>
        <p:spPr>
          <a:xfrm>
            <a:off x="7854696" y="5074920"/>
            <a:ext cx="3675888" cy="868680"/>
          </a:xfrm>
          <a:prstGeom prst="rect">
            <a:avLst/>
          </a:prstGeom>
          <a:noFill/>
        </p:spPr>
        <p:txBody>
          <a:bodyPr wrap="square" anchor="t" lIns="0" rIns="0" tIns="0" bIns="0">
            <a:spAutoFit/>
          </a:bodyPr>
          <a:lstStyle/>
          <a:p>
            <a:pPr algn="l">
              <a:lnSpc>
                <a:spcPct val="112000"/>
              </a:lnSpc>
            </a:pPr>
            <a:r>
              <a:rPr sz="1150" b="0" i="1">
                <a:solidFill>
                  <a:srgbClr val="5F6B76"/>
                </a:solidFill>
                <a:latin typeface="Assistant"/>
              </a:rPr>
              <a:t>Spend three minutes here. The people who inspect the data first get far more out of the next step.</a:t>
            </a:r>
          </a:p>
        </p:txBody>
      </p:sp>
      <p:sp>
        <p:nvSpPr>
          <p:cNvPr id="15" name="TextBox 14"/>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6" name="TextBox 15"/>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15 / 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HANDS-ON · OBJECTIVE, CONTEXT, CONSTRAINTS</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prompt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ounded Rectangle 6"/>
          <p:cNvSpPr/>
          <p:nvPr/>
        </p:nvSpPr>
        <p:spPr>
          <a:xfrm>
            <a:off x="658368" y="1536192"/>
            <a:ext cx="6903720" cy="4224528"/>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09928"/>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709928"/>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43584" y="1709928"/>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56816"/>
            <a:ext cx="6446520" cy="3657600"/>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Fix</a:t>
            </a:r>
            <a:r>
              <a:rPr sz="1150">
                <a:solidFill>
                  <a:srgbClr val="F2ECF2"/>
                </a:solidFill>
                <a:latin typeface="Consolas"/>
              </a:rPr>
              <a:t> analysis.py so that it reports the diffusion</a:t>
            </a:r>
          </a:p>
          <a:p>
            <a:pPr>
              <a:lnSpc>
                <a:spcPct val="100000"/>
              </a:lnSpc>
              <a:spcAft>
                <a:spcPts val="0"/>
              </a:spcAft>
            </a:pPr>
            <a:r>
              <a:rPr sz="1150" b="0">
                <a:solidFill>
                  <a:srgbClr val="F2ECF2"/>
                </a:solidFill>
                <a:latin typeface="Consolas"/>
              </a:rPr>
              <a:t>coefficient</a:t>
            </a:r>
            <a:r>
              <a:rPr sz="1150">
                <a:solidFill>
                  <a:srgbClr val="F2ECF2"/>
                </a:solidFill>
                <a:latin typeface="Consolas"/>
              </a:rPr>
              <a:t> in µm²/s, using the Time (s) column</a:t>
            </a:r>
          </a:p>
          <a:p>
            <a:pPr>
              <a:lnSpc>
                <a:spcPct val="100000"/>
              </a:lnSpc>
              <a:spcAft>
                <a:spcPts val="0"/>
              </a:spcAft>
            </a:pPr>
            <a:r>
              <a:rPr sz="1150" b="1">
                <a:solidFill>
                  <a:srgbClr val="009DDD"/>
                </a:solidFill>
                <a:latin typeface="Consolas"/>
              </a:rPr>
              <a:t>as</a:t>
            </a:r>
            <a:r>
              <a:rPr sz="1150">
                <a:solidFill>
                  <a:srgbClr val="F2ECF2"/>
                </a:solidFill>
                <a:latin typeface="Consolas"/>
              </a:rPr>
              <a:t> the time axis.</a:t>
            </a:r>
          </a:p>
          <a:p>
            <a:pPr>
              <a:lnSpc>
                <a:spcPct val="100000"/>
              </a:lnSpc>
              <a:spcAft>
                <a:spcPts val="0"/>
              </a:spcAft>
            </a:pPr>
          </a:p>
          <a:p>
            <a:pPr>
              <a:lnSpc>
                <a:spcPct val="100000"/>
              </a:lnSpc>
              <a:spcAft>
                <a:spcPts val="0"/>
              </a:spcAft>
            </a:pPr>
            <a:r>
              <a:rPr sz="1150" b="0">
                <a:solidFill>
                  <a:srgbClr val="F2ECF2"/>
                </a:solidFill>
                <a:latin typeface="Consolas"/>
              </a:rPr>
              <a:t>Context</a:t>
            </a:r>
            <a:r>
              <a:rPr sz="1150">
                <a:solidFill>
                  <a:srgbClr val="F2ECF2"/>
                </a:solidFill>
                <a:latin typeface="Consolas"/>
              </a:rPr>
              <a:t>: bead_trajectory.csv has columns Frame,</a:t>
            </a:r>
          </a:p>
          <a:p>
            <a:pPr>
              <a:lnSpc>
                <a:spcPct val="100000"/>
              </a:lnSpc>
              <a:spcAft>
                <a:spcPts val="0"/>
              </a:spcAft>
            </a:pPr>
            <a:r>
              <a:rPr sz="1150" b="0">
                <a:solidFill>
                  <a:srgbClr val="F2ECF2"/>
                </a:solidFill>
                <a:latin typeface="Consolas"/>
              </a:rPr>
              <a:t>Time</a:t>
            </a:r>
            <a:r>
              <a:rPr sz="1150">
                <a:solidFill>
                  <a:srgbClr val="F2ECF2"/>
                </a:solidFill>
                <a:latin typeface="Consolas"/>
              </a:rPr>
              <a:t> (s), X (µm), Y (µm). Frames are 0.05 s</a:t>
            </a:r>
          </a:p>
          <a:p>
            <a:pPr>
              <a:lnSpc>
                <a:spcPct val="100000"/>
              </a:lnSpc>
              <a:spcAft>
                <a:spcPts val="0"/>
              </a:spcAft>
            </a:pPr>
            <a:r>
              <a:rPr sz="1150" b="0">
                <a:solidFill>
                  <a:srgbClr val="F2ECF2"/>
                </a:solidFill>
                <a:latin typeface="Consolas"/>
              </a:rPr>
              <a:t>apart</a:t>
            </a:r>
            <a:r>
              <a:rPr sz="1150">
                <a:solidFill>
                  <a:srgbClr val="F2ECF2"/>
                </a:solidFill>
                <a:latin typeface="Consolas"/>
              </a:rPr>
              <a:t>; Time (s) is the same thing in seconds.</a:t>
            </a:r>
          </a:p>
          <a:p>
            <a:pPr>
              <a:lnSpc>
                <a:spcPct val="100000"/>
              </a:lnSpc>
              <a:spcAft>
                <a:spcPts val="0"/>
              </a:spcAft>
            </a:pPr>
          </a:p>
          <a:p>
            <a:pPr>
              <a:lnSpc>
                <a:spcPct val="100000"/>
              </a:lnSpc>
              <a:spcAft>
                <a:spcPts val="0"/>
              </a:spcAft>
            </a:pPr>
            <a:r>
              <a:rPr sz="1150" b="0">
                <a:solidFill>
                  <a:srgbClr val="F2ECF2"/>
                </a:solidFill>
                <a:latin typeface="Consolas"/>
              </a:rPr>
              <a:t>Constraints</a:t>
            </a:r>
            <a:r>
              <a:rPr sz="1150">
                <a:solidFill>
                  <a:srgbClr val="F2ECF2"/>
                </a:solidFill>
                <a:latin typeface="Consolas"/>
              </a:rPr>
              <a:t>: keep the function signatures, keep it</a:t>
            </a:r>
          </a:p>
          <a:p>
            <a:pPr>
              <a:lnSpc>
                <a:spcPct val="100000"/>
              </a:lnSpc>
              <a:spcAft>
                <a:spcPts val="0"/>
              </a:spcAft>
            </a:pPr>
            <a:r>
              <a:rPr sz="1150" b="0">
                <a:solidFill>
                  <a:srgbClr val="F2ECF2"/>
                </a:solidFill>
                <a:latin typeface="Consolas"/>
              </a:rPr>
              <a:t>readable</a:t>
            </a:r>
            <a:r>
              <a:rPr sz="1150">
                <a:solidFill>
                  <a:srgbClr val="F2ECF2"/>
                </a:solidFill>
                <a:latin typeface="Consolas"/>
              </a:rPr>
              <a:t>, and explain what was wrong. Do not change</a:t>
            </a:r>
          </a:p>
          <a:p>
            <a:pPr>
              <a:lnSpc>
                <a:spcPct val="100000"/>
              </a:lnSpc>
              <a:spcAft>
                <a:spcPts val="0"/>
              </a:spcAft>
            </a:pPr>
            <a:r>
              <a:rPr sz="1150" b="0">
                <a:solidFill>
                  <a:srgbClr val="F2ECF2"/>
                </a:solidFill>
                <a:latin typeface="Consolas"/>
              </a:rPr>
              <a:t>test_analysis.py.</a:t>
            </a:r>
          </a:p>
        </p:txBody>
      </p:sp>
      <p:sp>
        <p:nvSpPr>
          <p:cNvPr id="12" name="TextBox 11"/>
          <p:cNvSpPr txBox="1"/>
          <p:nvPr/>
        </p:nvSpPr>
        <p:spPr>
          <a:xfrm>
            <a:off x="7854696" y="1554480"/>
            <a:ext cx="3675888" cy="274320"/>
          </a:xfrm>
          <a:prstGeom prst="rect">
            <a:avLst/>
          </a:prstGeom>
          <a:noFill/>
        </p:spPr>
        <p:txBody>
          <a:bodyPr wrap="square" anchor="t" lIns="0" rIns="0" tIns="0" bIns="0">
            <a:spAutoFit/>
          </a:bodyPr>
          <a:lstStyle/>
          <a:p>
            <a:pPr algn="l"/>
            <a:r>
              <a:rPr sz="1050" b="1" i="0">
                <a:solidFill>
                  <a:srgbClr val="006B96"/>
                </a:solidFill>
                <a:latin typeface="Assistant"/>
              </a:rPr>
              <a:t>THE THREE PARTS</a:t>
            </a:r>
          </a:p>
        </p:txBody>
      </p:sp>
      <p:sp>
        <p:nvSpPr>
          <p:cNvPr id="13" name="TextBox 12"/>
          <p:cNvSpPr txBox="1"/>
          <p:nvPr/>
        </p:nvSpPr>
        <p:spPr>
          <a:xfrm>
            <a:off x="7854696" y="1920240"/>
            <a:ext cx="3675888" cy="3383280"/>
          </a:xfrm>
          <a:prstGeom prst="rect">
            <a:avLst/>
          </a:prstGeom>
          <a:noFill/>
        </p:spPr>
        <p:txBody>
          <a:bodyPr wrap="square" anchor="t" lIns="0" rIns="0" tIns="0" bIns="0">
            <a:spAutoFit/>
          </a:bodyPr>
          <a:lstStyle/>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Objective: what to fix, and the unit you want the answer in.</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Context: the columns and what they mean. Two sentences is enough.</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Constraints: signatures, readability, an explanation, and the test left alone.</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“Do not change the test” is the important one — it stops the assistant making the test agree with the bug.</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Write your own version first, then compare with this one. The differences are worth discussing.</a:t>
            </a:r>
          </a:p>
        </p:txBody>
      </p:sp>
      <p:sp>
        <p:nvSpPr>
          <p:cNvPr id="14" name="TextBox 13"/>
          <p:cNvSpPr txBox="1"/>
          <p:nvPr/>
        </p:nvSpPr>
        <p:spPr>
          <a:xfrm>
            <a:off x="7854696" y="5074920"/>
            <a:ext cx="3675888" cy="868680"/>
          </a:xfrm>
          <a:prstGeom prst="rect">
            <a:avLst/>
          </a:prstGeom>
          <a:noFill/>
        </p:spPr>
        <p:txBody>
          <a:bodyPr wrap="square" anchor="t" lIns="0" rIns="0" tIns="0" bIns="0">
            <a:spAutoFit/>
          </a:bodyPr>
          <a:lstStyle/>
          <a:p>
            <a:pPr algn="l">
              <a:lnSpc>
                <a:spcPct val="112000"/>
              </a:lnSpc>
            </a:pPr>
            <a:r>
              <a:rPr sz="1150" b="0" i="1">
                <a:solidFill>
                  <a:srgbClr val="5F6B76"/>
                </a:solidFill>
                <a:latin typeface="Assistant"/>
              </a:rPr>
              <a:t>This is the Part 2 recipe, applied to a real task with a real failing test. Nothing here is special to this exercise.</a:t>
            </a:r>
          </a:p>
        </p:txBody>
      </p:sp>
      <p:sp>
        <p:nvSpPr>
          <p:cNvPr id="15" name="TextBox 14"/>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6" name="TextBox 15"/>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16 / 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HANDS-ON · THE PART THAT MAKES IT SCIENCE</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Step 3: verify, then break it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1000"/>
              </a:spcAft>
            </a:pPr>
            <a:r>
              <a:rPr sz="900">
                <a:solidFill>
                  <a:srgbClr val="009DDD"/>
                </a:solidFill>
                <a:latin typeface="Assistant"/>
              </a:rPr>
              <a:t>●  </a:t>
            </a:r>
            <a:r>
              <a:rPr sz="1400">
                <a:solidFill>
                  <a:srgbClr val="333333"/>
                </a:solidFill>
                <a:latin typeface="Assistant"/>
              </a:rPr>
              <a:t>Run pytest. The fixed version reports 0.4905 µm²/s: Stokes-Einstein for a 1 µm bead, and inside the test's 0.49 ± 0.05.</a:t>
            </a:r>
          </a:p>
          <a:p>
            <a:pPr>
              <a:lnSpc>
                <a:spcPct val="97000"/>
              </a:lnSpc>
              <a:spcAft>
                <a:spcPts val="1000"/>
              </a:spcAft>
            </a:pPr>
            <a:r>
              <a:rPr sz="900">
                <a:solidFill>
                  <a:srgbClr val="009DDD"/>
                </a:solidFill>
                <a:latin typeface="Assistant"/>
              </a:rPr>
              <a:t>●  </a:t>
            </a:r>
            <a:r>
              <a:rPr sz="1400">
                <a:solidFill>
                  <a:srgbClr val="333333"/>
                </a:solidFill>
                <a:latin typeface="Assistant"/>
              </a:rPr>
              <a:t>Now put the bug back — fit against the frame number again. The test must fail. If it does not, your test is decoration.</a:t>
            </a:r>
          </a:p>
          <a:p>
            <a:pPr>
              <a:lnSpc>
                <a:spcPct val="97000"/>
              </a:lnSpc>
              <a:spcAft>
                <a:spcPts val="1000"/>
              </a:spcAft>
            </a:pPr>
            <a:r>
              <a:rPr sz="900">
                <a:solidFill>
                  <a:srgbClr val="009DDD"/>
                </a:solidFill>
                <a:latin typeface="Assistant"/>
              </a:rPr>
              <a:t>●  </a:t>
            </a:r>
            <a:r>
              <a:rPr sz="1400">
                <a:solidFill>
                  <a:srgbClr val="333333"/>
                </a:solidFill>
                <a:latin typeface="Assistant"/>
              </a:rPr>
              <a:t>Ask for the diff, not the new file, and read every line before you accept it.</a:t>
            </a:r>
          </a:p>
          <a:p>
            <a:pPr>
              <a:lnSpc>
                <a:spcPct val="97000"/>
              </a:lnSpc>
              <a:spcAft>
                <a:spcPts val="1000"/>
              </a:spcAft>
            </a:pPr>
            <a:r>
              <a:rPr sz="900">
                <a:solidFill>
                  <a:srgbClr val="009DDD"/>
                </a:solidFill>
                <a:latin typeface="Assistant"/>
              </a:rPr>
              <a:t>●  </a:t>
            </a:r>
            <a:r>
              <a:rPr sz="1400">
                <a:solidFill>
                  <a:srgbClr val="333333"/>
                </a:solidFill>
                <a:latin typeface="Assistant"/>
              </a:rPr>
              <a:t>Commit the test and the code together. That 0.49 is now your stored expected value, and it will guard this result for years.</a:t>
            </a:r>
          </a:p>
          <a:p>
            <a:pPr>
              <a:lnSpc>
                <a:spcPct val="97000"/>
              </a:lnSpc>
              <a:spcAft>
                <a:spcPts val="1000"/>
              </a:spcAft>
            </a:pPr>
            <a:r>
              <a:rPr sz="900">
                <a:solidFill>
                  <a:srgbClr val="009DDD"/>
                </a:solidFill>
                <a:latin typeface="Assistant"/>
              </a:rPr>
              <a:t>●  </a:t>
            </a:r>
            <a:r>
              <a:rPr sz="1400">
                <a:solidFill>
                  <a:srgbClr val="333333"/>
                </a:solidFill>
                <a:latin typeface="Assistant"/>
              </a:rPr>
              <a:t>Two traps: multiplying the frame slope by 20 is right for the wrong reason, and dividing by 2 instead of 4 is the 1D formula.</a:t>
            </a:r>
          </a:p>
          <a:p>
            <a:pPr>
              <a:lnSpc>
                <a:spcPct val="97000"/>
              </a:lnSpc>
              <a:spcAft>
                <a:spcPts val="1000"/>
              </a:spcAft>
            </a:pPr>
            <a:r>
              <a:rPr sz="900">
                <a:solidFill>
                  <a:srgbClr val="009DDD"/>
                </a:solidFill>
                <a:latin typeface="Assistant"/>
              </a:rPr>
              <a:t>●  </a:t>
            </a:r>
            <a:r>
              <a:rPr sz="1400">
                <a:solidFill>
                  <a:srgbClr val="333333"/>
                </a:solidFill>
                <a:latin typeface="Assistant"/>
              </a:rPr>
              <a:t>Keep the prompt beside the code. Future you will want to know how that number was produced.</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17 / 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HANDS-ON · TWO MINUTES, OUT LOUD</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Debrief: what did the assistant get wrong?</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ounded Rectangle 6"/>
          <p:cNvSpPr/>
          <p:nvPr/>
        </p:nvSpPr>
        <p:spPr>
          <a:xfrm>
            <a:off x="658368"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The decoy</a:t>
            </a:r>
          </a:p>
        </p:txBody>
      </p:sp>
      <p:sp>
        <p:nvSpPr>
          <p:cNvPr id="10" name="TextBox 9"/>
          <p:cNvSpPr txBox="1"/>
          <p:nvPr/>
        </p:nvSpPr>
        <p:spPr>
          <a:xfrm>
            <a:off x="859536"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Most assistants fix the path immediately and stop.</a:t>
            </a:r>
          </a:p>
          <a:p>
            <a:pPr>
              <a:lnSpc>
                <a:spcPct val="96000"/>
              </a:lnSpc>
              <a:spcAft>
                <a:spcPts val="400"/>
              </a:spcAft>
            </a:pPr>
            <a:r>
              <a:rPr sz="900">
                <a:solidFill>
                  <a:srgbClr val="009DDD"/>
                </a:solidFill>
                <a:latin typeface="Assistant"/>
              </a:rPr>
              <a:t>–  </a:t>
            </a:r>
            <a:r>
              <a:rPr sz="1200">
                <a:solidFill>
                  <a:srgbClr val="5F6B76"/>
                </a:solidFill>
                <a:latin typeface="Assistant"/>
              </a:rPr>
              <a:t>Did it ever mention the time axis unprompted?</a:t>
            </a:r>
          </a:p>
        </p:txBody>
      </p:sp>
      <p:sp>
        <p:nvSpPr>
          <p:cNvPr id="11" name="Rounded Rectangle 10"/>
          <p:cNvSpPr/>
          <p:nvPr/>
        </p:nvSpPr>
        <p:spPr>
          <a:xfrm>
            <a:off x="4355592"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5592"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The explanation</a:t>
            </a:r>
          </a:p>
        </p:txBody>
      </p:sp>
      <p:sp>
        <p:nvSpPr>
          <p:cNvPr id="14" name="TextBox 13"/>
          <p:cNvSpPr txBox="1"/>
          <p:nvPr/>
        </p:nvSpPr>
        <p:spPr>
          <a:xfrm>
            <a:off x="4556760"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Did it explain before editing?</a:t>
            </a:r>
          </a:p>
          <a:p>
            <a:pPr>
              <a:lnSpc>
                <a:spcPct val="96000"/>
              </a:lnSpc>
              <a:spcAft>
                <a:spcPts val="400"/>
              </a:spcAft>
            </a:pPr>
            <a:r>
              <a:rPr sz="900">
                <a:solidFill>
                  <a:srgbClr val="009DDD"/>
                </a:solidFill>
                <a:latin typeface="Assistant"/>
              </a:rPr>
              <a:t>–  </a:t>
            </a:r>
            <a:r>
              <a:rPr sz="1200">
                <a:solidFill>
                  <a:srgbClr val="5F6B76"/>
                </a:solidFill>
                <a:latin typeface="Assistant"/>
              </a:rPr>
              <a:t>If it did, was the explanation actually correct?</a:t>
            </a:r>
          </a:p>
        </p:txBody>
      </p:sp>
      <p:sp>
        <p:nvSpPr>
          <p:cNvPr id="15" name="Rounded Rectangle 14"/>
          <p:cNvSpPr/>
          <p:nvPr/>
        </p:nvSpPr>
        <p:spPr>
          <a:xfrm>
            <a:off x="8052816"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4"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Frames or seconds</a:t>
            </a:r>
          </a:p>
        </p:txBody>
      </p:sp>
      <p:sp>
        <p:nvSpPr>
          <p:cNvPr id="18" name="TextBox 17"/>
          <p:cNvSpPr txBox="1"/>
          <p:nvPr/>
        </p:nvSpPr>
        <p:spPr>
          <a:xfrm>
            <a:off x="8253984"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Fitting against Frame gives 0.0245 µm²/s.</a:t>
            </a:r>
          </a:p>
          <a:p>
            <a:pPr>
              <a:lnSpc>
                <a:spcPct val="96000"/>
              </a:lnSpc>
              <a:spcAft>
                <a:spcPts val="400"/>
              </a:spcAft>
            </a:pPr>
            <a:r>
              <a:rPr sz="900">
                <a:solidFill>
                  <a:srgbClr val="009DDD"/>
                </a:solidFill>
                <a:latin typeface="Assistant"/>
              </a:rPr>
              <a:t>–  </a:t>
            </a:r>
            <a:r>
              <a:rPr sz="1200">
                <a:solidFill>
                  <a:srgbClr val="5F6B76"/>
                </a:solidFill>
                <a:latin typeface="Assistant"/>
              </a:rPr>
              <a:t>The unit is µm² per frame, and nothing complains.</a:t>
            </a:r>
          </a:p>
        </p:txBody>
      </p:sp>
      <p:sp>
        <p:nvSpPr>
          <p:cNvPr id="19" name="Rounded Rectangle 18"/>
          <p:cNvSpPr/>
          <p:nvPr/>
        </p:nvSpPr>
        <p:spPr>
          <a:xfrm>
            <a:off x="658368"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Right answer, wrong reason</a:t>
            </a:r>
          </a:p>
        </p:txBody>
      </p:sp>
      <p:sp>
        <p:nvSpPr>
          <p:cNvPr id="22" name="TextBox 21"/>
          <p:cNvSpPr txBox="1"/>
          <p:nvPr/>
        </p:nvSpPr>
        <p:spPr>
          <a:xfrm>
            <a:off x="859536"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Multiplying that slope by 20 passes this test.</a:t>
            </a:r>
          </a:p>
          <a:p>
            <a:pPr>
              <a:lnSpc>
                <a:spcPct val="96000"/>
              </a:lnSpc>
              <a:spcAft>
                <a:spcPts val="400"/>
              </a:spcAft>
            </a:pPr>
            <a:r>
              <a:rPr sz="900">
                <a:solidFill>
                  <a:srgbClr val="009DDD"/>
                </a:solidFill>
                <a:latin typeface="Assistant"/>
              </a:rPr>
              <a:t>–  </a:t>
            </a:r>
            <a:r>
              <a:rPr sz="1200">
                <a:solidFill>
                  <a:srgbClr val="5F6B76"/>
                </a:solidFill>
                <a:latin typeface="Assistant"/>
              </a:rPr>
              <a:t>It breaks the moment someone drops a frame.</a:t>
            </a:r>
          </a:p>
        </p:txBody>
      </p:sp>
      <p:sp>
        <p:nvSpPr>
          <p:cNvPr id="23" name="Rounded Rectangle 22"/>
          <p:cNvSpPr/>
          <p:nvPr/>
        </p:nvSpPr>
        <p:spPr>
          <a:xfrm>
            <a:off x="4355592"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55592"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6760"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The test that mattered</a:t>
            </a:r>
          </a:p>
        </p:txBody>
      </p:sp>
      <p:sp>
        <p:nvSpPr>
          <p:cNvPr id="26" name="TextBox 25"/>
          <p:cNvSpPr txBox="1"/>
          <p:nvPr/>
        </p:nvSpPr>
        <p:spPr>
          <a:xfrm>
            <a:off x="4556760"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The linearity test passes either way. Only the</a:t>
            </a:r>
          </a:p>
          <a:p>
            <a:pPr>
              <a:lnSpc>
                <a:spcPct val="96000"/>
              </a:lnSpc>
              <a:spcAft>
                <a:spcPts val="400"/>
              </a:spcAft>
            </a:pPr>
            <a:r>
              <a:rPr sz="900">
                <a:solidFill>
                  <a:srgbClr val="009DDD"/>
                </a:solidFill>
                <a:latin typeface="Assistant"/>
              </a:rPr>
              <a:t>–  </a:t>
            </a:r>
            <a:r>
              <a:rPr sz="1200">
                <a:solidFill>
                  <a:srgbClr val="5F6B76"/>
                </a:solidFill>
                <a:latin typeface="Assistant"/>
              </a:rPr>
              <a:t>stored value could catch a unit error.</a:t>
            </a:r>
          </a:p>
        </p:txBody>
      </p:sp>
      <p:sp>
        <p:nvSpPr>
          <p:cNvPr id="27" name="Rounded Rectangle 26"/>
          <p:cNvSpPr/>
          <p:nvPr/>
        </p:nvSpPr>
        <p:spPr>
          <a:xfrm>
            <a:off x="8052816"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3984"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Next week</a:t>
            </a:r>
          </a:p>
        </p:txBody>
      </p:sp>
      <p:sp>
        <p:nvSpPr>
          <p:cNvPr id="30" name="TextBox 29"/>
          <p:cNvSpPr txBox="1"/>
          <p:nvPr/>
        </p:nvSpPr>
        <p:spPr>
          <a:xfrm>
            <a:off x="8253984"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What is the one thing you will do differently?</a:t>
            </a:r>
          </a:p>
          <a:p>
            <a:pPr>
              <a:lnSpc>
                <a:spcPct val="96000"/>
              </a:lnSpc>
              <a:spcAft>
                <a:spcPts val="400"/>
              </a:spcAft>
            </a:pPr>
            <a:r>
              <a:rPr sz="900">
                <a:solidFill>
                  <a:srgbClr val="009DDD"/>
                </a:solidFill>
                <a:latin typeface="Assistant"/>
              </a:rPr>
              <a:t>–  </a:t>
            </a:r>
            <a:r>
              <a:rPr sz="1200">
                <a:solidFill>
                  <a:srgbClr val="5F6B76"/>
                </a:solidFill>
                <a:latin typeface="Assistant"/>
              </a:rPr>
              <a:t>Take one answer, out loud, before you move on.</a:t>
            </a:r>
          </a:p>
        </p:txBody>
      </p:sp>
      <p:sp>
        <p:nvSpPr>
          <p:cNvPr id="31" name="TextBox 3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32" name="TextBox 3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18 /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3 · THE RISK THAT TESTS CANNOT CATCH</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risk that is not in the code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900"/>
              </a:spcAft>
            </a:pPr>
            <a:r>
              <a:rPr sz="850">
                <a:solidFill>
                  <a:srgbClr val="009DDD"/>
                </a:solidFill>
                <a:latin typeface="Assistant"/>
              </a:rPr>
              <a:t>●  </a:t>
            </a:r>
            <a:r>
              <a:rPr sz="1350">
                <a:solidFill>
                  <a:srgbClr val="333333"/>
                </a:solidFill>
                <a:latin typeface="Assistant"/>
              </a:rPr>
              <a:t>Everything so far keeps the code honest. None of it keeps the analysis honest.</a:t>
            </a:r>
          </a:p>
          <a:p>
            <a:pPr>
              <a:lnSpc>
                <a:spcPct val="97000"/>
              </a:lnSpc>
              <a:spcAft>
                <a:spcPts val="900"/>
              </a:spcAft>
            </a:pPr>
            <a:r>
              <a:rPr sz="850">
                <a:solidFill>
                  <a:srgbClr val="009DDD"/>
                </a:solidFill>
                <a:latin typeface="Assistant"/>
              </a:rPr>
              <a:t>●  </a:t>
            </a:r>
            <a:r>
              <a:rPr sz="1350">
                <a:solidFill>
                  <a:srgbClr val="333333"/>
                </a:solidFill>
                <a:latin typeface="Assistant"/>
              </a:rPr>
              <a:t>Software reproducibility asks: does it run, and does it give the same numbers?</a:t>
            </a:r>
          </a:p>
          <a:p>
            <a:pPr>
              <a:lnSpc>
                <a:spcPct val="97000"/>
              </a:lnSpc>
              <a:spcAft>
                <a:spcPts val="900"/>
              </a:spcAft>
            </a:pPr>
            <a:r>
              <a:rPr sz="850">
                <a:solidFill>
                  <a:srgbClr val="009DDD"/>
                </a:solidFill>
                <a:latin typeface="Assistant"/>
              </a:rPr>
              <a:t>●  </a:t>
            </a:r>
            <a:r>
              <a:rPr sz="1350">
                <a:solidFill>
                  <a:srgbClr val="333333"/>
                </a:solidFill>
                <a:latin typeface="Assistant"/>
              </a:rPr>
              <a:t>Analytical reproducibility asks: is this the analysis you said you would do?</a:t>
            </a:r>
          </a:p>
          <a:p>
            <a:pPr>
              <a:lnSpc>
                <a:spcPct val="97000"/>
              </a:lnSpc>
              <a:spcAft>
                <a:spcPts val="900"/>
              </a:spcAft>
            </a:pPr>
            <a:r>
              <a:rPr sz="850">
                <a:solidFill>
                  <a:srgbClr val="009DDD"/>
                </a:solidFill>
                <a:latin typeface="Assistant"/>
              </a:rPr>
              <a:t>●  </a:t>
            </a:r>
            <a:r>
              <a:rPr sz="1350">
                <a:solidFill>
                  <a:srgbClr val="333333"/>
                </a:solidFill>
                <a:latin typeface="Assistant"/>
              </a:rPr>
              <a:t>Generating a hundred model specifications used to cost a week. With an assistant it costs an afternoon.</a:t>
            </a:r>
          </a:p>
          <a:p>
            <a:pPr>
              <a:lnSpc>
                <a:spcPct val="97000"/>
              </a:lnSpc>
              <a:spcAft>
                <a:spcPts val="900"/>
              </a:spcAft>
            </a:pPr>
            <a:r>
              <a:rPr sz="850">
                <a:solidFill>
                  <a:srgbClr val="009DDD"/>
                </a:solidFill>
                <a:latin typeface="Assistant"/>
              </a:rPr>
              <a:t>●  </a:t>
            </a:r>
            <a:r>
              <a:rPr sz="1350">
                <a:solidFill>
                  <a:srgbClr val="333333"/>
                </a:solidFill>
                <a:latin typeface="Assistant"/>
              </a:rPr>
              <a:t>So the failure mode changes. It is rarely a wrong line of code. It is a defensible-looking choice, made because it produced the result you wanted.</a:t>
            </a:r>
          </a:p>
          <a:p>
            <a:pPr>
              <a:lnSpc>
                <a:spcPct val="97000"/>
              </a:lnSpc>
              <a:spcAft>
                <a:spcPts val="900"/>
              </a:spcAft>
            </a:pPr>
            <a:r>
              <a:rPr sz="850">
                <a:solidFill>
                  <a:srgbClr val="009DDD"/>
                </a:solidFill>
                <a:latin typeface="Assistant"/>
              </a:rPr>
              <a:t>●  </a:t>
            </a:r>
            <a:r>
              <a:rPr sz="1350">
                <a:solidFill>
                  <a:srgbClr val="333333"/>
                </a:solidFill>
                <a:latin typeface="Assistant"/>
              </a:rPr>
              <a:t>Your test suite cannot catch it: every specification you tried passed its tests.</a:t>
            </a:r>
          </a:p>
          <a:p>
            <a:pPr>
              <a:lnSpc>
                <a:spcPct val="97000"/>
              </a:lnSpc>
              <a:spcAft>
                <a:spcPts val="900"/>
              </a:spcAft>
            </a:pPr>
            <a:r>
              <a:rPr sz="850">
                <a:solidFill>
                  <a:srgbClr val="009DDD"/>
                </a:solidFill>
                <a:latin typeface="Assistant"/>
              </a:rPr>
              <a:t>●  </a:t>
            </a:r>
            <a:r>
              <a:rPr sz="1350">
                <a:solidFill>
                  <a:srgbClr val="333333"/>
                </a:solidFill>
                <a:latin typeface="Assistant"/>
              </a:rPr>
              <a:t>The fix is procedural, not technical: decide the analysis before you look, and keep a log of every specification you tried — including the ones you rejected.</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19 / 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3 · ETHICS</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Six ethical failure modes, and the practical version of each</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Rounded Rectangle 6"/>
          <p:cNvSpPr/>
          <p:nvPr/>
        </p:nvSpPr>
        <p:spPr>
          <a:xfrm>
            <a:off x="658368"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Bias</a:t>
            </a:r>
          </a:p>
        </p:txBody>
      </p:sp>
      <p:sp>
        <p:nvSpPr>
          <p:cNvPr id="10" name="TextBox 9"/>
          <p:cNvSpPr txBox="1"/>
          <p:nvPr/>
        </p:nvSpPr>
        <p:spPr>
          <a:xfrm>
            <a:off x="859536"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Training data encodes who is missing</a:t>
            </a:r>
          </a:p>
          <a:p>
            <a:pPr>
              <a:lnSpc>
                <a:spcPct val="96000"/>
              </a:lnSpc>
              <a:spcAft>
                <a:spcPts val="400"/>
              </a:spcAft>
            </a:pPr>
            <a:r>
              <a:rPr sz="900">
                <a:solidFill>
                  <a:srgbClr val="009DDD"/>
                </a:solidFill>
                <a:latin typeface="Assistant"/>
              </a:rPr>
              <a:t>–  </a:t>
            </a:r>
            <a:r>
              <a:rPr sz="1200">
                <a:solidFill>
                  <a:srgbClr val="5F6B76"/>
                </a:solidFill>
                <a:latin typeface="Assistant"/>
              </a:rPr>
              <a:t>Practical: compare output against the population you actually study</a:t>
            </a:r>
          </a:p>
        </p:txBody>
      </p:sp>
      <p:sp>
        <p:nvSpPr>
          <p:cNvPr id="11" name="Rounded Rectangle 10"/>
          <p:cNvSpPr/>
          <p:nvPr/>
        </p:nvSpPr>
        <p:spPr>
          <a:xfrm>
            <a:off x="4355592"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5592"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Error rates</a:t>
            </a:r>
          </a:p>
        </p:txBody>
      </p:sp>
      <p:sp>
        <p:nvSpPr>
          <p:cNvPr id="14" name="TextBox 13"/>
          <p:cNvSpPr txBox="1"/>
          <p:nvPr/>
        </p:nvSpPr>
        <p:spPr>
          <a:xfrm>
            <a:off x="4556760"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Random and systematic errors, at scale</a:t>
            </a:r>
          </a:p>
          <a:p>
            <a:pPr>
              <a:lnSpc>
                <a:spcPct val="96000"/>
              </a:lnSpc>
              <a:spcAft>
                <a:spcPts val="400"/>
              </a:spcAft>
            </a:pPr>
            <a:r>
              <a:rPr sz="900">
                <a:solidFill>
                  <a:srgbClr val="009DDD"/>
                </a:solidFill>
                <a:latin typeface="Assistant"/>
              </a:rPr>
              <a:t>–  </a:t>
            </a:r>
            <a:r>
              <a:rPr sz="1200">
                <a:solidFill>
                  <a:srgbClr val="5F6B76"/>
                </a:solidFill>
                <a:latin typeface="Assistant"/>
              </a:rPr>
              <a:t>Practical: assume the base rate applies to your next suggestion</a:t>
            </a:r>
          </a:p>
        </p:txBody>
      </p:sp>
      <p:sp>
        <p:nvSpPr>
          <p:cNvPr id="15" name="Rounded Rectangle 14"/>
          <p:cNvSpPr/>
          <p:nvPr/>
        </p:nvSpPr>
        <p:spPr>
          <a:xfrm>
            <a:off x="8052816"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4"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Transparency</a:t>
            </a:r>
          </a:p>
        </p:txBody>
      </p:sp>
      <p:sp>
        <p:nvSpPr>
          <p:cNvPr id="18" name="TextBox 17"/>
          <p:cNvSpPr txBox="1"/>
          <p:nvPr/>
        </p:nvSpPr>
        <p:spPr>
          <a:xfrm>
            <a:off x="8253984"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The rationale is a black box</a:t>
            </a:r>
          </a:p>
          <a:p>
            <a:pPr>
              <a:lnSpc>
                <a:spcPct val="96000"/>
              </a:lnSpc>
              <a:spcAft>
                <a:spcPts val="400"/>
              </a:spcAft>
            </a:pPr>
            <a:r>
              <a:rPr sz="900">
                <a:solidFill>
                  <a:srgbClr val="009DDD"/>
                </a:solidFill>
                <a:latin typeface="Assistant"/>
              </a:rPr>
              <a:t>–  </a:t>
            </a:r>
            <a:r>
              <a:rPr sz="1200">
                <a:solidFill>
                  <a:srgbClr val="5F6B76"/>
                </a:solidFill>
                <a:latin typeface="Assistant"/>
              </a:rPr>
              <a:t>Practical: you cannot defend a line you cannot explain</a:t>
            </a:r>
          </a:p>
        </p:txBody>
      </p:sp>
      <p:sp>
        <p:nvSpPr>
          <p:cNvPr id="19" name="Rounded Rectangle 18"/>
          <p:cNvSpPr/>
          <p:nvPr/>
        </p:nvSpPr>
        <p:spPr>
          <a:xfrm>
            <a:off x="658368"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Privacy</a:t>
            </a:r>
          </a:p>
        </p:txBody>
      </p:sp>
      <p:sp>
        <p:nvSpPr>
          <p:cNvPr id="22" name="TextBox 21"/>
          <p:cNvSpPr txBox="1"/>
          <p:nvPr/>
        </p:nvSpPr>
        <p:spPr>
          <a:xfrm>
            <a:off x="859536"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Many assistants retain your input</a:t>
            </a:r>
          </a:p>
          <a:p>
            <a:pPr>
              <a:lnSpc>
                <a:spcPct val="96000"/>
              </a:lnSpc>
              <a:spcAft>
                <a:spcPts val="400"/>
              </a:spcAft>
            </a:pPr>
            <a:r>
              <a:rPr sz="900">
                <a:solidFill>
                  <a:srgbClr val="009DDD"/>
                </a:solidFill>
                <a:latin typeface="Assistant"/>
              </a:rPr>
              <a:t>–  </a:t>
            </a:r>
            <a:r>
              <a:rPr sz="1200">
                <a:solidFill>
                  <a:srgbClr val="5F6B76"/>
                </a:solidFill>
                <a:latin typeface="Assistant"/>
              </a:rPr>
              <a:t>Practical: know the retention policy before you paste</a:t>
            </a:r>
          </a:p>
        </p:txBody>
      </p:sp>
      <p:sp>
        <p:nvSpPr>
          <p:cNvPr id="23" name="Rounded Rectangle 22"/>
          <p:cNvSpPr/>
          <p:nvPr/>
        </p:nvSpPr>
        <p:spPr>
          <a:xfrm>
            <a:off x="4355592"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55592"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6760"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Authorship</a:t>
            </a:r>
          </a:p>
        </p:txBody>
      </p:sp>
      <p:sp>
        <p:nvSpPr>
          <p:cNvPr id="26" name="TextBox 25"/>
          <p:cNvSpPr txBox="1"/>
          <p:nvPr/>
        </p:nvSpPr>
        <p:spPr>
          <a:xfrm>
            <a:off x="4556760"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Ownership of generated code is unsettled</a:t>
            </a:r>
          </a:p>
          <a:p>
            <a:pPr>
              <a:lnSpc>
                <a:spcPct val="96000"/>
              </a:lnSpc>
              <a:spcAft>
                <a:spcPts val="400"/>
              </a:spcAft>
            </a:pPr>
            <a:r>
              <a:rPr sz="900">
                <a:solidFill>
                  <a:srgbClr val="009DDD"/>
                </a:solidFill>
                <a:latin typeface="Assistant"/>
              </a:rPr>
              <a:t>–  </a:t>
            </a:r>
            <a:r>
              <a:rPr sz="1200">
                <a:solidFill>
                  <a:srgbClr val="5F6B76"/>
                </a:solidFill>
                <a:latin typeface="Assistant"/>
              </a:rPr>
              <a:t>Practical: check your journal and funder policy</a:t>
            </a:r>
          </a:p>
        </p:txBody>
      </p:sp>
      <p:sp>
        <p:nvSpPr>
          <p:cNvPr id="27" name="Rounded Rectangle 26"/>
          <p:cNvSpPr/>
          <p:nvPr/>
        </p:nvSpPr>
        <p:spPr>
          <a:xfrm>
            <a:off x="8052816"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3984"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Accountability</a:t>
            </a:r>
          </a:p>
        </p:txBody>
      </p:sp>
      <p:sp>
        <p:nvSpPr>
          <p:cNvPr id="30" name="TextBox 29"/>
          <p:cNvSpPr txBox="1"/>
          <p:nvPr/>
        </p:nvSpPr>
        <p:spPr>
          <a:xfrm>
            <a:off x="8253984"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No assistant signs your paper</a:t>
            </a:r>
          </a:p>
          <a:p>
            <a:pPr>
              <a:lnSpc>
                <a:spcPct val="96000"/>
              </a:lnSpc>
              <a:spcAft>
                <a:spcPts val="400"/>
              </a:spcAft>
            </a:pPr>
            <a:r>
              <a:rPr sz="900">
                <a:solidFill>
                  <a:srgbClr val="009DDD"/>
                </a:solidFill>
                <a:latin typeface="Assistant"/>
              </a:rPr>
              <a:t>–  </a:t>
            </a:r>
            <a:r>
              <a:rPr sz="1200">
                <a:solidFill>
                  <a:srgbClr val="5F6B76"/>
                </a:solidFill>
                <a:latin typeface="Assistant"/>
              </a:rPr>
              <a:t>Practical: you are the author of record for every committed line</a:t>
            </a:r>
          </a:p>
        </p:txBody>
      </p:sp>
      <p:sp>
        <p:nvSpPr>
          <p:cNvPr id="31" name="TextBox 3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32" name="TextBox 3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20 / 41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3 · SECURITY</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Security and protecting your data</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DEEP DIVE</a:t>
            </a:r>
          </a:p>
        </p:txBody>
      </p:sp>
      <p:sp>
        <p:nvSpPr>
          <p:cNvPr id="7" name="TextBox 6"/>
          <p:cNvSpPr txBox="1"/>
          <p:nvPr/>
        </p:nvSpPr>
        <p:spPr>
          <a:xfrm>
            <a:off x="658368" y="1536192"/>
            <a:ext cx="10872216" cy="4023360"/>
          </a:xfrm>
          <a:prstGeom prst="rect">
            <a:avLst/>
          </a:prstGeom>
          <a:noFill/>
        </p:spPr>
        <p:txBody>
          <a:bodyPr wrap="square" anchor="t" lIns="0" rIns="0" tIns="0" bIns="0">
            <a:spAutoFit/>
          </a:bodyPr>
          <a:lstStyle/>
          <a:p>
            <a:pPr>
              <a:lnSpc>
                <a:spcPct val="97000"/>
              </a:lnSpc>
              <a:spcAft>
                <a:spcPts val="800"/>
              </a:spcAft>
            </a:pPr>
            <a:r>
              <a:rPr sz="800">
                <a:solidFill>
                  <a:srgbClr val="009DDD"/>
                </a:solidFill>
                <a:latin typeface="Assistant"/>
              </a:rPr>
              <a:t>●  </a:t>
            </a:r>
            <a:r>
              <a:rPr sz="1300">
                <a:solidFill>
                  <a:srgbClr val="333333"/>
                </a:solidFill>
                <a:latin typeface="Assistant"/>
              </a:rPr>
              <a:t>A Stanford study found that users relying on assistants wrote less secure code — while being more confident that it was secure.</a:t>
            </a:r>
          </a:p>
          <a:p>
            <a:pPr>
              <a:lnSpc>
                <a:spcPct val="97000"/>
              </a:lnSpc>
              <a:spcAft>
                <a:spcPts val="800"/>
              </a:spcAft>
            </a:pPr>
            <a:r>
              <a:rPr sz="800">
                <a:solidFill>
                  <a:srgbClr val="009DDD"/>
                </a:solidFill>
                <a:latin typeface="Assistant"/>
              </a:rPr>
              <a:t>●  </a:t>
            </a:r>
            <a:r>
              <a:rPr sz="1300">
                <a:solidFill>
                  <a:srgbClr val="333333"/>
                </a:solidFill>
                <a:latin typeface="Assistant"/>
              </a:rPr>
              <a:t>Insecure suggestions: the models learn from insecure code too. Unsanitised input becomes injection; a missing check becomes an exploit.</a:t>
            </a:r>
          </a:p>
          <a:p>
            <a:pPr>
              <a:lnSpc>
                <a:spcPct val="97000"/>
              </a:lnSpc>
              <a:spcAft>
                <a:spcPts val="800"/>
              </a:spcAft>
            </a:pPr>
            <a:r>
              <a:rPr sz="800">
                <a:solidFill>
                  <a:srgbClr val="009DDD"/>
                </a:solidFill>
                <a:latin typeface="Assistant"/>
              </a:rPr>
              <a:t>●  </a:t>
            </a:r>
            <a:r>
              <a:rPr sz="1300">
                <a:solidFill>
                  <a:srgbClr val="333333"/>
                </a:solidFill>
                <a:latin typeface="Assistant"/>
              </a:rPr>
              <a:t>Data exposure: your proprietary code or participant data, processed on someone else's servers. Many assistants retain what you send them.</a:t>
            </a:r>
          </a:p>
          <a:p>
            <a:pPr>
              <a:lnSpc>
                <a:spcPct val="97000"/>
              </a:lnSpc>
              <a:spcAft>
                <a:spcPts val="800"/>
              </a:spcAft>
            </a:pPr>
            <a:r>
              <a:rPr sz="800">
                <a:solidFill>
                  <a:srgbClr val="009DDD"/>
                </a:solidFill>
                <a:latin typeface="Assistant"/>
              </a:rPr>
              <a:t>●  </a:t>
            </a:r>
            <a:r>
              <a:rPr sz="1300">
                <a:solidFill>
                  <a:srgbClr val="333333"/>
                </a:solidFill>
                <a:latin typeface="Assistant"/>
              </a:rPr>
              <a:t>Hallucinated and outdated APIs, and suggested dependencies that may be unmaintained or vulnerable next week.</a:t>
            </a:r>
          </a:p>
          <a:p>
            <a:pPr>
              <a:lnSpc>
                <a:spcPct val="97000"/>
              </a:lnSpc>
              <a:spcAft>
                <a:spcPts val="800"/>
              </a:spcAft>
            </a:pPr>
            <a:r>
              <a:rPr sz="800">
                <a:solidFill>
                  <a:srgbClr val="009DDD"/>
                </a:solidFill>
                <a:latin typeface="Assistant"/>
              </a:rPr>
              <a:t>●  </a:t>
            </a:r>
            <a:r>
              <a:rPr sz="1300">
                <a:solidFill>
                  <a:srgbClr val="333333"/>
                </a:solidFill>
                <a:latin typeface="Assistant"/>
              </a:rPr>
              <a:t>Classify before you choose the tool: what may leave your machine, and what may never leave it?</a:t>
            </a:r>
          </a:p>
          <a:p>
            <a:pPr>
              <a:lnSpc>
                <a:spcPct val="97000"/>
              </a:lnSpc>
              <a:spcAft>
                <a:spcPts val="800"/>
              </a:spcAft>
            </a:pPr>
            <a:r>
              <a:rPr sz="800">
                <a:solidFill>
                  <a:srgbClr val="009DDD"/>
                </a:solidFill>
                <a:latin typeface="Assistant"/>
              </a:rPr>
              <a:t>●  </a:t>
            </a:r>
            <a:r>
              <a:rPr sz="1300">
                <a:solidFill>
                  <a:srgbClr val="333333"/>
                </a:solidFill>
                <a:latin typeface="Assistant"/>
              </a:rPr>
              <a:t>Never paste credentials, API keys, participant data or anything under an ethics agreement. For sensitive work, prefer a local or offline model.</a:t>
            </a:r>
          </a:p>
          <a:p>
            <a:pPr>
              <a:lnSpc>
                <a:spcPct val="97000"/>
              </a:lnSpc>
              <a:spcAft>
                <a:spcPts val="800"/>
              </a:spcAft>
            </a:pPr>
            <a:r>
              <a:rPr sz="800">
                <a:solidFill>
                  <a:srgbClr val="009DDD"/>
                </a:solidFill>
                <a:latin typeface="Assistant"/>
              </a:rPr>
              <a:t>●  </a:t>
            </a:r>
            <a:r>
              <a:rPr sz="1300">
                <a:solidFill>
                  <a:srgbClr val="333333"/>
                </a:solidFill>
                <a:latin typeface="Assistant"/>
              </a:rPr>
              <a:t>Guardrails: review every diff, run scanners (Snyk, SonarQube) in CI, encrypt, restrict access, and check your tool's retention policy.</a:t>
            </a:r>
          </a:p>
        </p:txBody>
      </p:sp>
      <p:sp>
        <p:nvSpPr>
          <p:cNvPr id="8" name="Rounded Rectangle 7"/>
          <p:cNvSpPr/>
          <p:nvPr/>
        </p:nvSpPr>
        <p:spPr>
          <a:xfrm>
            <a:off x="658368" y="5742432"/>
            <a:ext cx="10872216" cy="493776"/>
          </a:xfrm>
          <a:prstGeom prst="roundRect">
            <a:avLst>
              <a:gd name="adj" fmla="val 50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5879592"/>
            <a:ext cx="1234440" cy="256032"/>
          </a:xfrm>
          <a:prstGeom prst="rect">
            <a:avLst/>
          </a:prstGeom>
          <a:noFill/>
        </p:spPr>
        <p:txBody>
          <a:bodyPr wrap="square" anchor="t" lIns="0" rIns="0" tIns="0" bIns="0">
            <a:spAutoFit/>
          </a:bodyPr>
          <a:lstStyle/>
          <a:p>
            <a:pPr algn="l"/>
            <a:r>
              <a:rPr sz="950" b="1" i="0">
                <a:solidFill>
                  <a:srgbClr val="9A6600"/>
                </a:solidFill>
                <a:latin typeface="Assistant"/>
              </a:rPr>
              <a:t>ASK THE ROOM</a:t>
            </a:r>
          </a:p>
        </p:txBody>
      </p:sp>
      <p:sp>
        <p:nvSpPr>
          <p:cNvPr id="10" name="TextBox 9"/>
          <p:cNvSpPr txBox="1"/>
          <p:nvPr/>
        </p:nvSpPr>
        <p:spPr>
          <a:xfrm>
            <a:off x="2231136" y="5843016"/>
            <a:ext cx="8951976" cy="310896"/>
          </a:xfrm>
          <a:prstGeom prst="rect">
            <a:avLst/>
          </a:prstGeom>
          <a:noFill/>
        </p:spPr>
        <p:txBody>
          <a:bodyPr wrap="square" anchor="t" lIns="0" rIns="0" tIns="0" bIns="0">
            <a:spAutoFit/>
          </a:bodyPr>
          <a:lstStyle/>
          <a:p>
            <a:pPr algn="l"/>
            <a:r>
              <a:rPr sz="1250" b="0" i="0">
                <a:solidFill>
                  <a:srgbClr val="333333"/>
                </a:solidFill>
                <a:latin typeface="Assistant"/>
              </a:rPr>
              <a:t>Which of these could your project absorb without anyone noticing? That one is your priority.</a:t>
            </a:r>
          </a:p>
        </p:txBody>
      </p:sp>
      <p:sp>
        <p:nvSpPr>
          <p:cNvPr id="11" name="TextBox 1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2" name="TextBox 1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21 / 41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3 · THE BRIDGE BACK TO PART 1</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Every risk has a practice behind it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graphicFrame>
        <p:nvGraphicFramePr>
          <p:cNvPr id="7" name="Table 6"/>
          <p:cNvGraphicFramePr>
            <a:graphicFrameLocks noGrp="1"/>
          </p:cNvGraphicFramePr>
          <p:nvPr/>
        </p:nvGraphicFramePr>
        <p:xfrm>
          <a:off x="978408" y="1673352"/>
          <a:ext cx="10232135" cy="4114800"/>
        </p:xfrm>
        <a:graphic>
          <a:graphicData uri="http://schemas.openxmlformats.org/drawingml/2006/table">
            <a:tbl>
              <a:tblPr firstRow="1" bandRow="1">
                <a:tableStyleId>{5C22544A-7EE6-4342-B048-85BDC9FD1C3A}</a:tableStyleId>
              </a:tblPr>
              <a:tblGrid>
                <a:gridCol w="2135402"/>
                <a:gridCol w="3914904"/>
                <a:gridCol w="4181829"/>
              </a:tblGrid>
              <a:tr h="587828">
                <a:tc>
                  <a:txBody>
                    <a:bodyPr wrap="square"/>
                    <a:lstStyle/>
                    <a:p>
                      <a:pPr>
                        <a:lnSpc>
                          <a:spcPct val="95000"/>
                        </a:lnSpc>
                      </a:pPr>
                      <a:r>
                        <a:rPr sz="1200" b="1">
                          <a:solidFill>
                            <a:srgbClr val="FFFFFF"/>
                          </a:solidFill>
                          <a:latin typeface="Assistant"/>
                        </a:rPr>
                        <a:t>Risk</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How it bites you</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The practice that fixes it</a:t>
                      </a:r>
                    </a:p>
                  </a:txBody>
                  <a:tcPr marL="91440" marR="91440" marT="45720" marB="45720" anchor="ctr">
                    <a:solidFill>
                      <a:srgbClr val="006B96"/>
                    </a:solidFill>
                  </a:tcPr>
                </a:tc>
              </a:tr>
              <a:tr h="587828">
                <a:tc>
                  <a:txBody>
                    <a:bodyPr wrap="square"/>
                    <a:lstStyle/>
                    <a:p>
                      <a:pPr>
                        <a:lnSpc>
                          <a:spcPct val="95000"/>
                        </a:lnSpc>
                      </a:pPr>
                      <a:r>
                        <a:rPr sz="1150">
                          <a:solidFill>
                            <a:srgbClr val="333333"/>
                          </a:solidFill>
                          <a:latin typeface="Assistant"/>
                        </a:rPr>
                        <a:t>Non-deterministic output</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You cannot regenerate last month's analysis</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Commit the code; record the model, version and prompt</a:t>
                      </a:r>
                    </a:p>
                  </a:txBody>
                  <a:tcPr marL="91440" marR="91440" marT="45720" marB="45720" anchor="ctr">
                    <a:solidFill>
                      <a:srgbClr val="FFFFFF"/>
                    </a:solidFill>
                  </a:tcPr>
                </a:tc>
              </a:tr>
              <a:tr h="587828">
                <a:tc>
                  <a:txBody>
                    <a:bodyPr wrap="square"/>
                    <a:lstStyle/>
                    <a:p>
                      <a:pPr>
                        <a:lnSpc>
                          <a:spcPct val="95000"/>
                        </a:lnSpc>
                      </a:pPr>
                      <a:r>
                        <a:rPr sz="1150">
                          <a:solidFill>
                            <a:srgbClr val="333333"/>
                          </a:solidFill>
                          <a:latin typeface="Assistant"/>
                        </a:rPr>
                        <a:t>Silent behavioural drift</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A tidy refactor quietly changes the numbers</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Tests with stored expected values, plus an equivalence assert</a:t>
                      </a:r>
                    </a:p>
                  </a:txBody>
                  <a:tcPr marL="91440" marR="91440" marT="45720" marB="45720" anchor="ctr">
                    <a:solidFill>
                      <a:srgbClr val="EEF3F9"/>
                    </a:solidFill>
                  </a:tcPr>
                </a:tc>
              </a:tr>
              <a:tr h="587828">
                <a:tc>
                  <a:txBody>
                    <a:bodyPr wrap="square"/>
                    <a:lstStyle/>
                    <a:p>
                      <a:pPr>
                        <a:lnSpc>
                          <a:spcPct val="95000"/>
                        </a:lnSpc>
                      </a:pPr>
                      <a:r>
                        <a:rPr sz="1150">
                          <a:solidFill>
                            <a:srgbClr val="333333"/>
                          </a:solidFill>
                          <a:latin typeface="Assistant"/>
                        </a:rPr>
                        <a:t>Environment drift</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It works today, but not on the reviewer's machine</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Pinned dependencies, a lock file, and CI on every push</a:t>
                      </a:r>
                    </a:p>
                  </a:txBody>
                  <a:tcPr marL="91440" marR="91440" marT="45720" marB="45720" anchor="ctr">
                    <a:solidFill>
                      <a:srgbClr val="FFFFFF"/>
                    </a:solidFill>
                  </a:tcPr>
                </a:tc>
              </a:tr>
              <a:tr h="587828">
                <a:tc>
                  <a:txBody>
                    <a:bodyPr wrap="square"/>
                    <a:lstStyle/>
                    <a:p>
                      <a:pPr>
                        <a:lnSpc>
                          <a:spcPct val="95000"/>
                        </a:lnSpc>
                      </a:pPr>
                      <a:r>
                        <a:rPr sz="1150">
                          <a:solidFill>
                            <a:srgbClr val="333333"/>
                          </a:solidFill>
                          <a:latin typeface="Assistant"/>
                        </a:rPr>
                        <a:t>Lost provenance</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Nobody can tell what was generated versus written</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Small commits with meaningful messages; prompts kept in-repo</a:t>
                      </a:r>
                    </a:p>
                  </a:txBody>
                  <a:tcPr marL="91440" marR="91440" marT="45720" marB="45720" anchor="ctr">
                    <a:solidFill>
                      <a:srgbClr val="EEF3F9"/>
                    </a:solidFill>
                  </a:tcPr>
                </a:tc>
              </a:tr>
              <a:tr h="587828">
                <a:tc>
                  <a:txBody>
                    <a:bodyPr wrap="square"/>
                    <a:lstStyle/>
                    <a:p>
                      <a:pPr>
                        <a:lnSpc>
                          <a:spcPct val="95000"/>
                        </a:lnSpc>
                      </a:pPr>
                      <a:r>
                        <a:rPr sz="1150">
                          <a:solidFill>
                            <a:srgbClr val="333333"/>
                          </a:solidFill>
                          <a:latin typeface="Assistant"/>
                        </a:rPr>
                        <a:t>Over-trust</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Less secure, less understood code, held more confidently</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Read every diff, run scanners, keep a second pair of eyes</a:t>
                      </a:r>
                    </a:p>
                  </a:txBody>
                  <a:tcPr marL="91440" marR="91440" marT="45720" marB="45720" anchor="ctr">
                    <a:solidFill>
                      <a:srgbClr val="FFFFFF"/>
                    </a:solidFill>
                  </a:tcPr>
                </a:tc>
              </a:tr>
              <a:tr h="587832">
                <a:tc>
                  <a:txBody>
                    <a:bodyPr wrap="square"/>
                    <a:lstStyle/>
                    <a:p>
                      <a:pPr>
                        <a:lnSpc>
                          <a:spcPct val="95000"/>
                        </a:lnSpc>
                      </a:pPr>
                      <a:r>
                        <a:rPr sz="1150">
                          <a:solidFill>
                            <a:srgbClr val="333333"/>
                          </a:solidFill>
                          <a:latin typeface="Assistant"/>
                        </a:rPr>
                        <a:t>Analytical drift</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A defensible choice made because it gave the answer you wanted</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Decide the analysis before you look, and log what you tried</a:t>
                      </a:r>
                    </a:p>
                  </a:txBody>
                  <a:tcPr marL="91440" marR="91440" marT="45720" marB="45720" anchor="ctr">
                    <a:solidFill>
                      <a:srgbClr val="EEF3F9"/>
                    </a:solidFill>
                  </a:tcPr>
                </a:tc>
              </a:tr>
            </a:tbl>
          </a:graphicData>
        </a:graphic>
      </p:graphicFrame>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22 / 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PART 3 · USE THIS IN THE PULL REQUEST</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A review checklist for AI-assisted changes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graphicFrame>
        <p:nvGraphicFramePr>
          <p:cNvPr id="7" name="Table 6"/>
          <p:cNvGraphicFramePr>
            <a:graphicFrameLocks noGrp="1"/>
          </p:cNvGraphicFramePr>
          <p:nvPr/>
        </p:nvGraphicFramePr>
        <p:xfrm>
          <a:off x="978408" y="1673352"/>
          <a:ext cx="10232135" cy="4297680"/>
        </p:xfrm>
        <a:graphic>
          <a:graphicData uri="http://schemas.openxmlformats.org/drawingml/2006/table">
            <a:tbl>
              <a:tblPr firstRow="1" bandRow="1">
                <a:tableStyleId>{5C22544A-7EE6-4342-B048-85BDC9FD1C3A}</a:tableStyleId>
              </a:tblPr>
              <a:tblGrid>
                <a:gridCol w="5516455"/>
                <a:gridCol w="4715680"/>
              </a:tblGrid>
              <a:tr h="477520">
                <a:tc>
                  <a:txBody>
                    <a:bodyPr wrap="square"/>
                    <a:lstStyle/>
                    <a:p>
                      <a:pPr>
                        <a:lnSpc>
                          <a:spcPct val="95000"/>
                        </a:lnSpc>
                      </a:pPr>
                      <a:r>
                        <a:rPr sz="1200" b="1">
                          <a:solidFill>
                            <a:srgbClr val="FFFFFF"/>
                          </a:solidFill>
                          <a:latin typeface="Assistant"/>
                        </a:rPr>
                        <a:t>Question to ask of the diff</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Why it matters</a:t>
                      </a:r>
                    </a:p>
                  </a:txBody>
                  <a:tcPr marL="91440" marR="91440" marT="45720" marB="45720" anchor="ctr">
                    <a:solidFill>
                      <a:srgbClr val="006B96"/>
                    </a:solidFill>
                  </a:tcPr>
                </a:tc>
              </a:tr>
              <a:tr h="477520">
                <a:tc>
                  <a:txBody>
                    <a:bodyPr wrap="square"/>
                    <a:lstStyle/>
                    <a:p>
                      <a:pPr>
                        <a:lnSpc>
                          <a:spcPct val="95000"/>
                        </a:lnSpc>
                      </a:pPr>
                      <a:r>
                        <a:rPr sz="1100">
                          <a:solidFill>
                            <a:srgbClr val="333333"/>
                          </a:solidFill>
                          <a:latin typeface="Assistant"/>
                        </a:rPr>
                        <a:t>Does it do exactly what I asked, and nothing else?</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Scope creep is the most common assistant failure mode</a:t>
                      </a:r>
                    </a:p>
                  </a:txBody>
                  <a:tcPr marL="91440" marR="91440" marT="45720" marB="45720" anchor="ctr">
                    <a:solidFill>
                      <a:srgbClr val="FFFFFF"/>
                    </a:solidFill>
                  </a:tcPr>
                </a:tc>
              </a:tr>
              <a:tr h="477520">
                <a:tc>
                  <a:txBody>
                    <a:bodyPr wrap="square"/>
                    <a:lstStyle/>
                    <a:p>
                      <a:pPr>
                        <a:lnSpc>
                          <a:spcPct val="95000"/>
                        </a:lnSpc>
                      </a:pPr>
                      <a:r>
                        <a:rPr sz="1100">
                          <a:solidFill>
                            <a:srgbClr val="333333"/>
                          </a:solidFill>
                          <a:latin typeface="Assistant"/>
                        </a:rPr>
                        <a:t>Do I understand every line?</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You cannot defend code you cannot explain</a:t>
                      </a:r>
                    </a:p>
                  </a:txBody>
                  <a:tcPr marL="91440" marR="91440" marT="45720" marB="45720" anchor="ctr">
                    <a:solidFill>
                      <a:srgbClr val="EEF3F9"/>
                    </a:solidFill>
                  </a:tcPr>
                </a:tc>
              </a:tr>
              <a:tr h="477520">
                <a:tc>
                  <a:txBody>
                    <a:bodyPr wrap="square"/>
                    <a:lstStyle/>
                    <a:p>
                      <a:pPr>
                        <a:lnSpc>
                          <a:spcPct val="95000"/>
                        </a:lnSpc>
                      </a:pPr>
                      <a:r>
                        <a:rPr sz="1100">
                          <a:solidFill>
                            <a:srgbClr val="333333"/>
                          </a:solidFill>
                          <a:latin typeface="Assistant"/>
                        </a:rPr>
                        <a:t>Do the tests still pass, and did I add one for the new behaviour?</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A green suite that never covered the change proves nothing</a:t>
                      </a:r>
                    </a:p>
                  </a:txBody>
                  <a:tcPr marL="91440" marR="91440" marT="45720" marB="45720" anchor="ctr">
                    <a:solidFill>
                      <a:srgbClr val="FFFFFF"/>
                    </a:solidFill>
                  </a:tcPr>
                </a:tc>
              </a:tr>
              <a:tr h="477520">
                <a:tc>
                  <a:txBody>
                    <a:bodyPr wrap="square"/>
                    <a:lstStyle/>
                    <a:p>
                      <a:pPr>
                        <a:lnSpc>
                          <a:spcPct val="95000"/>
                        </a:lnSpc>
                      </a:pPr>
                      <a:r>
                        <a:rPr sz="1100">
                          <a:solidFill>
                            <a:srgbClr val="333333"/>
                          </a:solidFill>
                          <a:latin typeface="Assistant"/>
                        </a:rPr>
                        <a:t>Is there an obvious security issue — input validation, secrets, SQL, shell?</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Models are trained on insecure code as well as secure code</a:t>
                      </a:r>
                    </a:p>
                  </a:txBody>
                  <a:tcPr marL="91440" marR="91440" marT="45720" marB="45720" anchor="ctr">
                    <a:solidFill>
                      <a:srgbClr val="EEF3F9"/>
                    </a:solidFill>
                  </a:tcPr>
                </a:tc>
              </a:tr>
              <a:tr h="477520">
                <a:tc>
                  <a:txBody>
                    <a:bodyPr wrap="square"/>
                    <a:lstStyle/>
                    <a:p>
                      <a:pPr>
                        <a:lnSpc>
                          <a:spcPct val="95000"/>
                        </a:lnSpc>
                      </a:pPr>
                      <a:r>
                        <a:rPr sz="1100">
                          <a:solidFill>
                            <a:srgbClr val="333333"/>
                          </a:solidFill>
                          <a:latin typeface="Assistant"/>
                        </a:rPr>
                        <a:t>Are new dependencies pinned, current, and appropriately licensed?</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A suggested package can be unmaintained, vulnerable, or badly licensed</a:t>
                      </a:r>
                    </a:p>
                  </a:txBody>
                  <a:tcPr marL="91440" marR="91440" marT="45720" marB="45720" anchor="ctr">
                    <a:solidFill>
                      <a:srgbClr val="FFFFFF"/>
                    </a:solidFill>
                  </a:tcPr>
                </a:tc>
              </a:tr>
              <a:tr h="477520">
                <a:tc>
                  <a:txBody>
                    <a:bodyPr wrap="square"/>
                    <a:lstStyle/>
                    <a:p>
                      <a:pPr>
                        <a:lnSpc>
                          <a:spcPct val="95000"/>
                        </a:lnSpc>
                      </a:pPr>
                      <a:r>
                        <a:rPr sz="1100">
                          <a:solidFill>
                            <a:srgbClr val="333333"/>
                          </a:solidFill>
                          <a:latin typeface="Assistant"/>
                        </a:rPr>
                        <a:t>Did I decide the analysis before I looked at the result?</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Otherwise the result chose the analysis</a:t>
                      </a:r>
                    </a:p>
                  </a:txBody>
                  <a:tcPr marL="91440" marR="91440" marT="45720" marB="45720" anchor="ctr">
                    <a:solidFill>
                      <a:srgbClr val="EEF3F9"/>
                    </a:solidFill>
                  </a:tcPr>
                </a:tc>
              </a:tr>
              <a:tr h="477520">
                <a:tc>
                  <a:txBody>
                    <a:bodyPr wrap="square"/>
                    <a:lstStyle/>
                    <a:p>
                      <a:pPr>
                        <a:lnSpc>
                          <a:spcPct val="95000"/>
                        </a:lnSpc>
                      </a:pPr>
                      <a:r>
                        <a:rPr sz="1100">
                          <a:solidFill>
                            <a:srgbClr val="333333"/>
                          </a:solidFill>
                          <a:latin typeface="Assistant"/>
                        </a:rPr>
                        <a:t>Have I recorded the model, version and prompt?</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Without it, the change is not reproducible</a:t>
                      </a:r>
                    </a:p>
                  </a:txBody>
                  <a:tcPr marL="91440" marR="91440" marT="45720" marB="45720" anchor="ctr">
                    <a:solidFill>
                      <a:srgbClr val="FFFFFF"/>
                    </a:solidFill>
                  </a:tcPr>
                </a:tc>
              </a:tr>
              <a:tr h="477520">
                <a:tc>
                  <a:txBody>
                    <a:bodyPr wrap="square"/>
                    <a:lstStyle/>
                    <a:p>
                      <a:pPr>
                        <a:lnSpc>
                          <a:spcPct val="95000"/>
                        </a:lnSpc>
                      </a:pPr>
                      <a:r>
                        <a:rPr sz="1100">
                          <a:solidFill>
                            <a:srgbClr val="333333"/>
                          </a:solidFill>
                          <a:latin typeface="Assistant"/>
                        </a:rPr>
                        <a:t>Would I be comfortable if this diff were shown in review?</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The simplest and most reliable test there is</a:t>
                      </a:r>
                    </a:p>
                  </a:txBody>
                  <a:tcPr marL="91440" marR="91440" marT="45720" marB="45720" anchor="ctr">
                    <a:solidFill>
                      <a:srgbClr val="EEF3F9"/>
                    </a:solidFill>
                  </a:tcPr>
                </a:tc>
              </a:tr>
            </a:tbl>
          </a:graphicData>
        </a:graphic>
      </p:graphicFrame>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23 / 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WRAP-UP · THE ONE SLIDE TO HAND OUT</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reproducible vibe-coding checklist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graphicFrame>
        <p:nvGraphicFramePr>
          <p:cNvPr id="7" name="Table 6"/>
          <p:cNvGraphicFramePr>
            <a:graphicFrameLocks noGrp="1"/>
          </p:cNvGraphicFramePr>
          <p:nvPr/>
        </p:nvGraphicFramePr>
        <p:xfrm>
          <a:off x="978408" y="1673352"/>
          <a:ext cx="10232136" cy="4251960"/>
        </p:xfrm>
        <a:graphic>
          <a:graphicData uri="http://schemas.openxmlformats.org/drawingml/2006/table">
            <a:tbl>
              <a:tblPr firstRow="1" bandRow="1">
                <a:tableStyleId>{5C22544A-7EE6-4342-B048-85BDC9FD1C3A}</a:tableStyleId>
              </a:tblPr>
              <a:tblGrid>
                <a:gridCol w="3410712"/>
                <a:gridCol w="3410712"/>
                <a:gridCol w="3410712"/>
              </a:tblGrid>
              <a:tr h="607422">
                <a:tc>
                  <a:txBody>
                    <a:bodyPr wrap="square"/>
                    <a:lstStyle/>
                    <a:p>
                      <a:pPr>
                        <a:lnSpc>
                          <a:spcPct val="95000"/>
                        </a:lnSpc>
                      </a:pPr>
                      <a:r>
                        <a:rPr sz="1200" b="1">
                          <a:solidFill>
                            <a:srgbClr val="FFFFFF"/>
                          </a:solidFill>
                          <a:latin typeface="Assistant"/>
                        </a:rPr>
                        <a:t>Before you prompt</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While you code</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Before you commit</a:t>
                      </a:r>
                    </a:p>
                  </a:txBody>
                  <a:tcPr marL="91440" marR="91440" marT="45720" marB="45720" anchor="ctr">
                    <a:solidFill>
                      <a:srgbClr val="006B96"/>
                    </a:solidFill>
                  </a:tcPr>
                </a:tc>
              </a:tr>
              <a:tr h="607422">
                <a:tc>
                  <a:txBody>
                    <a:bodyPr wrap="square"/>
                    <a:lstStyle/>
                    <a:p>
                      <a:pPr>
                        <a:lnSpc>
                          <a:spcPct val="95000"/>
                        </a:lnSpc>
                      </a:pPr>
                      <a:r>
                        <a:rPr sz="1100">
                          <a:solidFill>
                            <a:srgbClr val="333333"/>
                          </a:solidFill>
                          <a:latin typeface="Assistant"/>
                        </a:rPr>
                        <a:t>Git repository with a README</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Prompt with objective, context and constraints</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Run the full test suite</a:t>
                      </a:r>
                    </a:p>
                  </a:txBody>
                  <a:tcPr marL="91440" marR="91440" marT="45720" marB="45720" anchor="ctr">
                    <a:solidFill>
                      <a:srgbClr val="FFFFFF"/>
                    </a:solidFill>
                  </a:tcPr>
                </a:tc>
              </a:tr>
              <a:tr h="607422">
                <a:tc>
                  <a:txBody>
                    <a:bodyPr wrap="square"/>
                    <a:lstStyle/>
                    <a:p>
                      <a:pPr>
                        <a:lnSpc>
                          <a:spcPct val="95000"/>
                        </a:lnSpc>
                      </a:pPr>
                      <a:r>
                        <a:rPr sz="1100">
                          <a:solidFill>
                            <a:srgbClr val="333333"/>
                          </a:solidFill>
                          <a:latin typeface="Assistant"/>
                        </a:rPr>
                        <a:t>Pinned environment and lock file</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Generate tests and docstrings, not just code</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Read every diff line by line</a:t>
                      </a:r>
                    </a:p>
                  </a:txBody>
                  <a:tcPr marL="91440" marR="91440" marT="45720" marB="45720" anchor="ctr">
                    <a:solidFill>
                      <a:srgbClr val="EEF3F9"/>
                    </a:solidFill>
                  </a:tcPr>
                </a:tc>
              </a:tr>
              <a:tr h="607422">
                <a:tc>
                  <a:txBody>
                    <a:bodyPr wrap="square"/>
                    <a:lstStyle/>
                    <a:p>
                      <a:pPr>
                        <a:lnSpc>
                          <a:spcPct val="95000"/>
                        </a:lnSpc>
                      </a:pPr>
                      <a:r>
                        <a:rPr sz="1100">
                          <a:solidFill>
                            <a:srgbClr val="333333"/>
                          </a:solidFill>
                          <a:latin typeface="Assistant"/>
                        </a:rPr>
                        <a:t>Function and module boundaries decided</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Prove refactors equivalent before accepting them</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Record model, version and prompt used</a:t>
                      </a:r>
                    </a:p>
                  </a:txBody>
                  <a:tcPr marL="91440" marR="91440" marT="45720" marB="45720" anchor="ctr">
                    <a:solidFill>
                      <a:srgbClr val="FFFFFF"/>
                    </a:solidFill>
                  </a:tcPr>
                </a:tc>
              </a:tr>
              <a:tr h="607422">
                <a:tc>
                  <a:txBody>
                    <a:bodyPr wrap="square"/>
                    <a:lstStyle/>
                    <a:p>
                      <a:pPr>
                        <a:lnSpc>
                          <a:spcPct val="95000"/>
                        </a:lnSpc>
                      </a:pPr>
                      <a:r>
                        <a:rPr sz="1100">
                          <a:solidFill>
                            <a:srgbClr val="333333"/>
                          </a:solidFill>
                          <a:latin typeface="Assistant"/>
                        </a:rPr>
                        <a:t>A decision on data sensitivity and tool choice</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Never paste secrets or sensitive data</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Commit in small, meaningful steps</a:t>
                      </a:r>
                    </a:p>
                  </a:txBody>
                  <a:tcPr marL="91440" marR="91440" marT="45720" marB="45720" anchor="ctr">
                    <a:solidFill>
                      <a:srgbClr val="EEF3F9"/>
                    </a:solidFill>
                  </a:tcPr>
                </a:tc>
              </a:tr>
              <a:tr h="607422">
                <a:tc>
                  <a:txBody>
                    <a:bodyPr wrap="square"/>
                    <a:lstStyle/>
                    <a:p>
                      <a:pPr>
                        <a:lnSpc>
                          <a:spcPct val="95000"/>
                        </a:lnSpc>
                      </a:pPr>
                      <a:r>
                        <a:rPr sz="1100">
                          <a:solidFill>
                            <a:srgbClr val="333333"/>
                          </a:solidFill>
                          <a:latin typeface="Assistant"/>
                        </a:rPr>
                        <a:t>The expected result written down</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Ask the assistant to explain what you did not write</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Push, and let CI verify it independently</a:t>
                      </a:r>
                    </a:p>
                  </a:txBody>
                  <a:tcPr marL="91440" marR="91440" marT="45720" marB="45720" anchor="ctr">
                    <a:solidFill>
                      <a:srgbClr val="FFFFFF"/>
                    </a:solidFill>
                  </a:tcPr>
                </a:tc>
              </a:tr>
              <a:tr h="607428">
                <a:tc>
                  <a:txBody>
                    <a:bodyPr wrap="square"/>
                    <a:lstStyle/>
                    <a:p>
                      <a:pPr>
                        <a:lnSpc>
                          <a:spcPct val="95000"/>
                        </a:lnSpc>
                      </a:pPr>
                      <a:r>
                        <a:rPr sz="1100">
                          <a:solidFill>
                            <a:srgbClr val="333333"/>
                          </a:solidFill>
                          <a:latin typeface="Assistant"/>
                        </a:rPr>
                        <a:t>One test that would fail if the result changed</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Keep the prompt beside the code</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Open a pull request, however small</a:t>
                      </a:r>
                    </a:p>
                  </a:txBody>
                  <a:tcPr marL="91440" marR="91440" marT="45720" marB="45720" anchor="ctr">
                    <a:solidFill>
                      <a:srgbClr val="EEF3F9"/>
                    </a:solidFill>
                  </a:tcPr>
                </a:tc>
              </a:tr>
            </a:tbl>
          </a:graphicData>
        </a:graphic>
      </p:graphicFrame>
      <p:sp>
        <p:nvSpPr>
          <p:cNvPr id="8" name="Rounded Rectangle 7"/>
          <p:cNvSpPr/>
          <p:nvPr/>
        </p:nvSpPr>
        <p:spPr>
          <a:xfrm>
            <a:off x="658368" y="5742432"/>
            <a:ext cx="10872216" cy="493776"/>
          </a:xfrm>
          <a:prstGeom prst="roundRect">
            <a:avLst>
              <a:gd name="adj" fmla="val 50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5879592"/>
            <a:ext cx="1234440" cy="256032"/>
          </a:xfrm>
          <a:prstGeom prst="rect">
            <a:avLst/>
          </a:prstGeom>
          <a:noFill/>
        </p:spPr>
        <p:txBody>
          <a:bodyPr wrap="square" anchor="t" lIns="0" rIns="0" tIns="0" bIns="0">
            <a:spAutoFit/>
          </a:bodyPr>
          <a:lstStyle/>
          <a:p>
            <a:pPr algn="l"/>
            <a:r>
              <a:rPr sz="950" b="1" i="0">
                <a:solidFill>
                  <a:srgbClr val="9A6600"/>
                </a:solidFill>
                <a:latin typeface="Assistant"/>
              </a:rPr>
              <a:t>ASK THE ROOM</a:t>
            </a:r>
          </a:p>
        </p:txBody>
      </p:sp>
      <p:sp>
        <p:nvSpPr>
          <p:cNvPr id="10" name="TextBox 9"/>
          <p:cNvSpPr txBox="1"/>
          <p:nvPr/>
        </p:nvSpPr>
        <p:spPr>
          <a:xfrm>
            <a:off x="2231136" y="5843016"/>
            <a:ext cx="8951976" cy="310896"/>
          </a:xfrm>
          <a:prstGeom prst="rect">
            <a:avLst/>
          </a:prstGeom>
          <a:noFill/>
        </p:spPr>
        <p:txBody>
          <a:bodyPr wrap="square" anchor="t" lIns="0" rIns="0" tIns="0" bIns="0">
            <a:spAutoFit/>
          </a:bodyPr>
          <a:lstStyle/>
          <a:p>
            <a:pPr algn="l"/>
            <a:r>
              <a:rPr sz="1250" b="0" i="0">
                <a:solidFill>
                  <a:srgbClr val="333333"/>
                </a:solidFill>
                <a:latin typeface="Assistant"/>
              </a:rPr>
              <a:t>Pick one row and say it out loud. That is the row you are committing to this week — one is enough.</a:t>
            </a:r>
          </a:p>
        </p:txBody>
      </p:sp>
      <p:sp>
        <p:nvSpPr>
          <p:cNvPr id="11" name="TextBox 1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2" name="TextBox 1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24 / 41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WRAP-UP · DO NOT TRY ALL OF THIS ON MONDAY</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An adoption plan that survives a real workload</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DEEP DIVE</a:t>
            </a:r>
          </a:p>
        </p:txBody>
      </p:sp>
      <p:sp>
        <p:nvSpPr>
          <p:cNvPr id="7" name="Rounded Rectangle 6"/>
          <p:cNvSpPr/>
          <p:nvPr/>
        </p:nvSpPr>
        <p:spPr>
          <a:xfrm>
            <a:off x="658368" y="1536192"/>
            <a:ext cx="3477768" cy="4773168"/>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Day one</a:t>
            </a:r>
          </a:p>
        </p:txBody>
      </p:sp>
      <p:sp>
        <p:nvSpPr>
          <p:cNvPr id="10" name="TextBox 9"/>
          <p:cNvSpPr txBox="1"/>
          <p:nvPr/>
        </p:nvSpPr>
        <p:spPr>
          <a:xfrm>
            <a:off x="859536" y="2084832"/>
            <a:ext cx="3075432" cy="4078224"/>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git init and a README, even if it is four lines.</a:t>
            </a:r>
          </a:p>
          <a:p>
            <a:pPr>
              <a:lnSpc>
                <a:spcPct val="96000"/>
              </a:lnSpc>
              <a:spcAft>
                <a:spcPts val="400"/>
              </a:spcAft>
            </a:pPr>
            <a:r>
              <a:rPr sz="900">
                <a:solidFill>
                  <a:srgbClr val="009DDD"/>
                </a:solidFill>
                <a:latin typeface="Assistant"/>
              </a:rPr>
              <a:t>–  </a:t>
            </a:r>
            <a:r>
              <a:rPr sz="1200">
                <a:solidFill>
                  <a:srgbClr val="5F6B76"/>
                </a:solidFill>
                <a:latin typeface="Assistant"/>
              </a:rPr>
              <a:t>Split your current script into two named functions.</a:t>
            </a:r>
          </a:p>
          <a:p>
            <a:pPr>
              <a:lnSpc>
                <a:spcPct val="96000"/>
              </a:lnSpc>
              <a:spcAft>
                <a:spcPts val="400"/>
              </a:spcAft>
            </a:pPr>
            <a:r>
              <a:rPr sz="900">
                <a:solidFill>
                  <a:srgbClr val="009DDD"/>
                </a:solidFill>
                <a:latin typeface="Assistant"/>
              </a:rPr>
              <a:t>–  </a:t>
            </a:r>
            <a:r>
              <a:rPr sz="1200">
                <a:solidFill>
                  <a:srgbClr val="5F6B76"/>
                </a:solidFill>
                <a:latin typeface="Assistant"/>
              </a:rPr>
              <a:t>Write one test with a stored expected value.</a:t>
            </a:r>
          </a:p>
          <a:p>
            <a:pPr>
              <a:lnSpc>
                <a:spcPct val="96000"/>
              </a:lnSpc>
              <a:spcAft>
                <a:spcPts val="400"/>
              </a:spcAft>
            </a:pPr>
            <a:r>
              <a:rPr sz="900">
                <a:solidFill>
                  <a:srgbClr val="009DDD"/>
                </a:solidFill>
                <a:latin typeface="Assistant"/>
              </a:rPr>
              <a:t>–  </a:t>
            </a:r>
            <a:r>
              <a:rPr sz="1200">
                <a:solidFill>
                  <a:srgbClr val="5F6B76"/>
                </a:solidFill>
                <a:latin typeface="Assistant"/>
              </a:rPr>
              <a:t>Add a .gitignore and commit the lock file.</a:t>
            </a:r>
          </a:p>
        </p:txBody>
      </p:sp>
      <p:sp>
        <p:nvSpPr>
          <p:cNvPr id="11" name="Rounded Rectangle 10"/>
          <p:cNvSpPr/>
          <p:nvPr/>
        </p:nvSpPr>
        <p:spPr>
          <a:xfrm>
            <a:off x="4355592" y="1536192"/>
            <a:ext cx="3477768" cy="4773168"/>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5592"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Week one</a:t>
            </a:r>
          </a:p>
        </p:txBody>
      </p:sp>
      <p:sp>
        <p:nvSpPr>
          <p:cNvPr id="14" name="TextBox 13"/>
          <p:cNvSpPr txBox="1"/>
          <p:nvPr/>
        </p:nvSpPr>
        <p:spPr>
          <a:xfrm>
            <a:off x="4556760" y="2084832"/>
            <a:ext cx="3075432" cy="4078224"/>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Add the CI workflow from Part 1.</a:t>
            </a:r>
          </a:p>
          <a:p>
            <a:pPr>
              <a:lnSpc>
                <a:spcPct val="96000"/>
              </a:lnSpc>
              <a:spcAft>
                <a:spcPts val="400"/>
              </a:spcAft>
            </a:pPr>
            <a:r>
              <a:rPr sz="900">
                <a:solidFill>
                  <a:srgbClr val="009DDD"/>
                </a:solidFill>
                <a:latin typeface="Assistant"/>
              </a:rPr>
              <a:t>–  </a:t>
            </a:r>
            <a:r>
              <a:rPr sz="1200">
                <a:solidFill>
                  <a:srgbClr val="5F6B76"/>
                </a:solidFill>
                <a:latin typeface="Assistant"/>
              </a:rPr>
              <a:t>Do further work on branches, and open one pull request.</a:t>
            </a:r>
          </a:p>
          <a:p>
            <a:pPr>
              <a:lnSpc>
                <a:spcPct val="96000"/>
              </a:lnSpc>
              <a:spcAft>
                <a:spcPts val="400"/>
              </a:spcAft>
            </a:pPr>
            <a:r>
              <a:rPr sz="900">
                <a:solidFill>
                  <a:srgbClr val="009DDD"/>
                </a:solidFill>
                <a:latin typeface="Assistant"/>
              </a:rPr>
              <a:t>–  </a:t>
            </a:r>
            <a:r>
              <a:rPr sz="1200">
                <a:solidFill>
                  <a:srgbClr val="5F6B76"/>
                </a:solidFill>
                <a:latin typeface="Assistant"/>
              </a:rPr>
              <a:t>Write down your group's rule for what may be pasted</a:t>
            </a:r>
          </a:p>
          <a:p>
            <a:pPr>
              <a:lnSpc>
                <a:spcPct val="96000"/>
              </a:lnSpc>
              <a:spcAft>
                <a:spcPts val="400"/>
              </a:spcAft>
            </a:pPr>
            <a:r>
              <a:rPr sz="900">
                <a:solidFill>
                  <a:srgbClr val="009DDD"/>
                </a:solidFill>
                <a:latin typeface="Assistant"/>
              </a:rPr>
              <a:t>–  </a:t>
            </a:r>
            <a:r>
              <a:rPr sz="1200">
                <a:solidFill>
                  <a:srgbClr val="5F6B76"/>
                </a:solidFill>
                <a:latin typeface="Assistant"/>
              </a:rPr>
              <a:t>into an AI tool, and what may not.</a:t>
            </a:r>
          </a:p>
        </p:txBody>
      </p:sp>
      <p:sp>
        <p:nvSpPr>
          <p:cNvPr id="15" name="Rounded Rectangle 14"/>
          <p:cNvSpPr/>
          <p:nvPr/>
        </p:nvSpPr>
        <p:spPr>
          <a:xfrm>
            <a:off x="8052816" y="1536192"/>
            <a:ext cx="3477768" cy="4773168"/>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4"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Month one</a:t>
            </a:r>
          </a:p>
        </p:txBody>
      </p:sp>
      <p:sp>
        <p:nvSpPr>
          <p:cNvPr id="18" name="TextBox 17"/>
          <p:cNvSpPr txBox="1"/>
          <p:nvPr/>
        </p:nvSpPr>
        <p:spPr>
          <a:xfrm>
            <a:off x="8253984" y="2084832"/>
            <a:ext cx="3075432" cy="4078224"/>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Decide one analysis before you look at the result, and log it.</a:t>
            </a:r>
          </a:p>
          <a:p>
            <a:pPr>
              <a:lnSpc>
                <a:spcPct val="96000"/>
              </a:lnSpc>
              <a:spcAft>
                <a:spcPts val="400"/>
              </a:spcAft>
            </a:pPr>
            <a:r>
              <a:rPr sz="900">
                <a:solidFill>
                  <a:srgbClr val="009DDD"/>
                </a:solidFill>
                <a:latin typeface="Assistant"/>
              </a:rPr>
              <a:t>–  </a:t>
            </a:r>
            <a:r>
              <a:rPr sz="1200">
                <a:solidFill>
                  <a:srgbClr val="5F6B76"/>
                </a:solidFill>
                <a:latin typeface="Assistant"/>
              </a:rPr>
              <a:t>Add the review checklist to your pull-request template.</a:t>
            </a:r>
          </a:p>
          <a:p>
            <a:pPr>
              <a:lnSpc>
                <a:spcPct val="96000"/>
              </a:lnSpc>
              <a:spcAft>
                <a:spcPts val="400"/>
              </a:spcAft>
            </a:pPr>
            <a:r>
              <a:rPr sz="900">
                <a:solidFill>
                  <a:srgbClr val="009DDD"/>
                </a:solidFill>
                <a:latin typeface="Assistant"/>
              </a:rPr>
              <a:t>–  </a:t>
            </a:r>
            <a:r>
              <a:rPr sz="1200">
                <a:solidFill>
                  <a:srgbClr val="5F6B76"/>
                </a:solidFill>
                <a:latin typeface="Assistant"/>
              </a:rPr>
              <a:t>Run the reusability check: ask a colleague to clone and run it.</a:t>
            </a:r>
          </a:p>
          <a:p>
            <a:pPr>
              <a:lnSpc>
                <a:spcPct val="96000"/>
              </a:lnSpc>
              <a:spcAft>
                <a:spcPts val="400"/>
              </a:spcAft>
            </a:pPr>
            <a:r>
              <a:rPr sz="900">
                <a:solidFill>
                  <a:srgbClr val="009DDD"/>
                </a:solidFill>
                <a:latin typeface="Assistant"/>
              </a:rPr>
              <a:t>–  </a:t>
            </a:r>
            <a:r>
              <a:rPr sz="1200">
                <a:solidFill>
                  <a:srgbClr val="5F6B76"/>
                </a:solidFill>
                <a:latin typeface="Assistant"/>
              </a:rPr>
              <a:t>Teach one colleague the test-with-a-stored-value trick.</a:t>
            </a:r>
          </a:p>
        </p:txBody>
      </p:sp>
      <p:sp>
        <p:nvSpPr>
          <p:cNvPr id="19" name="TextBox 18"/>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20" name="TextBox 19"/>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25 / 41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58000"/>
          </a:xfrm>
          <a:prstGeom prst="rect">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37360"/>
            <a:ext cx="9692640" cy="292608"/>
          </a:xfrm>
          <a:prstGeom prst="rect">
            <a:avLst/>
          </a:prstGeom>
          <a:noFill/>
        </p:spPr>
        <p:txBody>
          <a:bodyPr wrap="square" anchor="t" lIns="0" rIns="0" tIns="0" bIns="0">
            <a:spAutoFit/>
          </a:bodyPr>
          <a:lstStyle/>
          <a:p>
            <a:pPr algn="l"/>
            <a:r>
              <a:rPr sz="1100" b="1" i="0">
                <a:solidFill>
                  <a:srgbClr val="FFB213"/>
                </a:solidFill>
                <a:latin typeface="Assistant"/>
              </a:rPr>
              <a:t>MINUTE 51</a:t>
            </a:r>
          </a:p>
        </p:txBody>
      </p:sp>
      <p:sp>
        <p:nvSpPr>
          <p:cNvPr id="5" name="TextBox 4"/>
          <p:cNvSpPr txBox="1"/>
          <p:nvPr/>
        </p:nvSpPr>
        <p:spPr>
          <a:xfrm>
            <a:off x="960120" y="2176272"/>
            <a:ext cx="10241280" cy="2194560"/>
          </a:xfrm>
          <a:prstGeom prst="rect">
            <a:avLst/>
          </a:prstGeom>
          <a:noFill/>
        </p:spPr>
        <p:txBody>
          <a:bodyPr wrap="square" anchor="t" lIns="0" rIns="0" tIns="0" bIns="0">
            <a:spAutoFit/>
          </a:bodyPr>
          <a:lstStyle/>
          <a:p>
            <a:pPr algn="l">
              <a:lnSpc>
                <a:spcPct val="106000"/>
              </a:lnSpc>
            </a:pPr>
            <a:r>
              <a:rPr sz="3600" b="0" i="0">
                <a:solidFill>
                  <a:srgbClr val="FFFFFF"/>
                </a:solidFill>
                <a:latin typeface="Nunito"/>
              </a:rPr>
              <a:t>You can have both.</a:t>
            </a:r>
          </a:p>
        </p:txBody>
      </p:sp>
      <p:sp>
        <p:nvSpPr>
          <p:cNvPr id="6" name="TextBox 5"/>
          <p:cNvSpPr txBox="1"/>
          <p:nvPr/>
        </p:nvSpPr>
        <p:spPr>
          <a:xfrm>
            <a:off x="978408" y="4224528"/>
            <a:ext cx="9784080" cy="1645920"/>
          </a:xfrm>
          <a:prstGeom prst="rect">
            <a:avLst/>
          </a:prstGeom>
          <a:noFill/>
        </p:spPr>
        <p:txBody>
          <a:bodyPr wrap="square" anchor="t" lIns="0" rIns="0" tIns="0" bIns="0">
            <a:spAutoFit/>
          </a:bodyPr>
          <a:lstStyle/>
          <a:p>
            <a:pPr algn="l">
              <a:lnSpc>
                <a:spcPct val="116000"/>
              </a:lnSpc>
            </a:pPr>
            <a:r>
              <a:rPr sz="1500" b="0" i="0">
                <a:solidFill>
                  <a:srgbClr val="D8E8F5"/>
                </a:solidFill>
                <a:latin typeface="Assistant"/>
              </a:rPr>
              <a:t>Speed and reproducibility are not in tension. Speed without verification is just a faster way to be wrong — and the practices in Part 1 are what let you accept an assistant's help, hand the work to a stranger, and still sign your name to the result.</a:t>
            </a:r>
          </a:p>
        </p:txBody>
      </p:sp>
      <p:sp>
        <p:nvSpPr>
          <p:cNvPr id="7" name="Rounded Rectangle 6"/>
          <p:cNvSpPr/>
          <p:nvPr/>
        </p:nvSpPr>
        <p:spPr>
          <a:xfrm>
            <a:off x="10204704" y="201168"/>
            <a:ext cx="1325880"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CORE</a:t>
            </a:r>
          </a:p>
        </p:txBody>
      </p:sp>
      <p:sp>
        <p:nvSpPr>
          <p:cNvPr id="9" name="TextBox 8"/>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D8E8F5"/>
                </a:solidFill>
                <a:latin typeface="Assistant"/>
              </a:rPr>
              <a:t>Reproducible Science in the Age of Vibe Coding</a:t>
            </a:r>
          </a:p>
        </p:txBody>
      </p:sp>
      <p:sp>
        <p:nvSpPr>
          <p:cNvPr id="10" name="TextBox 9"/>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D8E8F5"/>
                </a:solidFill>
                <a:latin typeface="Assistant"/>
              </a:rPr>
              <a:t>26 / 41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THANK YOU · QUESTIONS</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Resources, and where all of this came from</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FFFFFF"/>
                </a:solidFill>
                <a:latin typeface="Assistant"/>
              </a:rPr>
              <a:t>CORE</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800"/>
              </a:spcAft>
            </a:pPr>
            <a:r>
              <a:rPr sz="800">
                <a:solidFill>
                  <a:srgbClr val="009DDD"/>
                </a:solidFill>
                <a:latin typeface="Assistant"/>
              </a:rPr>
              <a:t>●  </a:t>
            </a:r>
            <a:r>
              <a:rPr sz="1300" b="1">
                <a:solidFill>
                  <a:srgbClr val="380338"/>
                </a:solidFill>
                <a:latin typeface="Assistant"/>
              </a:rPr>
              <a:t>▸ </a:t>
            </a:r>
            <a:r>
              <a:rPr sz="1300">
                <a:solidFill>
                  <a:srgbClr val="333333"/>
                </a:solidFill>
                <a:latin typeface="Assistant"/>
              </a:rPr>
              <a:t>Good Practices in Research Software Development — eScience Center / The Carpentries</a:t>
            </a:r>
          </a:p>
          <a:p>
            <a:pPr lvl="1">
              <a:lnSpc>
                <a:spcPct val="97000"/>
              </a:lnSpc>
              <a:spcAft>
                <a:spcPts val="800"/>
              </a:spcAft>
            </a:pPr>
            <a:r>
              <a:rPr sz="900">
                <a:solidFill>
                  <a:srgbClr val="FFB213"/>
                </a:solidFill>
                <a:latin typeface="Assistant"/>
              </a:rPr>
              <a:t>–  </a:t>
            </a:r>
            <a:r>
              <a:rPr sz="1100">
                <a:solidFill>
                  <a:srgbClr val="5F6B76"/>
                </a:solidFill>
                <a:latin typeface="Assistant"/>
              </a:rPr>
              <a:t>carpentries-incubator.github.io/good-practices-lesson</a:t>
            </a:r>
          </a:p>
          <a:p>
            <a:pPr>
              <a:lnSpc>
                <a:spcPct val="97000"/>
              </a:lnSpc>
              <a:spcAft>
                <a:spcPts val="800"/>
              </a:spcAft>
            </a:pPr>
            <a:r>
              <a:rPr sz="800">
                <a:solidFill>
                  <a:srgbClr val="009DDD"/>
                </a:solidFill>
                <a:latin typeface="Assistant"/>
              </a:rPr>
              <a:t>●  </a:t>
            </a:r>
            <a:r>
              <a:rPr sz="1300" b="1">
                <a:solidFill>
                  <a:srgbClr val="380338"/>
                </a:solidFill>
                <a:latin typeface="Assistant"/>
              </a:rPr>
              <a:t>▸ </a:t>
            </a:r>
            <a:r>
              <a:rPr sz="1300">
                <a:solidFill>
                  <a:srgbClr val="333333"/>
                </a:solidFill>
                <a:latin typeface="Assistant"/>
              </a:rPr>
              <a:t>Generative AI for Coding — The Carpentries Incubator</a:t>
            </a:r>
          </a:p>
          <a:p>
            <a:pPr lvl="1">
              <a:lnSpc>
                <a:spcPct val="97000"/>
              </a:lnSpc>
              <a:spcAft>
                <a:spcPts val="800"/>
              </a:spcAft>
            </a:pPr>
            <a:r>
              <a:rPr sz="900">
                <a:solidFill>
                  <a:srgbClr val="FFB213"/>
                </a:solidFill>
                <a:latin typeface="Assistant"/>
              </a:rPr>
              <a:t>–  </a:t>
            </a:r>
            <a:r>
              <a:rPr sz="1100">
                <a:solidFill>
                  <a:srgbClr val="5F6B76"/>
                </a:solidFill>
                <a:latin typeface="Assistant"/>
              </a:rPr>
              <a:t>carpentries-incubator.github.io/gen-ai-coding</a:t>
            </a:r>
          </a:p>
          <a:p>
            <a:pPr>
              <a:lnSpc>
                <a:spcPct val="97000"/>
              </a:lnSpc>
              <a:spcAft>
                <a:spcPts val="800"/>
              </a:spcAft>
            </a:pPr>
            <a:r>
              <a:rPr sz="800">
                <a:solidFill>
                  <a:srgbClr val="009DDD"/>
                </a:solidFill>
                <a:latin typeface="Assistant"/>
              </a:rPr>
              <a:t>●  </a:t>
            </a:r>
            <a:r>
              <a:rPr sz="1300" b="1">
                <a:solidFill>
                  <a:srgbClr val="380338"/>
                </a:solidFill>
                <a:latin typeface="Assistant"/>
              </a:rPr>
              <a:t>▸ </a:t>
            </a:r>
            <a:r>
              <a:rPr sz="1300">
                <a:solidFill>
                  <a:srgbClr val="333333"/>
                </a:solidFill>
                <a:latin typeface="Assistant"/>
              </a:rPr>
              <a:t>Reproducible Research through Reusable Code — dependencies, licensing, FAIR, citation and DOIs</a:t>
            </a:r>
          </a:p>
          <a:p>
            <a:pPr lvl="1">
              <a:lnSpc>
                <a:spcPct val="97000"/>
              </a:lnSpc>
              <a:spcAft>
                <a:spcPts val="800"/>
              </a:spcAft>
            </a:pPr>
            <a:r>
              <a:rPr sz="900">
                <a:solidFill>
                  <a:srgbClr val="FFB213"/>
                </a:solidFill>
                <a:latin typeface="Assistant"/>
              </a:rPr>
              <a:t>–  </a:t>
            </a:r>
            <a:r>
              <a:rPr sz="1100">
                <a:solidFill>
                  <a:srgbClr val="5F6B76"/>
                </a:solidFill>
                <a:latin typeface="Assistant"/>
              </a:rPr>
              <a:t>carpentries-incubator.github.io/reproducible-research-through-reusable-code-in-1-day</a:t>
            </a:r>
          </a:p>
          <a:p>
            <a:pPr>
              <a:lnSpc>
                <a:spcPct val="97000"/>
              </a:lnSpc>
              <a:spcAft>
                <a:spcPts val="800"/>
              </a:spcAft>
            </a:pPr>
            <a:r>
              <a:rPr sz="800">
                <a:solidFill>
                  <a:srgbClr val="009DDD"/>
                </a:solidFill>
                <a:latin typeface="Assistant"/>
              </a:rPr>
              <a:t>●  </a:t>
            </a:r>
            <a:r>
              <a:rPr sz="1300" b="1">
                <a:solidFill>
                  <a:srgbClr val="380338"/>
                </a:solidFill>
                <a:latin typeface="Assistant"/>
              </a:rPr>
              <a:t>▸ </a:t>
            </a:r>
            <a:r>
              <a:rPr sz="1300">
                <a:solidFill>
                  <a:srgbClr val="333333"/>
                </a:solidFill>
                <a:latin typeface="Assistant"/>
              </a:rPr>
              <a:t>Collaborative Version Control with Git and GitHub — branches, pull requests, code review, forks</a:t>
            </a:r>
          </a:p>
          <a:p>
            <a:pPr lvl="1">
              <a:lnSpc>
                <a:spcPct val="97000"/>
              </a:lnSpc>
              <a:spcAft>
                <a:spcPts val="800"/>
              </a:spcAft>
            </a:pPr>
            <a:r>
              <a:rPr sz="900">
                <a:solidFill>
                  <a:srgbClr val="FFB213"/>
                </a:solidFill>
                <a:latin typeface="Assistant"/>
              </a:rPr>
              <a:t>–  </a:t>
            </a:r>
            <a:r>
              <a:rPr sz="1100">
                <a:solidFill>
                  <a:srgbClr val="5F6B76"/>
                </a:solidFill>
                <a:latin typeface="Assistant"/>
              </a:rPr>
              <a:t>carpentries-incubator.github.io/collaborative-git-and-github-lesson</a:t>
            </a:r>
          </a:p>
          <a:p>
            <a:pPr>
              <a:lnSpc>
                <a:spcPct val="97000"/>
              </a:lnSpc>
              <a:spcAft>
                <a:spcPts val="800"/>
              </a:spcAft>
            </a:pPr>
            <a:r>
              <a:rPr sz="800">
                <a:solidFill>
                  <a:srgbClr val="009DDD"/>
                </a:solidFill>
                <a:latin typeface="Assistant"/>
              </a:rPr>
              <a:t>●  </a:t>
            </a:r>
            <a:r>
              <a:rPr sz="1300" b="1">
                <a:solidFill>
                  <a:srgbClr val="380338"/>
                </a:solidFill>
                <a:latin typeface="Assistant"/>
              </a:rPr>
              <a:t>▸ </a:t>
            </a:r>
            <a:r>
              <a:rPr sz="1300">
                <a:solidFill>
                  <a:srgbClr val="333333"/>
                </a:solidFill>
                <a:latin typeface="Assistant"/>
              </a:rPr>
              <a:t>The hands-on materials, the project checklist and the facilitator notes are in the hands-on/ folder. All four lessons are CC-BY 4.0.</a:t>
            </a:r>
          </a:p>
          <a:p>
            <a:pPr>
              <a:lnSpc>
                <a:spcPct val="97000"/>
              </a:lnSpc>
              <a:spcAft>
                <a:spcPts val="800"/>
              </a:spcAft>
            </a:pPr>
            <a:r>
              <a:rPr sz="800">
                <a:solidFill>
                  <a:srgbClr val="009DDD"/>
                </a:solidFill>
                <a:latin typeface="Assistant"/>
              </a:rPr>
              <a:t>●  </a:t>
            </a:r>
            <a:r>
              <a:rPr sz="1300" b="1">
                <a:solidFill>
                  <a:srgbClr val="380338"/>
                </a:solidFill>
                <a:latin typeface="Assistant"/>
              </a:rPr>
              <a:t>▸ </a:t>
            </a:r>
            <a:r>
              <a:rPr sz="1300">
                <a:solidFill>
                  <a:srgbClr val="333333"/>
                </a:solidFill>
                <a:latin typeface="Assistant"/>
              </a:rPr>
              <a:t>Next step: one row of the checklist, one real project, this week.</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27 / 41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286000" y="1417320"/>
            <a:ext cx="5760720" cy="365760"/>
          </a:xfrm>
          <a:prstGeom prst="rect">
            <a:avLst/>
          </a:prstGeom>
          <a:noFill/>
        </p:spPr>
        <p:txBody>
          <a:bodyPr wrap="square" anchor="t" lIns="0" rIns="0" tIns="0" bIns="0">
            <a:spAutoFit/>
          </a:bodyPr>
          <a:lstStyle/>
          <a:p>
            <a:pPr algn="l"/>
            <a:r>
              <a:rPr sz="1200" b="1" i="0">
                <a:solidFill>
                  <a:srgbClr val="FFB213"/>
                </a:solidFill>
                <a:latin typeface="Assistant"/>
              </a:rPr>
              <a:t>APPENDIX</a:t>
            </a:r>
          </a:p>
        </p:txBody>
      </p:sp>
      <p:sp>
        <p:nvSpPr>
          <p:cNvPr id="3" name="Rectangle 2"/>
          <p:cNvSpPr/>
          <p:nvPr/>
        </p:nvSpPr>
        <p:spPr>
          <a:xfrm>
            <a:off x="2304288" y="1783080"/>
            <a:ext cx="1188720" cy="68580"/>
          </a:xfrm>
          <a:prstGeom prst="rect">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2011680"/>
            <a:ext cx="5760720" cy="1280160"/>
          </a:xfrm>
          <a:prstGeom prst="rect">
            <a:avLst/>
          </a:prstGeom>
          <a:noFill/>
        </p:spPr>
        <p:txBody>
          <a:bodyPr wrap="square" anchor="t" lIns="0" rIns="0" tIns="0" bIns="0">
            <a:spAutoFit/>
          </a:bodyPr>
          <a:lstStyle/>
          <a:p>
            <a:pPr algn="l">
              <a:lnSpc>
                <a:spcPct val="102000"/>
              </a:lnSpc>
            </a:pPr>
            <a:r>
              <a:rPr sz="3200" b="0" i="0">
                <a:solidFill>
                  <a:srgbClr val="FFFFFF"/>
                </a:solidFill>
                <a:latin typeface="Nunito"/>
              </a:rPr>
              <a:t>The material we cut</a:t>
            </a:r>
          </a:p>
        </p:txBody>
      </p:sp>
      <p:sp>
        <p:nvSpPr>
          <p:cNvPr id="5" name="TextBox 4"/>
          <p:cNvSpPr txBox="1"/>
          <p:nvPr/>
        </p:nvSpPr>
        <p:spPr>
          <a:xfrm>
            <a:off x="2304288" y="3337560"/>
            <a:ext cx="5669280" cy="1097280"/>
          </a:xfrm>
          <a:prstGeom prst="rect">
            <a:avLst/>
          </a:prstGeom>
          <a:noFill/>
        </p:spPr>
        <p:txBody>
          <a:bodyPr wrap="square" anchor="t" lIns="0" rIns="0" tIns="0" bIns="0">
            <a:spAutoFit/>
          </a:bodyPr>
          <a:lstStyle/>
          <a:p>
            <a:pPr algn="l">
              <a:lnSpc>
                <a:spcPct val="116000"/>
              </a:lnSpc>
            </a:pPr>
            <a:r>
              <a:rPr sz="1450" b="0" i="0">
                <a:solidFill>
                  <a:srgbClr val="D8E8F5"/>
                </a:solidFill>
                <a:latin typeface="Assistant"/>
              </a:rPr>
              <a:t>Fourteen slides covering everything that did not fit the hour. Nothing here needs to be presented — hand it out, or point people at it afterwards.</a:t>
            </a:r>
          </a:p>
        </p:txBody>
      </p:sp>
      <p:sp>
        <p:nvSpPr>
          <p:cNvPr id="6" name="Rounded Rectangle 5"/>
          <p:cNvSpPr/>
          <p:nvPr/>
        </p:nvSpPr>
        <p:spPr>
          <a:xfrm>
            <a:off x="10204704" y="201168"/>
            <a:ext cx="1325880" cy="26517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D8E8F5"/>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D8E8F5"/>
                </a:solidFill>
                <a:latin typeface="Assistant"/>
              </a:rPr>
              <a:t>28 / 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FOR WHOEVER RUNS THIS NEXT</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60-minute run sheet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graphicFrame>
        <p:nvGraphicFramePr>
          <p:cNvPr id="7" name="Table 6"/>
          <p:cNvGraphicFramePr>
            <a:graphicFrameLocks noGrp="1"/>
          </p:cNvGraphicFramePr>
          <p:nvPr/>
        </p:nvGraphicFramePr>
        <p:xfrm>
          <a:off x="978408" y="1673352"/>
          <a:ext cx="10232135" cy="4389120"/>
        </p:xfrm>
        <a:graphic>
          <a:graphicData uri="http://schemas.openxmlformats.org/drawingml/2006/table">
            <a:tbl>
              <a:tblPr firstRow="1" bandRow="1">
                <a:tableStyleId>{5C22544A-7EE6-4342-B048-85BDC9FD1C3A}</a:tableStyleId>
              </a:tblPr>
              <a:tblGrid>
                <a:gridCol w="1213982"/>
                <a:gridCol w="3815372"/>
                <a:gridCol w="5202781"/>
              </a:tblGrid>
              <a:tr h="438912">
                <a:tc>
                  <a:txBody>
                    <a:bodyPr wrap="square"/>
                    <a:lstStyle/>
                    <a:p>
                      <a:pPr>
                        <a:lnSpc>
                          <a:spcPct val="95000"/>
                        </a:lnSpc>
                      </a:pPr>
                      <a:r>
                        <a:rPr sz="1200" b="1">
                          <a:solidFill>
                            <a:srgbClr val="FFFFFF"/>
                          </a:solidFill>
                          <a:latin typeface="Assistant"/>
                        </a:rPr>
                        <a:t>Time</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Block</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Slides</a:t>
                      </a:r>
                    </a:p>
                  </a:txBody>
                  <a:tcPr marL="91440" marR="91440" marT="45720" marB="45720" anchor="ctr">
                    <a:solidFill>
                      <a:srgbClr val="006B96"/>
                    </a:solidFill>
                  </a:tcPr>
                </a:tc>
              </a:tr>
              <a:tr h="438912">
                <a:tc>
                  <a:txBody>
                    <a:bodyPr wrap="square"/>
                    <a:lstStyle/>
                    <a:p>
                      <a:pPr>
                        <a:lnSpc>
                          <a:spcPct val="95000"/>
                        </a:lnSpc>
                      </a:pPr>
                      <a:r>
                        <a:rPr sz="1100">
                          <a:solidFill>
                            <a:srgbClr val="333333"/>
                          </a:solidFill>
                          <a:latin typeface="Assistant"/>
                        </a:rPr>
                        <a:t>0:00–0:04</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Welcome, the problem, the hour at a glance</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The three front-matter slides</a:t>
                      </a:r>
                    </a:p>
                  </a:txBody>
                  <a:tcPr marL="91440" marR="91440" marT="45720" marB="45720" anchor="ctr">
                    <a:solidFill>
                      <a:srgbClr val="FFFFFF"/>
                    </a:solidFill>
                  </a:tcPr>
                </a:tc>
              </a:tr>
              <a:tr h="438912">
                <a:tc>
                  <a:txBody>
                    <a:bodyPr wrap="square"/>
                    <a:lstStyle/>
                    <a:p>
                      <a:pPr>
                        <a:lnSpc>
                          <a:spcPct val="95000"/>
                        </a:lnSpc>
                      </a:pPr>
                      <a:r>
                        <a:rPr sz="1100">
                          <a:solidFill>
                            <a:srgbClr val="333333"/>
                          </a:solidFill>
                          <a:latin typeface="Assistant"/>
                        </a:rPr>
                        <a:t>0:04–0:12</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Part 1 — Reproducible by construction</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What reproducible means, modular code, the README, the stored-value test, version control and CI</a:t>
                      </a:r>
                    </a:p>
                  </a:txBody>
                  <a:tcPr marL="91440" marR="91440" marT="45720" marB="45720" anchor="ctr">
                    <a:solidFill>
                      <a:srgbClr val="EEF3F9"/>
                    </a:solidFill>
                  </a:tcPr>
                </a:tc>
              </a:tr>
              <a:tr h="438912">
                <a:tc>
                  <a:txBody>
                    <a:bodyPr wrap="square"/>
                    <a:lstStyle/>
                    <a:p>
                      <a:pPr>
                        <a:lnSpc>
                          <a:spcPct val="95000"/>
                        </a:lnSpc>
                      </a:pPr>
                      <a:r>
                        <a:rPr sz="1100">
                          <a:solidFill>
                            <a:srgbClr val="333333"/>
                          </a:solidFill>
                          <a:latin typeface="Assistant"/>
                        </a:rPr>
                        <a:t>0:12–0:22</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Part 2 — Vibe coding with LLMs</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What assistants are, 46.3%, the three modes, prompting, spot the bug</a:t>
                      </a:r>
                    </a:p>
                  </a:txBody>
                  <a:tcPr marL="91440" marR="91440" marT="45720" marB="45720" anchor="ctr">
                    <a:solidFill>
                      <a:srgbClr val="FFFFFF"/>
                    </a:solidFill>
                  </a:tcPr>
                </a:tc>
              </a:tr>
              <a:tr h="438912">
                <a:tc>
                  <a:txBody>
                    <a:bodyPr wrap="square"/>
                    <a:lstStyle/>
                    <a:p>
                      <a:pPr>
                        <a:lnSpc>
                          <a:spcPct val="95000"/>
                        </a:lnSpc>
                      </a:pPr>
                      <a:r>
                        <a:rPr sz="1100">
                          <a:solidFill>
                            <a:srgbClr val="333333"/>
                          </a:solidFill>
                          <a:latin typeface="Assistant"/>
                        </a:rPr>
                        <a:t>0:22–0:37</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HANDS-ON</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Brief, run it and inspect the data, the prompt, verify and break it, debrief</a:t>
                      </a:r>
                    </a:p>
                  </a:txBody>
                  <a:tcPr marL="91440" marR="91440" marT="45720" marB="45720" anchor="ctr">
                    <a:solidFill>
                      <a:srgbClr val="EEF3F9"/>
                    </a:solidFill>
                  </a:tcPr>
                </a:tc>
              </a:tr>
              <a:tr h="438912">
                <a:tc>
                  <a:txBody>
                    <a:bodyPr wrap="square"/>
                    <a:lstStyle/>
                    <a:p>
                      <a:pPr>
                        <a:lnSpc>
                          <a:spcPct val="95000"/>
                        </a:lnSpc>
                      </a:pPr>
                      <a:r>
                        <a:rPr sz="1100">
                          <a:solidFill>
                            <a:srgbClr val="333333"/>
                          </a:solidFill>
                          <a:latin typeface="Assistant"/>
                        </a:rPr>
                        <a:t>0:37–0:47</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Part 3 — Risks and guardrails</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Analytical reproducibility, ethics, security and data, the risk table, the review checklist</a:t>
                      </a:r>
                    </a:p>
                  </a:txBody>
                  <a:tcPr marL="91440" marR="91440" marT="45720" marB="45720" anchor="ctr">
                    <a:solidFill>
                      <a:srgbClr val="FFFFFF"/>
                    </a:solidFill>
                  </a:tcPr>
                </a:tc>
              </a:tr>
              <a:tr h="438912">
                <a:tc>
                  <a:txBody>
                    <a:bodyPr wrap="square"/>
                    <a:lstStyle/>
                    <a:p>
                      <a:pPr>
                        <a:lnSpc>
                          <a:spcPct val="95000"/>
                        </a:lnSpc>
                      </a:pPr>
                      <a:r>
                        <a:rPr sz="1100">
                          <a:solidFill>
                            <a:srgbClr val="333333"/>
                          </a:solidFill>
                          <a:latin typeface="Assistant"/>
                        </a:rPr>
                        <a:t>0:47–0:51</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Wrap-up</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Checklist, adoption plan, closing</a:t>
                      </a:r>
                    </a:p>
                  </a:txBody>
                  <a:tcPr marL="91440" marR="91440" marT="45720" marB="45720" anchor="ctr">
                    <a:solidFill>
                      <a:srgbClr val="EEF3F9"/>
                    </a:solidFill>
                  </a:tcPr>
                </a:tc>
              </a:tr>
              <a:tr h="438912">
                <a:tc>
                  <a:txBody>
                    <a:bodyPr wrap="square"/>
                    <a:lstStyle/>
                    <a:p>
                      <a:pPr>
                        <a:lnSpc>
                          <a:spcPct val="95000"/>
                        </a:lnSpc>
                      </a:pPr>
                      <a:r>
                        <a:rPr sz="1100">
                          <a:solidFill>
                            <a:srgbClr val="333333"/>
                          </a:solidFill>
                          <a:latin typeface="Assistant"/>
                        </a:rPr>
                        <a:t>0:51–1:00</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Q&amp;A</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The appendix as reference</a:t>
                      </a:r>
                    </a:p>
                  </a:txBody>
                  <a:tcPr marL="91440" marR="91440" marT="45720" marB="45720" anchor="ctr">
                    <a:solidFill>
                      <a:srgbClr val="FFFFFF"/>
                    </a:solidFill>
                  </a:tcPr>
                </a:tc>
              </a:tr>
              <a:tr h="438912">
                <a:tc>
                  <a:txBody>
                    <a:bodyPr wrap="square"/>
                    <a:lstStyle/>
                    <a:p>
                      <a:pPr>
                        <a:lnSpc>
                          <a:spcPct val="95000"/>
                        </a:lnSpc>
                      </a:pPr>
                      <a:r>
                        <a:rPr sz="1100">
                          <a:solidFill>
                            <a:srgbClr val="333333"/>
                          </a:solidFill>
                          <a:latin typeface="Assistant"/>
                        </a:rPr>
                        <a:t>Cut first</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If you are running late</a:t>
                      </a:r>
                    </a:p>
                  </a:txBody>
                  <a:tcPr marL="91440" marR="91440" marT="45720" marB="45720" anchor="ctr">
                    <a:solidFill>
                      <a:srgbClr val="EEF3F9"/>
                    </a:solidFill>
                  </a:tcPr>
                </a:tc>
                <a:tc>
                  <a:txBody>
                    <a:bodyPr wrap="square"/>
                    <a:lstStyle/>
                    <a:p>
                      <a:pPr>
                        <a:lnSpc>
                          <a:spcPct val="95000"/>
                        </a:lnSpc>
                      </a:pPr>
                      <a:r>
                        <a:rPr sz="1100">
                          <a:solidFill>
                            <a:srgbClr val="333333"/>
                          </a:solidFill>
                          <a:latin typeface="Assistant"/>
                        </a:rPr>
                        <a:t>The three DEEP DIVE slides: documentation, security, and the adoption plan — in that order</a:t>
                      </a:r>
                    </a:p>
                  </a:txBody>
                  <a:tcPr marL="91440" marR="91440" marT="45720" marB="45720" anchor="ctr">
                    <a:solidFill>
                      <a:srgbClr val="EEF3F9"/>
                    </a:solidFill>
                  </a:tcPr>
                </a:tc>
              </a:tr>
              <a:tr h="438912">
                <a:tc>
                  <a:txBody>
                    <a:bodyPr wrap="square"/>
                    <a:lstStyle/>
                    <a:p>
                      <a:pPr>
                        <a:lnSpc>
                          <a:spcPct val="95000"/>
                        </a:lnSpc>
                      </a:pPr>
                      <a:r>
                        <a:rPr sz="1100">
                          <a:solidFill>
                            <a:srgbClr val="333333"/>
                          </a:solidFill>
                          <a:latin typeface="Assistant"/>
                        </a:rPr>
                        <a:t>Never cut</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If you are running very late</a:t>
                      </a:r>
                    </a:p>
                  </a:txBody>
                  <a:tcPr marL="91440" marR="91440" marT="45720" marB="45720" anchor="ctr">
                    <a:solidFill>
                      <a:srgbClr val="FFFFFF"/>
                    </a:solidFill>
                  </a:tcPr>
                </a:tc>
                <a:tc>
                  <a:txBody>
                    <a:bodyPr wrap="square"/>
                    <a:lstStyle/>
                    <a:p>
                      <a:pPr>
                        <a:lnSpc>
                          <a:spcPct val="95000"/>
                        </a:lnSpc>
                      </a:pPr>
                      <a:r>
                        <a:rPr sz="1100">
                          <a:solidFill>
                            <a:srgbClr val="333333"/>
                          </a:solidFill>
                          <a:latin typeface="Assistant"/>
                        </a:rPr>
                        <a:t>The stored-value test, spot the bug, and the hands-on</a:t>
                      </a:r>
                    </a:p>
                  </a:txBody>
                  <a:tcPr marL="91440" marR="91440" marT="45720" marB="45720" anchor="ctr">
                    <a:solidFill>
                      <a:srgbClr val="FFFFFF"/>
                    </a:solidFill>
                  </a:tcPr>
                </a:tc>
              </a:tr>
            </a:tbl>
          </a:graphicData>
        </a:graphic>
      </p:graphicFrame>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29 / 41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WE TRAVEL THREE YEARS INTO THE FUTURE AND RE-RUN THEIR CODE</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Dependencies: three students, three repositories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graphicFrame>
        <p:nvGraphicFramePr>
          <p:cNvPr id="7" name="Table 6"/>
          <p:cNvGraphicFramePr>
            <a:graphicFrameLocks noGrp="1"/>
          </p:cNvGraphicFramePr>
          <p:nvPr/>
        </p:nvGraphicFramePr>
        <p:xfrm>
          <a:off x="978408" y="1673352"/>
          <a:ext cx="10232135" cy="3931920"/>
        </p:xfrm>
        <a:graphic>
          <a:graphicData uri="http://schemas.openxmlformats.org/drawingml/2006/table">
            <a:tbl>
              <a:tblPr firstRow="1" bandRow="1">
                <a:tableStyleId>{5C22544A-7EE6-4342-B048-85BDC9FD1C3A}</a:tableStyleId>
              </a:tblPr>
              <a:tblGrid>
                <a:gridCol w="2131695"/>
                <a:gridCol w="4433925"/>
                <a:gridCol w="3666515"/>
              </a:tblGrid>
              <a:tr h="982980">
                <a:tc>
                  <a:txBody>
                    <a:bodyPr wrap="square"/>
                    <a:lstStyle/>
                    <a:p>
                      <a:pPr>
                        <a:lnSpc>
                          <a:spcPct val="95000"/>
                        </a:lnSpc>
                      </a:pPr>
                      <a:r>
                        <a:rPr sz="1200" b="1">
                          <a:solidFill>
                            <a:srgbClr val="FFFFFF"/>
                          </a:solidFill>
                          <a:latin typeface="Assistant"/>
                        </a:rPr>
                        <a:t>Repository</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What you find</a:t>
                      </a:r>
                    </a:p>
                  </a:txBody>
                  <a:tcPr marL="91440" marR="91440" marT="45720" marB="45720" anchor="ctr">
                    <a:solidFill>
                      <a:srgbClr val="006B96"/>
                    </a:solidFill>
                  </a:tcPr>
                </a:tc>
                <a:tc>
                  <a:txBody>
                    <a:bodyPr wrap="square"/>
                    <a:lstStyle/>
                    <a:p>
                      <a:pPr>
                        <a:lnSpc>
                          <a:spcPct val="95000"/>
                        </a:lnSpc>
                      </a:pPr>
                      <a:r>
                        <a:rPr sz="1200" b="1">
                          <a:solidFill>
                            <a:srgbClr val="FFFFFF"/>
                          </a:solidFill>
                          <a:latin typeface="Assistant"/>
                        </a:rPr>
                        <a:t>Will it re-run in three years?</a:t>
                      </a:r>
                    </a:p>
                  </a:txBody>
                  <a:tcPr marL="91440" marR="91440" marT="45720" marB="45720" anchor="ctr">
                    <a:solidFill>
                      <a:srgbClr val="006B96"/>
                    </a:solidFill>
                  </a:tcPr>
                </a:tc>
              </a:tr>
              <a:tr h="982980">
                <a:tc>
                  <a:txBody>
                    <a:bodyPr wrap="square"/>
                    <a:lstStyle/>
                    <a:p>
                      <a:pPr>
                        <a:lnSpc>
                          <a:spcPct val="95000"/>
                        </a:lnSpc>
                      </a:pPr>
                      <a:r>
                        <a:rPr sz="1150">
                          <a:solidFill>
                            <a:srgbClr val="333333"/>
                          </a:solidFill>
                          <a:latin typeface="Assistant"/>
                        </a:rPr>
                        <a:t>Student A — README only</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The README lists some of the main libraries that were used, with no versions anywhere.</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Almost certainly not. You will get whatever version is current today, and the API will have moved.</a:t>
                      </a:r>
                    </a:p>
                  </a:txBody>
                  <a:tcPr marL="91440" marR="91440" marT="45720" marB="45720" anchor="ctr">
                    <a:solidFill>
                      <a:srgbClr val="FFFFFF"/>
                    </a:solidFill>
                  </a:tcPr>
                </a:tc>
              </a:tr>
              <a:tr h="982980">
                <a:tc>
                  <a:txBody>
                    <a:bodyPr wrap="square"/>
                    <a:lstStyle/>
                    <a:p>
                      <a:pPr>
                        <a:lnSpc>
                          <a:spcPct val="95000"/>
                        </a:lnSpc>
                      </a:pPr>
                      <a:r>
                        <a:rPr sz="1150">
                          <a:solidFill>
                            <a:srgbClr val="333333"/>
                          </a:solidFill>
                          <a:latin typeface="Assistant"/>
                        </a:rPr>
                        <a:t>Student B — unpinned</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A requirements.txt listing scipy, numpy, sympy, click — and two dependencies pulled straight from a repository at @main.</a:t>
                      </a:r>
                    </a:p>
                  </a:txBody>
                  <a:tcPr marL="91440" marR="91440" marT="45720" marB="45720" anchor="ctr">
                    <a:solidFill>
                      <a:srgbClr val="EEF3F9"/>
                    </a:solidFill>
                  </a:tcPr>
                </a:tc>
                <a:tc>
                  <a:txBody>
                    <a:bodyPr wrap="square"/>
                    <a:lstStyle/>
                    <a:p>
                      <a:pPr>
                        <a:lnSpc>
                          <a:spcPct val="95000"/>
                        </a:lnSpc>
                      </a:pPr>
                      <a:r>
                        <a:rPr sz="1150">
                          <a:solidFill>
                            <a:srgbClr val="333333"/>
                          </a:solidFill>
                          <a:latin typeface="Assistant"/>
                        </a:rPr>
                        <a:t>No. Unpinned names drift, and @main is a moving target: the code you get is today's, not theirs.</a:t>
                      </a:r>
                    </a:p>
                  </a:txBody>
                  <a:tcPr marL="91440" marR="91440" marT="45720" marB="45720" anchor="ctr">
                    <a:solidFill>
                      <a:srgbClr val="EEF3F9"/>
                    </a:solidFill>
                  </a:tcPr>
                </a:tc>
              </a:tr>
              <a:tr h="982980">
                <a:tc>
                  <a:txBody>
                    <a:bodyPr wrap="square"/>
                    <a:lstStyle/>
                    <a:p>
                      <a:pPr>
                        <a:lnSpc>
                          <a:spcPct val="95000"/>
                        </a:lnSpc>
                      </a:pPr>
                      <a:r>
                        <a:rPr sz="1150">
                          <a:solidFill>
                            <a:srgbClr val="333333"/>
                          </a:solidFill>
                          <a:latin typeface="Assistant"/>
                        </a:rPr>
                        <a:t>Student C — the time capsule</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A requirements.txt with exact versions (scipy==1.3.1, numpy==1.16.4, …) and git dependencies pinned to a tag.</a:t>
                      </a:r>
                    </a:p>
                  </a:txBody>
                  <a:tcPr marL="91440" marR="91440" marT="45720" marB="45720" anchor="ctr">
                    <a:solidFill>
                      <a:srgbClr val="FFFFFF"/>
                    </a:solidFill>
                  </a:tcPr>
                </a:tc>
                <a:tc>
                  <a:txBody>
                    <a:bodyPr wrap="square"/>
                    <a:lstStyle/>
                    <a:p>
                      <a:pPr>
                        <a:lnSpc>
                          <a:spcPct val="95000"/>
                        </a:lnSpc>
                      </a:pPr>
                      <a:r>
                        <a:rPr sz="1150">
                          <a:solidFill>
                            <a:srgbClr val="333333"/>
                          </a:solidFill>
                          <a:latin typeface="Assistant"/>
                        </a:rPr>
                        <a:t>Most likely yes. This is what a time capsule of dependencies looks like.</a:t>
                      </a:r>
                    </a:p>
                  </a:txBody>
                  <a:tcPr marL="91440" marR="91440" marT="45720" marB="45720" anchor="ctr">
                    <a:solidFill>
                      <a:srgbClr val="FFFFFF"/>
                    </a:solidFill>
                  </a:tcPr>
                </a:tc>
              </a:tr>
            </a:tbl>
          </a:graphicData>
        </a:graphic>
      </p:graphicFrame>
      <p:sp>
        <p:nvSpPr>
          <p:cNvPr id="8" name="Rounded Rectangle 7"/>
          <p:cNvSpPr/>
          <p:nvPr/>
        </p:nvSpPr>
        <p:spPr>
          <a:xfrm>
            <a:off x="658368" y="5742432"/>
            <a:ext cx="10872216" cy="493776"/>
          </a:xfrm>
          <a:prstGeom prst="roundRect">
            <a:avLst>
              <a:gd name="adj" fmla="val 50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5879592"/>
            <a:ext cx="1234440" cy="256032"/>
          </a:xfrm>
          <a:prstGeom prst="rect">
            <a:avLst/>
          </a:prstGeom>
          <a:noFill/>
        </p:spPr>
        <p:txBody>
          <a:bodyPr wrap="square" anchor="t" lIns="0" rIns="0" tIns="0" bIns="0">
            <a:spAutoFit/>
          </a:bodyPr>
          <a:lstStyle/>
          <a:p>
            <a:pPr algn="l"/>
            <a:r>
              <a:rPr sz="950" b="1" i="0">
                <a:solidFill>
                  <a:srgbClr val="9A6600"/>
                </a:solidFill>
                <a:latin typeface="Assistant"/>
              </a:rPr>
              <a:t>ASK THE ROOM</a:t>
            </a:r>
          </a:p>
        </p:txBody>
      </p:sp>
      <p:sp>
        <p:nvSpPr>
          <p:cNvPr id="10" name="TextBox 9"/>
          <p:cNvSpPr txBox="1"/>
          <p:nvPr/>
        </p:nvSpPr>
        <p:spPr>
          <a:xfrm>
            <a:off x="2231136" y="5843016"/>
            <a:ext cx="8951976" cy="310896"/>
          </a:xfrm>
          <a:prstGeom prst="rect">
            <a:avLst/>
          </a:prstGeom>
          <a:noFill/>
        </p:spPr>
        <p:txBody>
          <a:bodyPr wrap="square" anchor="t" lIns="0" rIns="0" tIns="0" bIns="0">
            <a:spAutoFit/>
          </a:bodyPr>
          <a:lstStyle/>
          <a:p>
            <a:pPr algn="l"/>
            <a:r>
              <a:rPr sz="1250" b="0" i="0">
                <a:solidFill>
                  <a:srgbClr val="333333"/>
                </a:solidFill>
                <a:latin typeface="Assistant"/>
              </a:rPr>
              <a:t>The difference between repository B and repository C is about ten characters per line. Which one is yours?</a:t>
            </a:r>
          </a:p>
        </p:txBody>
      </p:sp>
      <p:sp>
        <p:nvSpPr>
          <p:cNvPr id="11" name="TextBox 1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2" name="TextBox 1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30 / 41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CUT FROM PART 1</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Data and workflow reproducibility</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900"/>
              </a:spcAft>
            </a:pPr>
            <a:r>
              <a:rPr sz="850">
                <a:solidFill>
                  <a:srgbClr val="009DDD"/>
                </a:solidFill>
                <a:latin typeface="Assistant"/>
              </a:rPr>
              <a:t>●  </a:t>
            </a:r>
            <a:r>
              <a:rPr sz="1350">
                <a:solidFill>
                  <a:srgbClr val="333333"/>
                </a:solidFill>
                <a:latin typeface="Assistant"/>
              </a:rPr>
              <a:t>Treat raw data as read-only. Never edit it in place, and never in Excel — it silently reformats dates and gene names.</a:t>
            </a:r>
          </a:p>
          <a:p>
            <a:pPr>
              <a:lnSpc>
                <a:spcPct val="97000"/>
              </a:lnSpc>
              <a:spcAft>
                <a:spcPts val="900"/>
              </a:spcAft>
            </a:pPr>
            <a:r>
              <a:rPr sz="850">
                <a:solidFill>
                  <a:srgbClr val="009DDD"/>
                </a:solidFill>
                <a:latin typeface="Assistant"/>
              </a:rPr>
              <a:t>●  </a:t>
            </a:r>
            <a:r>
              <a:rPr sz="1350">
                <a:solidFill>
                  <a:srgbClr val="333333"/>
                </a:solidFill>
                <a:latin typeface="Assistant"/>
              </a:rPr>
              <a:t>Have one command that goes from raw data to every figure and number in the paper.</a:t>
            </a:r>
          </a:p>
          <a:p>
            <a:pPr>
              <a:lnSpc>
                <a:spcPct val="97000"/>
              </a:lnSpc>
              <a:spcAft>
                <a:spcPts val="900"/>
              </a:spcAft>
            </a:pPr>
            <a:r>
              <a:rPr sz="850">
                <a:solidFill>
                  <a:srgbClr val="009DDD"/>
                </a:solidFill>
                <a:latin typeface="Assistant"/>
              </a:rPr>
              <a:t>●  </a:t>
            </a:r>
            <a:r>
              <a:rPr sz="1350">
                <a:solidFill>
                  <a:srgbClr val="333333"/>
                </a:solidFill>
                <a:latin typeface="Assistant"/>
              </a:rPr>
              <a:t>Set your random seeds explicitly, and record them with the result.</a:t>
            </a:r>
          </a:p>
          <a:p>
            <a:pPr>
              <a:lnSpc>
                <a:spcPct val="97000"/>
              </a:lnSpc>
              <a:spcAft>
                <a:spcPts val="900"/>
              </a:spcAft>
            </a:pPr>
            <a:r>
              <a:rPr sz="850">
                <a:solidFill>
                  <a:srgbClr val="009DDD"/>
                </a:solidFill>
                <a:latin typeface="Assistant"/>
              </a:rPr>
              <a:t>●  </a:t>
            </a:r>
            <a:r>
              <a:rPr sz="1350">
                <a:solidFill>
                  <a:srgbClr val="333333"/>
                </a:solidFill>
                <a:latin typeface="Assistant"/>
              </a:rPr>
              <a:t>Prefer scripts for the final pipeline; notebooks are excellent for exploration and poor as a pipeline.</a:t>
            </a:r>
          </a:p>
          <a:p>
            <a:pPr>
              <a:lnSpc>
                <a:spcPct val="97000"/>
              </a:lnSpc>
              <a:spcAft>
                <a:spcPts val="900"/>
              </a:spcAft>
            </a:pPr>
            <a:r>
              <a:rPr sz="850">
                <a:solidFill>
                  <a:srgbClr val="009DDD"/>
                </a:solidFill>
                <a:latin typeface="Assistant"/>
              </a:rPr>
              <a:t>●  </a:t>
            </a:r>
            <a:r>
              <a:rPr sz="1350">
                <a:solidFill>
                  <a:srgbClr val="333333"/>
                </a:solidFill>
                <a:latin typeface="Assistant"/>
              </a:rPr>
              <a:t>Use a workflow tool (Make, Snakemake, targets) when the order of steps matters — which is always.</a:t>
            </a:r>
          </a:p>
          <a:p>
            <a:pPr>
              <a:lnSpc>
                <a:spcPct val="97000"/>
              </a:lnSpc>
              <a:spcAft>
                <a:spcPts val="900"/>
              </a:spcAft>
            </a:pPr>
            <a:r>
              <a:rPr sz="850">
                <a:solidFill>
                  <a:srgbClr val="009DDD"/>
                </a:solidFill>
                <a:latin typeface="Assistant"/>
              </a:rPr>
              <a:t>●  </a:t>
            </a:r>
            <a:r>
              <a:rPr sz="1350">
                <a:solidFill>
                  <a:srgbClr val="333333"/>
                </a:solidFill>
                <a:latin typeface="Assistant"/>
              </a:rPr>
              <a:t>Version your data: a DOI, a checksum, or at least a file recording where it came from and when.</a:t>
            </a:r>
          </a:p>
          <a:p>
            <a:pPr>
              <a:lnSpc>
                <a:spcPct val="97000"/>
              </a:lnSpc>
              <a:spcAft>
                <a:spcPts val="900"/>
              </a:spcAft>
            </a:pPr>
            <a:r>
              <a:rPr sz="850">
                <a:solidFill>
                  <a:srgbClr val="009DDD"/>
                </a:solidFill>
                <a:latin typeface="Assistant"/>
              </a:rPr>
              <a:t>●  </a:t>
            </a:r>
            <a:r>
              <a:rPr sz="1350">
                <a:solidFill>
                  <a:srgbClr val="333333"/>
                </a:solidFill>
                <a:latin typeface="Assistant"/>
              </a:rPr>
              <a:t>Publish the data in a repository rather than in the code repository, and link to it. If you cannot share it, ship dummy data with the same structure so the code still runs.</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31 / 41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THE WHOLE OF THE COLLABORATION ACT, CONDENSED</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Collaborating: branches, pull requests and code review</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58368" y="1536192"/>
            <a:ext cx="10872216" cy="4023360"/>
          </a:xfrm>
          <a:prstGeom prst="rect">
            <a:avLst/>
          </a:prstGeom>
          <a:noFill/>
        </p:spPr>
        <p:txBody>
          <a:bodyPr wrap="square" anchor="t" lIns="0" rIns="0" tIns="0" bIns="0">
            <a:spAutoFit/>
          </a:bodyPr>
          <a:lstStyle/>
          <a:p>
            <a:pPr>
              <a:lnSpc>
                <a:spcPct val="97000"/>
              </a:lnSpc>
              <a:spcAft>
                <a:spcPts val="800"/>
              </a:spcAft>
            </a:pPr>
            <a:r>
              <a:rPr sz="800">
                <a:solidFill>
                  <a:srgbClr val="009DDD"/>
                </a:solidFill>
                <a:latin typeface="Assistant"/>
              </a:rPr>
              <a:t>●  </a:t>
            </a:r>
            <a:r>
              <a:rPr sz="1300">
                <a:solidFill>
                  <a:srgbClr val="333333"/>
                </a:solidFill>
                <a:latin typeface="Assistant"/>
              </a:rPr>
              <a:t>A branch is an independent line of development. Create one for each piece of work: git switch -c add-tests. Keep main always working.</a:t>
            </a:r>
          </a:p>
          <a:p>
            <a:pPr>
              <a:lnSpc>
                <a:spcPct val="97000"/>
              </a:lnSpc>
              <a:spcAft>
                <a:spcPts val="800"/>
              </a:spcAft>
            </a:pPr>
            <a:r>
              <a:rPr sz="800">
                <a:solidFill>
                  <a:srgbClr val="009DDD"/>
                </a:solidFill>
                <a:latin typeface="Assistant"/>
              </a:rPr>
              <a:t>●  </a:t>
            </a:r>
            <a:r>
              <a:rPr sz="1300">
                <a:solidFill>
                  <a:srgbClr val="333333"/>
                </a:solidFill>
                <a:latin typeface="Assistant"/>
              </a:rPr>
              <a:t>The centralized workflow, for internal collaborators: open an issue, branch, commit and push, open a pull request that says “Closes #1”, get a review, address the comments, merge.</a:t>
            </a:r>
          </a:p>
          <a:p>
            <a:pPr>
              <a:lnSpc>
                <a:spcPct val="97000"/>
              </a:lnSpc>
              <a:spcAft>
                <a:spcPts val="800"/>
              </a:spcAft>
            </a:pPr>
            <a:r>
              <a:rPr sz="800">
                <a:solidFill>
                  <a:srgbClr val="009DDD"/>
                </a:solidFill>
                <a:latin typeface="Assistant"/>
              </a:rPr>
              <a:t>●  </a:t>
            </a:r>
            <a:r>
              <a:rPr sz="1300">
                <a:solidFill>
                  <a:srgbClr val="333333"/>
                </a:solidFill>
                <a:latin typeface="Assistant"/>
              </a:rPr>
              <a:t>For anyone outside your group, use the fork flow instead: fork, clone your fork, branch, push to the fork, and open a pull request upstream.</a:t>
            </a:r>
          </a:p>
          <a:p>
            <a:pPr>
              <a:lnSpc>
                <a:spcPct val="97000"/>
              </a:lnSpc>
              <a:spcAft>
                <a:spcPts val="800"/>
              </a:spcAft>
            </a:pPr>
            <a:r>
              <a:rPr sz="800">
                <a:solidFill>
                  <a:srgbClr val="009DDD"/>
                </a:solidFill>
                <a:latin typeface="Assistant"/>
              </a:rPr>
              <a:t>●  </a:t>
            </a:r>
            <a:r>
              <a:rPr sz="1300">
                <a:solidFill>
                  <a:srgbClr val="333333"/>
                </a:solidFill>
                <a:latin typeface="Assistant"/>
              </a:rPr>
              <a:t>Code review: review the diff, not the person. Ask questions rather than issuing verdicts, be specific, and say what is good as well as what is wrong.</a:t>
            </a:r>
          </a:p>
          <a:p>
            <a:pPr>
              <a:lnSpc>
                <a:spcPct val="97000"/>
              </a:lnSpc>
              <a:spcAft>
                <a:spcPts val="800"/>
              </a:spcAft>
            </a:pPr>
            <a:r>
              <a:rPr sz="800">
                <a:solidFill>
                  <a:srgbClr val="009DDD"/>
                </a:solidFill>
                <a:latin typeface="Assistant"/>
              </a:rPr>
              <a:t>●  </a:t>
            </a:r>
            <a:r>
              <a:rPr sz="1300">
                <a:solidFill>
                  <a:srgbClr val="333333"/>
                </a:solidFill>
                <a:latin typeface="Assistant"/>
              </a:rPr>
              <a:t>Review small changes. A thousand-line pull request gets a rubber stamp, which is what small commits and branches buy you.</a:t>
            </a:r>
          </a:p>
          <a:p>
            <a:pPr>
              <a:lnSpc>
                <a:spcPct val="97000"/>
              </a:lnSpc>
              <a:spcAft>
                <a:spcPts val="800"/>
              </a:spcAft>
            </a:pPr>
            <a:r>
              <a:rPr sz="800">
                <a:solidFill>
                  <a:srgbClr val="009DDD"/>
                </a:solidFill>
                <a:latin typeface="Assistant"/>
              </a:rPr>
              <a:t>●  </a:t>
            </a:r>
            <a:r>
              <a:rPr sz="1300">
                <a:solidFill>
                  <a:srgbClr val="333333"/>
                </a:solidFill>
                <a:latin typeface="Assistant"/>
              </a:rPr>
              <a:t>For AI-assisted changes the same checklist applies, with extra attention to scope creep and security.</a:t>
            </a:r>
          </a:p>
          <a:p>
            <a:pPr>
              <a:lnSpc>
                <a:spcPct val="97000"/>
              </a:lnSpc>
              <a:spcAft>
                <a:spcPts val="800"/>
              </a:spcAft>
            </a:pPr>
            <a:r>
              <a:rPr sz="800">
                <a:solidFill>
                  <a:srgbClr val="009DDD"/>
                </a:solidFill>
                <a:latin typeface="Assistant"/>
              </a:rPr>
              <a:t>●  </a:t>
            </a:r>
            <a:r>
              <a:rPr sz="1300">
                <a:solidFill>
                  <a:srgbClr val="333333"/>
                </a:solidFill>
                <a:latin typeface="Assistant"/>
              </a:rPr>
              <a:t>This is the practice that makes the review checklist from Part 3 enforceable rather than aspirational.</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32 / 41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CUT FROM PART 1</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Licence it, cite it, get a DOI</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58368" y="1536192"/>
            <a:ext cx="10872216" cy="4023360"/>
          </a:xfrm>
          <a:prstGeom prst="rect">
            <a:avLst/>
          </a:prstGeom>
          <a:noFill/>
        </p:spPr>
        <p:txBody>
          <a:bodyPr wrap="square" anchor="t" lIns="0" rIns="0" tIns="0" bIns="0">
            <a:spAutoFit/>
          </a:bodyPr>
          <a:lstStyle/>
          <a:p>
            <a:pPr>
              <a:lnSpc>
                <a:spcPct val="97000"/>
              </a:lnSpc>
              <a:spcAft>
                <a:spcPts val="800"/>
              </a:spcAft>
            </a:pPr>
            <a:r>
              <a:rPr sz="800">
                <a:solidFill>
                  <a:srgbClr val="009DDD"/>
                </a:solidFill>
                <a:latin typeface="Assistant"/>
              </a:rPr>
              <a:t>●  </a:t>
            </a:r>
            <a:r>
              <a:rPr sz="1300">
                <a:solidFill>
                  <a:srgbClr val="333333"/>
                </a:solidFill>
                <a:latin typeface="Assistant"/>
              </a:rPr>
              <a:t>A licence is essential so that others can reuse and adapt your work. Without one, the default is all rights reserved and nobody may legally use it — not even your own field.</a:t>
            </a:r>
          </a:p>
          <a:p>
            <a:pPr>
              <a:lnSpc>
                <a:spcPct val="97000"/>
              </a:lnSpc>
              <a:spcAft>
                <a:spcPts val="800"/>
              </a:spcAft>
            </a:pPr>
            <a:r>
              <a:rPr sz="800">
                <a:solidFill>
                  <a:srgbClr val="009DDD"/>
                </a:solidFill>
                <a:latin typeface="Assistant"/>
              </a:rPr>
              <a:t>●  </a:t>
            </a:r>
            <a:r>
              <a:rPr sz="1300">
                <a:solidFill>
                  <a:srgbClr val="333333"/>
                </a:solidFill>
                <a:latin typeface="Assistant"/>
              </a:rPr>
              <a:t>choosealicense.com helps you pick. A common permissive choice is the Apache License 2.0; check what your institution recommends.</a:t>
            </a:r>
          </a:p>
          <a:p>
            <a:pPr>
              <a:lnSpc>
                <a:spcPct val="97000"/>
              </a:lnSpc>
              <a:spcAft>
                <a:spcPts val="800"/>
              </a:spcAft>
            </a:pPr>
            <a:r>
              <a:rPr sz="800">
                <a:solidFill>
                  <a:srgbClr val="009DDD"/>
                </a:solidFill>
                <a:latin typeface="Assistant"/>
              </a:rPr>
              <a:t>●  </a:t>
            </a:r>
            <a:r>
              <a:rPr sz="1300">
                <a:solidFill>
                  <a:srgbClr val="333333"/>
                </a:solidFill>
                <a:latin typeface="Assistant"/>
              </a:rPr>
              <a:t>Add a CITATION.cff so people can cite the software, and link your repository to Zenodo so each release gets its own DOI.</a:t>
            </a:r>
          </a:p>
          <a:p>
            <a:pPr>
              <a:lnSpc>
                <a:spcPct val="97000"/>
              </a:lnSpc>
              <a:spcAft>
                <a:spcPts val="800"/>
              </a:spcAft>
            </a:pPr>
            <a:r>
              <a:rPr sz="800">
                <a:solidFill>
                  <a:srgbClr val="009DDD"/>
                </a:solidFill>
                <a:latin typeface="Assistant"/>
              </a:rPr>
              <a:t>●  </a:t>
            </a:r>
            <a:r>
              <a:rPr sz="1300">
                <a:solidFill>
                  <a:srgbClr val="333333"/>
                </a:solidFill>
                <a:latin typeface="Assistant"/>
              </a:rPr>
              <a:t>A DOI prevents link rot and makes the exact version you used retrievable — which is what reproducibility actually requires. A repository URL is not a citation.</a:t>
            </a:r>
          </a:p>
          <a:p>
            <a:pPr>
              <a:lnSpc>
                <a:spcPct val="97000"/>
              </a:lnSpc>
              <a:spcAft>
                <a:spcPts val="800"/>
              </a:spcAft>
            </a:pPr>
            <a:r>
              <a:rPr sz="800">
                <a:solidFill>
                  <a:srgbClr val="009DDD"/>
                </a:solidFill>
                <a:latin typeface="Assistant"/>
              </a:rPr>
              <a:t>●  </a:t>
            </a:r>
            <a:r>
              <a:rPr sz="1300">
                <a:solidFill>
                  <a:srgbClr val="333333"/>
                </a:solidFill>
                <a:latin typeface="Assistant"/>
              </a:rPr>
              <a:t>Data needs a licence too, usually CC-BY or CC0, and it needs a repository: that is what gives it a DOI and keeps it findable.</a:t>
            </a:r>
          </a:p>
          <a:p>
            <a:pPr>
              <a:lnSpc>
                <a:spcPct val="97000"/>
              </a:lnSpc>
              <a:spcAft>
                <a:spcPts val="800"/>
              </a:spcAft>
            </a:pPr>
            <a:r>
              <a:rPr sz="800">
                <a:solidFill>
                  <a:srgbClr val="009DDD"/>
                </a:solidFill>
                <a:latin typeface="Assistant"/>
              </a:rPr>
              <a:t>●  </a:t>
            </a:r>
            <a:r>
              <a:rPr sz="1300">
                <a:solidFill>
                  <a:srgbClr val="333333"/>
                </a:solidFill>
                <a:latin typeface="Assistant"/>
              </a:rPr>
              <a:t>FAIR software (fair-software.eu, fairsoftwarechecklist.net) is a checklist of the things above, not a standard you pass or fail.</a:t>
            </a:r>
          </a:p>
          <a:p>
            <a:pPr>
              <a:lnSpc>
                <a:spcPct val="97000"/>
              </a:lnSpc>
              <a:spcAft>
                <a:spcPts val="800"/>
              </a:spcAft>
            </a:pPr>
            <a:r>
              <a:rPr sz="800">
                <a:solidFill>
                  <a:srgbClr val="009DDD"/>
                </a:solidFill>
                <a:latin typeface="Assistant"/>
              </a:rPr>
              <a:t>●  </a:t>
            </a:r>
            <a:r>
              <a:rPr sz="1300">
                <a:solidFill>
                  <a:srgbClr val="333333"/>
                </a:solidFill>
                <a:latin typeface="Assistant"/>
              </a:rPr>
              <a:t>Check your dependencies' licences as well: they constrain what you may do with your own project.</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33 / 41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CUT FROM PART 2</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Context awareness: what the assistant actually sees</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900"/>
              </a:spcAft>
            </a:pPr>
            <a:r>
              <a:rPr sz="850">
                <a:solidFill>
                  <a:srgbClr val="009DDD"/>
                </a:solidFill>
                <a:latin typeface="Assistant"/>
              </a:rPr>
              <a:t>●  </a:t>
            </a:r>
            <a:r>
              <a:rPr sz="1350">
                <a:solidFill>
                  <a:srgbClr val="333333"/>
                </a:solidFill>
                <a:latin typeface="Assistant"/>
              </a:rPr>
              <a:t>Rather than fine-tuning a model on your codebase, assistants use retrieval-augmented generation to fetch relevant snippets on demand.</a:t>
            </a:r>
          </a:p>
          <a:p>
            <a:pPr>
              <a:lnSpc>
                <a:spcPct val="97000"/>
              </a:lnSpc>
              <a:spcAft>
                <a:spcPts val="900"/>
              </a:spcAft>
            </a:pPr>
            <a:r>
              <a:rPr sz="850">
                <a:solidFill>
                  <a:srgbClr val="009DDD"/>
                </a:solidFill>
                <a:latin typeface="Assistant"/>
              </a:rPr>
              <a:t>●  </a:t>
            </a:r>
            <a:r>
              <a:rPr sz="1350">
                <a:solidFill>
                  <a:srgbClr val="333333"/>
                </a:solidFill>
                <a:latin typeface="Assistant"/>
              </a:rPr>
              <a:t>Default context: the current file, other open files, and an index of your local repository, including files you do not have open.</a:t>
            </a:r>
          </a:p>
          <a:p>
            <a:pPr>
              <a:lnSpc>
                <a:spcPct val="97000"/>
              </a:lnSpc>
              <a:spcAft>
                <a:spcPts val="900"/>
              </a:spcAft>
            </a:pPr>
            <a:r>
              <a:rPr sz="850">
                <a:solidFill>
                  <a:srgbClr val="009DDD"/>
                </a:solidFill>
                <a:latin typeface="Assistant"/>
              </a:rPr>
              <a:t>●  </a:t>
            </a:r>
            <a:r>
              <a:rPr sz="1350">
                <a:solidFill>
                  <a:srgbClr val="333333"/>
                </a:solidFill>
                <a:latin typeface="Assistant"/>
              </a:rPr>
              <a:t>Context pinning lets you attach files, directories or specific functions for persistent reference. Pin sparingly — too much dilutes relevance and slows the tool down.</a:t>
            </a:r>
          </a:p>
          <a:p>
            <a:pPr>
              <a:lnSpc>
                <a:spcPct val="97000"/>
              </a:lnSpc>
              <a:spcAft>
                <a:spcPts val="900"/>
              </a:spcAft>
            </a:pPr>
            <a:r>
              <a:rPr sz="850">
                <a:solidFill>
                  <a:srgbClr val="009DDD"/>
                </a:solidFill>
                <a:latin typeface="Assistant"/>
              </a:rPr>
              <a:t>●  </a:t>
            </a:r>
            <a:r>
              <a:rPr sz="1350">
                <a:solidFill>
                  <a:srgbClr val="333333"/>
                </a:solidFill>
                <a:latin typeface="Assistant"/>
              </a:rPr>
              <a:t>Sensible things to pin: module definitions, internal framework examples, interface files, and the test file for the class you are testing.</a:t>
            </a:r>
          </a:p>
          <a:p>
            <a:pPr>
              <a:lnSpc>
                <a:spcPct val="97000"/>
              </a:lnSpc>
              <a:spcAft>
                <a:spcPts val="900"/>
              </a:spcAft>
            </a:pPr>
            <a:r>
              <a:rPr sz="850">
                <a:solidFill>
                  <a:srgbClr val="009DDD"/>
                </a:solidFill>
                <a:latin typeface="Assistant"/>
              </a:rPr>
              <a:t>●  </a:t>
            </a:r>
            <a:r>
              <a:rPr sz="1350">
                <a:solidFill>
                  <a:srgbClr val="333333"/>
                </a:solidFill>
                <a:latin typeface="Assistant"/>
              </a:rPr>
              <a:t>The reproducibility consequence: what you get back depends on what was open and pinned at the time, and that state is invisible in the committed code.</a:t>
            </a:r>
          </a:p>
          <a:p>
            <a:pPr>
              <a:lnSpc>
                <a:spcPct val="97000"/>
              </a:lnSpc>
              <a:spcAft>
                <a:spcPts val="900"/>
              </a:spcAft>
            </a:pPr>
            <a:r>
              <a:rPr sz="850">
                <a:solidFill>
                  <a:srgbClr val="009DDD"/>
                </a:solidFill>
                <a:latin typeface="Assistant"/>
              </a:rPr>
              <a:t>●  </a:t>
            </a:r>
            <a:r>
              <a:rPr sz="1350">
                <a:solidFill>
                  <a:srgbClr val="333333"/>
                </a:solidFill>
                <a:latin typeface="Assistant"/>
              </a:rPr>
              <a:t>Which is why provenance matters: record the model, the version and the prompt alongside the result.</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34 / 41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CUT FROM PART 2</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Optimise, then prove equivalence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94944" y="1536192"/>
            <a:ext cx="5257800" cy="274320"/>
          </a:xfrm>
          <a:prstGeom prst="rect">
            <a:avLst/>
          </a:prstGeom>
          <a:noFill/>
        </p:spPr>
        <p:txBody>
          <a:bodyPr wrap="square" anchor="t" lIns="0" rIns="0" tIns="0" bIns="0">
            <a:spAutoFit/>
          </a:bodyPr>
          <a:lstStyle/>
          <a:p>
            <a:pPr algn="l"/>
            <a:r>
              <a:rPr sz="1100" b="1" i="0">
                <a:solidFill>
                  <a:srgbClr val="9A6600"/>
                </a:solidFill>
                <a:latin typeface="Assistant"/>
              </a:rPr>
              <a:t>ROW-WISE LOOP</a:t>
            </a:r>
          </a:p>
        </p:txBody>
      </p:sp>
      <p:sp>
        <p:nvSpPr>
          <p:cNvPr id="8" name="Rounded Rectangle 7"/>
          <p:cNvSpPr/>
          <p:nvPr/>
        </p:nvSpPr>
        <p:spPr>
          <a:xfrm>
            <a:off x="658368" y="1883664"/>
            <a:ext cx="5257800" cy="2834640"/>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 y="2057400"/>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1560" y="2057400"/>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43584" y="2057400"/>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304288"/>
            <a:ext cx="4800600" cy="2267712"/>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avg_int</a:t>
            </a:r>
            <a:r>
              <a:rPr sz="1150">
                <a:solidFill>
                  <a:srgbClr val="F2ECF2"/>
                </a:solidFill>
                <a:latin typeface="Consolas"/>
              </a:rPr>
              <a:t> = []</a:t>
            </a:r>
          </a:p>
          <a:p>
            <a:pPr>
              <a:lnSpc>
                <a:spcPct val="100000"/>
              </a:lnSpc>
              <a:spcAft>
                <a:spcPts val="0"/>
              </a:spcAft>
            </a:pPr>
            <a:r>
              <a:rPr sz="1150" b="1">
                <a:solidFill>
                  <a:srgbClr val="009DDD"/>
                </a:solidFill>
                <a:latin typeface="Consolas"/>
              </a:rPr>
              <a:t>for</a:t>
            </a:r>
            <a:r>
              <a:rPr sz="1150">
                <a:solidFill>
                  <a:srgbClr val="F2ECF2"/>
                </a:solidFill>
                <a:latin typeface="Consolas"/>
              </a:rPr>
              <a:t> i in range(df.shape[0]):</a:t>
            </a:r>
          </a:p>
          <a:p>
            <a:pPr>
              <a:lnSpc>
                <a:spcPct val="100000"/>
              </a:lnSpc>
              <a:spcAft>
                <a:spcPts val="0"/>
              </a:spcAft>
            </a:pPr>
            <a:r>
              <a:rPr sz="1150">
                <a:solidFill>
                  <a:srgbClr val="F2ECF2"/>
                </a:solidFill>
                <a:latin typeface="Consolas"/>
              </a:rPr>
              <a:t>    </a:t>
            </a:r>
            <a:r>
              <a:rPr sz="1150" b="0">
                <a:solidFill>
                  <a:srgbClr val="F2ECF2"/>
                </a:solidFill>
                <a:latin typeface="Consolas"/>
              </a:rPr>
              <a:t>avg_int.append</a:t>
            </a:r>
            <a:r>
              <a:rPr sz="1150">
                <a:solidFill>
                  <a:srgbClr val="F2ECF2"/>
                </a:solidFill>
                <a:latin typeface="Consolas"/>
              </a:rPr>
              <a:t>(</a:t>
            </a:r>
          </a:p>
          <a:p>
            <a:pPr>
              <a:lnSpc>
                <a:spcPct val="100000"/>
              </a:lnSpc>
              <a:spcAft>
                <a:spcPts val="0"/>
              </a:spcAft>
            </a:pPr>
            <a:r>
              <a:rPr sz="1150">
                <a:solidFill>
                  <a:srgbClr val="F2ECF2"/>
                </a:solidFill>
                <a:latin typeface="Consolas"/>
              </a:rPr>
              <a:t>        </a:t>
            </a:r>
            <a:r>
              <a:rPr sz="1150" b="0">
                <a:solidFill>
                  <a:srgbClr val="F2ECF2"/>
                </a:solidFill>
                <a:latin typeface="Consolas"/>
              </a:rPr>
              <a:t>df.iloc</a:t>
            </a:r>
            <a:r>
              <a:rPr sz="1150">
                <a:solidFill>
                  <a:srgbClr val="F2ECF2"/>
                </a:solidFill>
                <a:latin typeface="Consolas"/>
              </a:rPr>
              <a:t>[i]["Average"]</a:t>
            </a:r>
          </a:p>
          <a:p>
            <a:pPr>
              <a:lnSpc>
                <a:spcPct val="100000"/>
              </a:lnSpc>
              <a:spcAft>
                <a:spcPts val="0"/>
              </a:spcAft>
            </a:pPr>
            <a:r>
              <a:rPr sz="1150">
                <a:solidFill>
                  <a:srgbClr val="F2ECF2"/>
                </a:solidFill>
                <a:latin typeface="Consolas"/>
              </a:rPr>
              <a:t>        </a:t>
            </a:r>
            <a:r>
              <a:rPr sz="1150" b="0">
                <a:solidFill>
                  <a:srgbClr val="F2ECF2"/>
                </a:solidFill>
                <a:latin typeface="Consolas"/>
              </a:rPr>
              <a:t>- df.iloc[i]["Interpolated"]</a:t>
            </a:r>
          </a:p>
          <a:p>
            <a:pPr>
              <a:lnSpc>
                <a:spcPct val="100000"/>
              </a:lnSpc>
              <a:spcAft>
                <a:spcPts val="0"/>
              </a:spcAft>
            </a:pPr>
            <a:r>
              <a:rPr sz="1150">
                <a:solidFill>
                  <a:srgbClr val="F2ECF2"/>
                </a:solidFill>
                <a:latin typeface="Consolas"/>
              </a:rPr>
              <a:t>    </a:t>
            </a:r>
            <a:r>
              <a:rPr sz="1150" b="0">
                <a:solidFill>
                  <a:srgbClr val="F2ECF2"/>
                </a:solidFill>
                <a:latin typeface="Consolas"/>
              </a:rPr>
              <a:t>)</a:t>
            </a:r>
          </a:p>
          <a:p>
            <a:pPr>
              <a:lnSpc>
                <a:spcPct val="100000"/>
              </a:lnSpc>
              <a:spcAft>
                <a:spcPts val="0"/>
              </a:spcAft>
            </a:pPr>
          </a:p>
          <a:p>
            <a:pPr>
              <a:lnSpc>
                <a:spcPct val="100000"/>
              </a:lnSpc>
              <a:spcAft>
                <a:spcPts val="0"/>
              </a:spcAft>
            </a:pPr>
            <a:r>
              <a:rPr sz="1150" b="0">
                <a:solidFill>
                  <a:srgbClr val="F2ECF2"/>
                </a:solidFill>
                <a:latin typeface="Consolas"/>
              </a:rPr>
              <a:t>df</a:t>
            </a:r>
            <a:r>
              <a:rPr sz="1150">
                <a:solidFill>
                  <a:srgbClr val="F2ECF2"/>
                </a:solidFill>
                <a:latin typeface="Consolas"/>
              </a:rPr>
              <a:t>["Avg-Int"] = avg_int</a:t>
            </a:r>
          </a:p>
        </p:txBody>
      </p:sp>
      <p:sp>
        <p:nvSpPr>
          <p:cNvPr id="13" name="TextBox 12"/>
          <p:cNvSpPr txBox="1"/>
          <p:nvPr/>
        </p:nvSpPr>
        <p:spPr>
          <a:xfrm>
            <a:off x="6318504" y="1536192"/>
            <a:ext cx="5257800" cy="274320"/>
          </a:xfrm>
          <a:prstGeom prst="rect">
            <a:avLst/>
          </a:prstGeom>
          <a:noFill/>
        </p:spPr>
        <p:txBody>
          <a:bodyPr wrap="square" anchor="t" lIns="0" rIns="0" tIns="0" bIns="0">
            <a:spAutoFit/>
          </a:bodyPr>
          <a:lstStyle/>
          <a:p>
            <a:pPr algn="l"/>
            <a:r>
              <a:rPr sz="1100" b="1" i="0">
                <a:solidFill>
                  <a:srgbClr val="009DDD"/>
                </a:solidFill>
                <a:latin typeface="Assistant"/>
              </a:rPr>
              <a:t>VECTORISED — SAME NUMBERS</a:t>
            </a:r>
          </a:p>
        </p:txBody>
      </p:sp>
      <p:sp>
        <p:nvSpPr>
          <p:cNvPr id="14" name="Rounded Rectangle 13"/>
          <p:cNvSpPr/>
          <p:nvPr/>
        </p:nvSpPr>
        <p:spPr>
          <a:xfrm>
            <a:off x="6281928" y="1883664"/>
            <a:ext cx="5257800" cy="2834640"/>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83096" y="2057400"/>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75120" y="2057400"/>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67144" y="2057400"/>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304288"/>
            <a:ext cx="4800600" cy="2267712"/>
          </a:xfrm>
          <a:prstGeom prst="rect">
            <a:avLst/>
          </a:prstGeom>
          <a:noFill/>
        </p:spPr>
        <p:txBody>
          <a:bodyPr wrap="square" anchor="t" lIns="0" rIns="0" tIns="0" bIns="0">
            <a:spAutoFit/>
          </a:bodyPr>
          <a:lstStyle/>
          <a:p>
            <a:pPr>
              <a:lnSpc>
                <a:spcPct val="100000"/>
              </a:lnSpc>
              <a:spcAft>
                <a:spcPts val="0"/>
              </a:spcAft>
            </a:pPr>
            <a:r>
              <a:rPr sz="1150" b="0">
                <a:solidFill>
                  <a:srgbClr val="F2ECF2"/>
                </a:solidFill>
                <a:latin typeface="Consolas"/>
              </a:rPr>
              <a:t>df</a:t>
            </a:r>
            <a:r>
              <a:rPr sz="1150">
                <a:solidFill>
                  <a:srgbClr val="F2ECF2"/>
                </a:solidFill>
                <a:latin typeface="Consolas"/>
              </a:rPr>
              <a:t>["Avg-Int_opt"] = (</a:t>
            </a:r>
          </a:p>
          <a:p>
            <a:pPr>
              <a:lnSpc>
                <a:spcPct val="100000"/>
              </a:lnSpc>
              <a:spcAft>
                <a:spcPts val="0"/>
              </a:spcAft>
            </a:pPr>
            <a:r>
              <a:rPr sz="1150">
                <a:solidFill>
                  <a:srgbClr val="F2ECF2"/>
                </a:solidFill>
                <a:latin typeface="Consolas"/>
              </a:rPr>
              <a:t>    </a:t>
            </a:r>
            <a:r>
              <a:rPr sz="1150" b="0">
                <a:solidFill>
                  <a:srgbClr val="F2ECF2"/>
                </a:solidFill>
                <a:latin typeface="Consolas"/>
              </a:rPr>
              <a:t>df</a:t>
            </a:r>
            <a:r>
              <a:rPr sz="1150">
                <a:solidFill>
                  <a:srgbClr val="F2ECF2"/>
                </a:solidFill>
                <a:latin typeface="Consolas"/>
              </a:rPr>
              <a:t>["Average"] - df["Interpolated"]</a:t>
            </a:r>
          </a:p>
          <a:p>
            <a:pPr>
              <a:lnSpc>
                <a:spcPct val="100000"/>
              </a:lnSpc>
              <a:spcAft>
                <a:spcPts val="0"/>
              </a:spcAft>
            </a:pPr>
            <a:r>
              <a:rPr sz="1150" b="0">
                <a:solidFill>
                  <a:srgbClr val="F2ECF2"/>
                </a:solidFill>
                <a:latin typeface="Consolas"/>
              </a:rPr>
              <a:t>)</a:t>
            </a:r>
          </a:p>
          <a:p>
            <a:pPr>
              <a:lnSpc>
                <a:spcPct val="100000"/>
              </a:lnSpc>
              <a:spcAft>
                <a:spcPts val="0"/>
              </a:spcAft>
            </a:pPr>
          </a:p>
          <a:p>
            <a:pPr>
              <a:lnSpc>
                <a:spcPct val="100000"/>
              </a:lnSpc>
              <a:spcAft>
                <a:spcPts val="0"/>
              </a:spcAft>
            </a:pPr>
            <a:r>
              <a:rPr sz="1150" i="1">
                <a:solidFill>
                  <a:srgbClr val="BAA7BA"/>
                </a:solidFill>
                <a:latin typeface="Consolas"/>
              </a:rPr>
              <a:t># prove it, do not assume it</a:t>
            </a:r>
          </a:p>
          <a:p>
            <a:pPr>
              <a:lnSpc>
                <a:spcPct val="100000"/>
              </a:lnSpc>
              <a:spcAft>
                <a:spcPts val="0"/>
              </a:spcAft>
            </a:pPr>
            <a:r>
              <a:rPr sz="1150" b="1">
                <a:solidFill>
                  <a:srgbClr val="009DDD"/>
                </a:solidFill>
                <a:latin typeface="Consolas"/>
              </a:rPr>
              <a:t>assert</a:t>
            </a:r>
            <a:r>
              <a:rPr sz="1150">
                <a:solidFill>
                  <a:srgbClr val="F2ECF2"/>
                </a:solidFill>
                <a:latin typeface="Consolas"/>
              </a:rPr>
              <a:t> df["Avg-Int"].equals(</a:t>
            </a:r>
          </a:p>
          <a:p>
            <a:pPr>
              <a:lnSpc>
                <a:spcPct val="100000"/>
              </a:lnSpc>
              <a:spcAft>
                <a:spcPts val="0"/>
              </a:spcAft>
            </a:pPr>
            <a:r>
              <a:rPr sz="1150">
                <a:solidFill>
                  <a:srgbClr val="F2ECF2"/>
                </a:solidFill>
                <a:latin typeface="Consolas"/>
              </a:rPr>
              <a:t>    </a:t>
            </a:r>
            <a:r>
              <a:rPr sz="1150" b="0">
                <a:solidFill>
                  <a:srgbClr val="F2ECF2"/>
                </a:solidFill>
                <a:latin typeface="Consolas"/>
              </a:rPr>
              <a:t>df</a:t>
            </a:r>
            <a:r>
              <a:rPr sz="1150">
                <a:solidFill>
                  <a:srgbClr val="F2ECF2"/>
                </a:solidFill>
                <a:latin typeface="Consolas"/>
              </a:rPr>
              <a:t>["Avg-Int_opt"]</a:t>
            </a:r>
          </a:p>
          <a:p>
            <a:pPr>
              <a:lnSpc>
                <a:spcPct val="100000"/>
              </a:lnSpc>
              <a:spcAft>
                <a:spcPts val="0"/>
              </a:spcAft>
            </a:pPr>
            <a:r>
              <a:rPr sz="1150" b="0">
                <a:solidFill>
                  <a:srgbClr val="F2ECF2"/>
                </a:solidFill>
                <a:latin typeface="Consolas"/>
              </a:rPr>
              <a:t>)</a:t>
            </a:r>
          </a:p>
        </p:txBody>
      </p:sp>
      <p:sp>
        <p:nvSpPr>
          <p:cNvPr id="19" name="Rounded Rectangle 18"/>
          <p:cNvSpPr/>
          <p:nvPr/>
        </p:nvSpPr>
        <p:spPr>
          <a:xfrm>
            <a:off x="658368" y="4901184"/>
            <a:ext cx="10872216" cy="786384"/>
          </a:xfrm>
          <a:prstGeom prst="roundRect">
            <a:avLst>
              <a:gd name="adj" fmla="val 13000"/>
            </a:avLst>
          </a:prstGeom>
          <a:solidFill>
            <a:srgbClr val="FFF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056632"/>
            <a:ext cx="10360152" cy="512064"/>
          </a:xfrm>
          <a:prstGeom prst="rect">
            <a:avLst/>
          </a:prstGeom>
          <a:noFill/>
        </p:spPr>
        <p:txBody>
          <a:bodyPr wrap="square" anchor="t" lIns="0" rIns="0" tIns="0" bIns="0">
            <a:spAutoFit/>
          </a:bodyPr>
          <a:lstStyle/>
          <a:p>
            <a:pPr algn="l">
              <a:lnSpc>
                <a:spcPct val="108000"/>
              </a:lnSpc>
            </a:pPr>
            <a:r>
              <a:rPr sz="1350" b="1" i="0">
                <a:solidFill>
                  <a:srgbClr val="333333"/>
                </a:solidFill>
                <a:latin typeface="Assistant"/>
              </a:rPr>
              <a:t>Ask for the optimisation, then ask for the proof. An assistant that cannot produce a passing assertion has not finished the job.</a:t>
            </a:r>
          </a:p>
        </p:txBody>
      </p:sp>
      <p:sp>
        <p:nvSpPr>
          <p:cNvPr id="21" name="TextBox 2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22" name="TextBox 2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35 / 41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CUT FROM PART 3</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tool is non-deterministic. The result must not be.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58368" y="1536192"/>
            <a:ext cx="10872216" cy="4023360"/>
          </a:xfrm>
          <a:prstGeom prst="rect">
            <a:avLst/>
          </a:prstGeom>
          <a:noFill/>
        </p:spPr>
        <p:txBody>
          <a:bodyPr wrap="square" anchor="t" lIns="0" rIns="0" tIns="0" bIns="0">
            <a:spAutoFit/>
          </a:bodyPr>
          <a:lstStyle/>
          <a:p>
            <a:pPr>
              <a:lnSpc>
                <a:spcPct val="97000"/>
              </a:lnSpc>
              <a:spcAft>
                <a:spcPts val="800"/>
              </a:spcAft>
            </a:pPr>
            <a:r>
              <a:rPr sz="800">
                <a:solidFill>
                  <a:srgbClr val="009DDD"/>
                </a:solidFill>
                <a:latin typeface="Assistant"/>
              </a:rPr>
              <a:t>●  </a:t>
            </a:r>
            <a:r>
              <a:rPr sz="1300">
                <a:solidFill>
                  <a:srgbClr val="333333"/>
                </a:solidFill>
                <a:latin typeface="Assistant"/>
              </a:rPr>
              <a:t>Same prompt, different code. The model version changes under you. Your context changes with whichever files happen to be open. Nothing in the committed code records any of it.</a:t>
            </a:r>
          </a:p>
          <a:p>
            <a:pPr>
              <a:lnSpc>
                <a:spcPct val="97000"/>
              </a:lnSpc>
              <a:spcAft>
                <a:spcPts val="800"/>
              </a:spcAft>
            </a:pPr>
            <a:r>
              <a:rPr sz="800">
                <a:solidFill>
                  <a:srgbClr val="009DDD"/>
                </a:solidFill>
                <a:latin typeface="Assistant"/>
              </a:rPr>
              <a:t>●  </a:t>
            </a:r>
            <a:r>
              <a:rPr sz="1300">
                <a:solidFill>
                  <a:srgbClr val="333333"/>
                </a:solidFill>
                <a:latin typeface="Assistant"/>
              </a:rPr>
              <a:t>Reproducibility is not a property of the assistant. It is a property of what you commit.</a:t>
            </a:r>
          </a:p>
          <a:p>
            <a:pPr>
              <a:lnSpc>
                <a:spcPct val="97000"/>
              </a:lnSpc>
              <a:spcAft>
                <a:spcPts val="800"/>
              </a:spcAft>
            </a:pPr>
            <a:r>
              <a:rPr sz="800">
                <a:solidFill>
                  <a:srgbClr val="009DDD"/>
                </a:solidFill>
                <a:latin typeface="Assistant"/>
              </a:rPr>
              <a:t>●  </a:t>
            </a:r>
            <a:r>
              <a:rPr sz="1300">
                <a:solidFill>
                  <a:srgbClr val="333333"/>
                </a:solidFill>
                <a:latin typeface="Assistant"/>
              </a:rPr>
              <a:t>So record provenance for anything that matters: the model, its version, the date, and the prompt that produced it.</a:t>
            </a:r>
          </a:p>
          <a:p>
            <a:pPr>
              <a:lnSpc>
                <a:spcPct val="97000"/>
              </a:lnSpc>
              <a:spcAft>
                <a:spcPts val="800"/>
              </a:spcAft>
            </a:pPr>
            <a:r>
              <a:rPr sz="800">
                <a:solidFill>
                  <a:srgbClr val="009DDD"/>
                </a:solidFill>
                <a:latin typeface="Assistant"/>
              </a:rPr>
              <a:t>●  </a:t>
            </a:r>
            <a:r>
              <a:rPr sz="1300">
                <a:solidFill>
                  <a:srgbClr val="333333"/>
                </a:solidFill>
                <a:latin typeface="Assistant"/>
              </a:rPr>
              <a:t>Keep the prompts in the repository, beside the code they produced. Commit the code, not the conversation — chat history is not documentation.</a:t>
            </a:r>
          </a:p>
          <a:p>
            <a:pPr>
              <a:lnSpc>
                <a:spcPct val="97000"/>
              </a:lnSpc>
              <a:spcAft>
                <a:spcPts val="800"/>
              </a:spcAft>
            </a:pPr>
            <a:r>
              <a:rPr sz="800">
                <a:solidFill>
                  <a:srgbClr val="009DDD"/>
                </a:solidFill>
                <a:latin typeface="Assistant"/>
              </a:rPr>
              <a:t>●  </a:t>
            </a:r>
            <a:r>
              <a:rPr sz="1300">
                <a:solidFill>
                  <a:srgbClr val="333333"/>
                </a:solidFill>
                <a:latin typeface="Assistant"/>
              </a:rPr>
              <a:t>Re-run and re-verify. Do not trust a green result from a session you no longer have.</a:t>
            </a:r>
          </a:p>
          <a:p>
            <a:pPr>
              <a:lnSpc>
                <a:spcPct val="97000"/>
              </a:lnSpc>
              <a:spcAft>
                <a:spcPts val="800"/>
              </a:spcAft>
            </a:pPr>
            <a:r>
              <a:rPr sz="800">
                <a:solidFill>
                  <a:srgbClr val="009DDD"/>
                </a:solidFill>
                <a:latin typeface="Assistant"/>
              </a:rPr>
              <a:t>●  </a:t>
            </a:r>
            <a:r>
              <a:rPr sz="1300">
                <a:solidFill>
                  <a:srgbClr val="333333"/>
                </a:solidFill>
                <a:latin typeface="Assistant"/>
              </a:rPr>
              <a:t>For publications, describe the tool and version in the methods section, just as you would describe any other instrument.</a:t>
            </a:r>
          </a:p>
          <a:p>
            <a:pPr>
              <a:lnSpc>
                <a:spcPct val="97000"/>
              </a:lnSpc>
              <a:spcAft>
                <a:spcPts val="800"/>
              </a:spcAft>
            </a:pPr>
            <a:r>
              <a:rPr sz="800">
                <a:solidFill>
                  <a:srgbClr val="009DDD"/>
                </a:solidFill>
                <a:latin typeface="Assistant"/>
              </a:rPr>
              <a:t>●  </a:t>
            </a:r>
            <a:r>
              <a:rPr sz="1300">
                <a:solidFill>
                  <a:srgbClr val="333333"/>
                </a:solidFill>
                <a:latin typeface="Assistant"/>
              </a:rPr>
              <a:t>If your institution has a disclosure policy, follow it — and if it does not have one, that is a good reason to write it.</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36 /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CUT FROM PART 3</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guardrails, in the order they pay off</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Rounded Rectangle 6"/>
          <p:cNvSpPr/>
          <p:nvPr/>
        </p:nvSpPr>
        <p:spPr>
          <a:xfrm>
            <a:off x="658368"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Validate before you trust</a:t>
            </a:r>
          </a:p>
        </p:txBody>
      </p:sp>
      <p:sp>
        <p:nvSpPr>
          <p:cNvPr id="10" name="TextBox 9"/>
          <p:cNvSpPr txBox="1"/>
          <p:nvPr/>
        </p:nvSpPr>
        <p:spPr>
          <a:xfrm>
            <a:off x="859536"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Rigorous tests, CI, and scanners in the pipeline.</a:t>
            </a:r>
          </a:p>
          <a:p>
            <a:pPr>
              <a:lnSpc>
                <a:spcPct val="96000"/>
              </a:lnSpc>
              <a:spcAft>
                <a:spcPts val="400"/>
              </a:spcAft>
            </a:pPr>
            <a:r>
              <a:rPr sz="900">
                <a:solidFill>
                  <a:srgbClr val="009DDD"/>
                </a:solidFill>
                <a:latin typeface="Assistant"/>
              </a:rPr>
              <a:t>–  </a:t>
            </a:r>
            <a:r>
              <a:rPr sz="1200">
                <a:solidFill>
                  <a:srgbClr val="5F6B76"/>
                </a:solidFill>
                <a:latin typeface="Assistant"/>
              </a:rPr>
              <a:t>Break a test once to prove it has teeth.</a:t>
            </a:r>
          </a:p>
        </p:txBody>
      </p:sp>
      <p:sp>
        <p:nvSpPr>
          <p:cNvPr id="11" name="Rounded Rectangle 10"/>
          <p:cNvSpPr/>
          <p:nvPr/>
        </p:nvSpPr>
        <p:spPr>
          <a:xfrm>
            <a:off x="4355592"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5592"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Review collectively</a:t>
            </a:r>
          </a:p>
        </p:txBody>
      </p:sp>
      <p:sp>
        <p:nvSpPr>
          <p:cNvPr id="14" name="TextBox 13"/>
          <p:cNvSpPr txBox="1"/>
          <p:nvPr/>
        </p:nvSpPr>
        <p:spPr>
          <a:xfrm>
            <a:off x="4556760"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One reviewer catches what one author misses.</a:t>
            </a:r>
          </a:p>
          <a:p>
            <a:pPr>
              <a:lnSpc>
                <a:spcPct val="96000"/>
              </a:lnSpc>
              <a:spcAft>
                <a:spcPts val="400"/>
              </a:spcAft>
            </a:pPr>
            <a:r>
              <a:rPr sz="900">
                <a:solidFill>
                  <a:srgbClr val="009DDD"/>
                </a:solidFill>
                <a:latin typeface="Assistant"/>
              </a:rPr>
              <a:t>–  </a:t>
            </a:r>
            <a:r>
              <a:rPr sz="1200">
                <a:solidFill>
                  <a:srgbClr val="5F6B76"/>
                </a:solidFill>
                <a:latin typeface="Assistant"/>
              </a:rPr>
              <a:t>Open a pull request, even in a team of two.</a:t>
            </a:r>
          </a:p>
        </p:txBody>
      </p:sp>
      <p:sp>
        <p:nvSpPr>
          <p:cNvPr id="15" name="Rounded Rectangle 14"/>
          <p:cNvSpPr/>
          <p:nvPr/>
        </p:nvSpPr>
        <p:spPr>
          <a:xfrm>
            <a:off x="8052816"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4"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Protect the data</a:t>
            </a:r>
          </a:p>
        </p:txBody>
      </p:sp>
      <p:sp>
        <p:nvSpPr>
          <p:cNvPr id="18" name="TextBox 17"/>
          <p:cNvSpPr txBox="1"/>
          <p:nvPr/>
        </p:nvSpPr>
        <p:spPr>
          <a:xfrm>
            <a:off x="8253984"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Classify first; never paste secrets or participant data;</a:t>
            </a:r>
          </a:p>
          <a:p>
            <a:pPr>
              <a:lnSpc>
                <a:spcPct val="96000"/>
              </a:lnSpc>
              <a:spcAft>
                <a:spcPts val="400"/>
              </a:spcAft>
            </a:pPr>
            <a:r>
              <a:rPr sz="900">
                <a:solidFill>
                  <a:srgbClr val="009DDD"/>
                </a:solidFill>
                <a:latin typeface="Assistant"/>
              </a:rPr>
              <a:t>–  </a:t>
            </a:r>
            <a:r>
              <a:rPr sz="1200">
                <a:solidFill>
                  <a:srgbClr val="5F6B76"/>
                </a:solidFill>
                <a:latin typeface="Assistant"/>
              </a:rPr>
              <a:t>use offline or local models for sensitive work.</a:t>
            </a:r>
          </a:p>
        </p:txBody>
      </p:sp>
      <p:sp>
        <p:nvSpPr>
          <p:cNvPr id="19" name="Rounded Rectangle 18"/>
          <p:cNvSpPr/>
          <p:nvPr/>
        </p:nvSpPr>
        <p:spPr>
          <a:xfrm>
            <a:off x="658368"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Document the provenance</a:t>
            </a:r>
          </a:p>
        </p:txBody>
      </p:sp>
      <p:sp>
        <p:nvSpPr>
          <p:cNvPr id="22" name="TextBox 21"/>
          <p:cNvSpPr txBox="1"/>
          <p:nvPr/>
        </p:nvSpPr>
        <p:spPr>
          <a:xfrm>
            <a:off x="859536"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Commit history, prompt logs, model name and version,</a:t>
            </a:r>
          </a:p>
          <a:p>
            <a:pPr>
              <a:lnSpc>
                <a:spcPct val="96000"/>
              </a:lnSpc>
              <a:spcAft>
                <a:spcPts val="400"/>
              </a:spcAft>
            </a:pPr>
            <a:r>
              <a:rPr sz="900">
                <a:solidFill>
                  <a:srgbClr val="009DDD"/>
                </a:solidFill>
                <a:latin typeface="Assistant"/>
              </a:rPr>
              <a:t>–  </a:t>
            </a:r>
            <a:r>
              <a:rPr sz="1200">
                <a:solidFill>
                  <a:srgbClr val="5F6B76"/>
                </a:solidFill>
                <a:latin typeface="Assistant"/>
              </a:rPr>
              <a:t>so the analysis can still be described in five years.</a:t>
            </a:r>
          </a:p>
        </p:txBody>
      </p:sp>
      <p:sp>
        <p:nvSpPr>
          <p:cNvPr id="23" name="Rounded Rectangle 22"/>
          <p:cNvSpPr/>
          <p:nvPr/>
        </p:nvSpPr>
        <p:spPr>
          <a:xfrm>
            <a:off x="4355592"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55592"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6760"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Make it reusable</a:t>
            </a:r>
          </a:p>
        </p:txBody>
      </p:sp>
      <p:sp>
        <p:nvSpPr>
          <p:cNvPr id="26" name="TextBox 25"/>
          <p:cNvSpPr txBox="1"/>
          <p:nvPr/>
        </p:nvSpPr>
        <p:spPr>
          <a:xfrm>
            <a:off x="4556760"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A licence, a README, a citation file and a DOI.</a:t>
            </a:r>
          </a:p>
          <a:p>
            <a:pPr>
              <a:lnSpc>
                <a:spcPct val="96000"/>
              </a:lnSpc>
              <a:spcAft>
                <a:spcPts val="400"/>
              </a:spcAft>
            </a:pPr>
            <a:r>
              <a:rPr sz="900">
                <a:solidFill>
                  <a:srgbClr val="009DDD"/>
                </a:solidFill>
                <a:latin typeface="Assistant"/>
              </a:rPr>
              <a:t>–  </a:t>
            </a:r>
            <a:r>
              <a:rPr sz="1200">
                <a:solidFill>
                  <a:srgbClr val="5F6B76"/>
                </a:solidFill>
                <a:latin typeface="Assistant"/>
              </a:rPr>
              <a:t>That is what turns your code into a citable output.</a:t>
            </a:r>
          </a:p>
        </p:txBody>
      </p:sp>
      <p:sp>
        <p:nvSpPr>
          <p:cNvPr id="27" name="Rounded Rectangle 26"/>
          <p:cNvSpPr/>
          <p:nvPr/>
        </p:nvSpPr>
        <p:spPr>
          <a:xfrm>
            <a:off x="8052816"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3984"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Write the policy down</a:t>
            </a:r>
          </a:p>
        </p:txBody>
      </p:sp>
      <p:sp>
        <p:nvSpPr>
          <p:cNvPr id="30" name="TextBox 29"/>
          <p:cNvSpPr txBox="1"/>
          <p:nvPr/>
        </p:nvSpPr>
        <p:spPr>
          <a:xfrm>
            <a:off x="8253984"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Team rules, plus frameworks such as the ACM Code of Ethics</a:t>
            </a:r>
          </a:p>
          <a:p>
            <a:pPr>
              <a:lnSpc>
                <a:spcPct val="96000"/>
              </a:lnSpc>
              <a:spcAft>
                <a:spcPts val="400"/>
              </a:spcAft>
            </a:pPr>
            <a:r>
              <a:rPr sz="900">
                <a:solidFill>
                  <a:srgbClr val="009DDD"/>
                </a:solidFill>
                <a:latin typeface="Assistant"/>
              </a:rPr>
              <a:t>–  </a:t>
            </a:r>
            <a:r>
              <a:rPr sz="1200">
                <a:solidFill>
                  <a:srgbClr val="5F6B76"/>
                </a:solidFill>
                <a:latin typeface="Assistant"/>
              </a:rPr>
              <a:t>and the European Commission's trustworthy-AI guidelines.</a:t>
            </a:r>
          </a:p>
        </p:txBody>
      </p:sp>
      <p:sp>
        <p:nvSpPr>
          <p:cNvPr id="31" name="TextBox 3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32" name="TextBox 3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37 / 41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THE SIX PROBLEMS PEOPLE ACTUALLY HIT</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When it goes wrong: a troubleshooting guide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Rounded Rectangle 6"/>
          <p:cNvSpPr/>
          <p:nvPr/>
        </p:nvSpPr>
        <p:spPr>
          <a:xfrm>
            <a:off x="658368"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“It keeps inventing our internal functions”</a:t>
            </a:r>
          </a:p>
        </p:txBody>
      </p:sp>
      <p:sp>
        <p:nvSpPr>
          <p:cNvPr id="10" name="TextBox 9"/>
          <p:cNvSpPr txBox="1"/>
          <p:nvPr/>
        </p:nvSpPr>
        <p:spPr>
          <a:xfrm>
            <a:off x="859536" y="2084832"/>
            <a:ext cx="3075432" cy="1591056"/>
          </a:xfrm>
          <a:prstGeom prst="rect">
            <a:avLst/>
          </a:prstGeom>
          <a:noFill/>
        </p:spPr>
        <p:txBody>
          <a:bodyPr wrap="square" anchor="t" lIns="0" rIns="0" tIns="0" bIns="0">
            <a:spAutoFit/>
          </a:bodyPr>
          <a:lstStyle/>
          <a:p>
            <a:pPr>
              <a:lnSpc>
                <a:spcPct val="96000"/>
              </a:lnSpc>
              <a:spcAft>
                <a:spcPts val="400"/>
              </a:spcAft>
            </a:pPr>
            <a:r>
              <a:rPr sz="850">
                <a:solidFill>
                  <a:srgbClr val="009DDD"/>
                </a:solidFill>
                <a:latin typeface="Assistant"/>
              </a:rPr>
              <a:t>–  </a:t>
            </a:r>
            <a:r>
              <a:rPr sz="1150">
                <a:solidFill>
                  <a:srgbClr val="5F6B76"/>
                </a:solidFill>
                <a:latin typeface="Assistant"/>
              </a:rPr>
              <a:t>The model has never seen your private code.</a:t>
            </a:r>
          </a:p>
          <a:p>
            <a:pPr>
              <a:lnSpc>
                <a:spcPct val="96000"/>
              </a:lnSpc>
              <a:spcAft>
                <a:spcPts val="400"/>
              </a:spcAft>
            </a:pPr>
            <a:r>
              <a:rPr sz="850">
                <a:solidFill>
                  <a:srgbClr val="009DDD"/>
                </a:solidFill>
                <a:latin typeface="Assistant"/>
              </a:rPr>
              <a:t>–  </a:t>
            </a:r>
            <a:r>
              <a:rPr sz="1150">
                <a:solidFill>
                  <a:srgbClr val="5F6B76"/>
                </a:solidFill>
                <a:latin typeface="Assistant"/>
              </a:rPr>
              <a:t>Pin the module or a stub file, add type hints</a:t>
            </a:r>
          </a:p>
          <a:p>
            <a:pPr>
              <a:lnSpc>
                <a:spcPct val="96000"/>
              </a:lnSpc>
              <a:spcAft>
                <a:spcPts val="400"/>
              </a:spcAft>
            </a:pPr>
            <a:r>
              <a:rPr sz="850">
                <a:solidFill>
                  <a:srgbClr val="009DDD"/>
                </a:solidFill>
                <a:latin typeface="Assistant"/>
              </a:rPr>
              <a:t>–  </a:t>
            </a:r>
            <a:r>
              <a:rPr sz="1150">
                <a:solidFill>
                  <a:srgbClr val="5F6B76"/>
                </a:solidFill>
                <a:latin typeface="Assistant"/>
              </a:rPr>
              <a:t>and docstrings, and refer to it with @-mentions.</a:t>
            </a:r>
          </a:p>
        </p:txBody>
      </p:sp>
      <p:sp>
        <p:nvSpPr>
          <p:cNvPr id="11" name="Rounded Rectangle 10"/>
          <p:cNvSpPr/>
          <p:nvPr/>
        </p:nvSpPr>
        <p:spPr>
          <a:xfrm>
            <a:off x="4355592"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5592"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“It rewrote my whole file”</a:t>
            </a:r>
          </a:p>
        </p:txBody>
      </p:sp>
      <p:sp>
        <p:nvSpPr>
          <p:cNvPr id="14" name="TextBox 13"/>
          <p:cNvSpPr txBox="1"/>
          <p:nvPr/>
        </p:nvSpPr>
        <p:spPr>
          <a:xfrm>
            <a:off x="4556760" y="2084832"/>
            <a:ext cx="3075432" cy="1591056"/>
          </a:xfrm>
          <a:prstGeom prst="rect">
            <a:avLst/>
          </a:prstGeom>
          <a:noFill/>
        </p:spPr>
        <p:txBody>
          <a:bodyPr wrap="square" anchor="t" lIns="0" rIns="0" tIns="0" bIns="0">
            <a:spAutoFit/>
          </a:bodyPr>
          <a:lstStyle/>
          <a:p>
            <a:pPr>
              <a:lnSpc>
                <a:spcPct val="96000"/>
              </a:lnSpc>
              <a:spcAft>
                <a:spcPts val="400"/>
              </a:spcAft>
            </a:pPr>
            <a:r>
              <a:rPr sz="850">
                <a:solidFill>
                  <a:srgbClr val="009DDD"/>
                </a:solidFill>
                <a:latin typeface="Assistant"/>
              </a:rPr>
              <a:t>–  </a:t>
            </a:r>
            <a:r>
              <a:rPr sz="1150">
                <a:solidFill>
                  <a:srgbClr val="5F6B76"/>
                </a:solidFill>
                <a:latin typeface="Assistant"/>
              </a:rPr>
              <a:t>git restore, then work on a branch.</a:t>
            </a:r>
          </a:p>
          <a:p>
            <a:pPr>
              <a:lnSpc>
                <a:spcPct val="96000"/>
              </a:lnSpc>
              <a:spcAft>
                <a:spcPts val="400"/>
              </a:spcAft>
            </a:pPr>
            <a:r>
              <a:rPr sz="850">
                <a:solidFill>
                  <a:srgbClr val="009DDD"/>
                </a:solidFill>
                <a:latin typeface="Assistant"/>
              </a:rPr>
              <a:t>–  </a:t>
            </a:r>
            <a:r>
              <a:rPr sz="1150">
                <a:solidFill>
                  <a:srgbClr val="5F6B76"/>
                </a:solidFill>
                <a:latin typeface="Assistant"/>
              </a:rPr>
              <a:t>Select the block before you invoke Command,</a:t>
            </a:r>
          </a:p>
          <a:p>
            <a:pPr>
              <a:lnSpc>
                <a:spcPct val="96000"/>
              </a:lnSpc>
              <a:spcAft>
                <a:spcPts val="400"/>
              </a:spcAft>
            </a:pPr>
            <a:r>
              <a:rPr sz="850">
                <a:solidFill>
                  <a:srgbClr val="009DDD"/>
                </a:solidFill>
                <a:latin typeface="Assistant"/>
              </a:rPr>
              <a:t>–  </a:t>
            </a:r>
            <a:r>
              <a:rPr sz="1150">
                <a:solidFill>
                  <a:srgbClr val="5F6B76"/>
                </a:solidFill>
                <a:latin typeface="Assistant"/>
              </a:rPr>
              <a:t>and re-prompt with a narrower scope.</a:t>
            </a:r>
          </a:p>
        </p:txBody>
      </p:sp>
      <p:sp>
        <p:nvSpPr>
          <p:cNvPr id="15" name="Rounded Rectangle 14"/>
          <p:cNvSpPr/>
          <p:nvPr/>
        </p:nvSpPr>
        <p:spPr>
          <a:xfrm>
            <a:off x="8052816"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4"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“The tests pass but the number is wrong”</a:t>
            </a:r>
          </a:p>
        </p:txBody>
      </p:sp>
      <p:sp>
        <p:nvSpPr>
          <p:cNvPr id="18" name="TextBox 17"/>
          <p:cNvSpPr txBox="1"/>
          <p:nvPr/>
        </p:nvSpPr>
        <p:spPr>
          <a:xfrm>
            <a:off x="8253984" y="2084832"/>
            <a:ext cx="3075432" cy="1591056"/>
          </a:xfrm>
          <a:prstGeom prst="rect">
            <a:avLst/>
          </a:prstGeom>
          <a:noFill/>
        </p:spPr>
        <p:txBody>
          <a:bodyPr wrap="square" anchor="t" lIns="0" rIns="0" tIns="0" bIns="0">
            <a:spAutoFit/>
          </a:bodyPr>
          <a:lstStyle/>
          <a:p>
            <a:pPr>
              <a:lnSpc>
                <a:spcPct val="96000"/>
              </a:lnSpc>
              <a:spcAft>
                <a:spcPts val="400"/>
              </a:spcAft>
            </a:pPr>
            <a:r>
              <a:rPr sz="850">
                <a:solidFill>
                  <a:srgbClr val="009DDD"/>
                </a:solidFill>
                <a:latin typeface="Assistant"/>
              </a:rPr>
              <a:t>–  </a:t>
            </a:r>
            <a:r>
              <a:rPr sz="1150">
                <a:solidFill>
                  <a:srgbClr val="5F6B76"/>
                </a:solidFill>
                <a:latin typeface="Assistant"/>
              </a:rPr>
              <a:t>Passing tests only prove what you asserted.</a:t>
            </a:r>
          </a:p>
          <a:p>
            <a:pPr>
              <a:lnSpc>
                <a:spcPct val="96000"/>
              </a:lnSpc>
              <a:spcAft>
                <a:spcPts val="400"/>
              </a:spcAft>
            </a:pPr>
            <a:r>
              <a:rPr sz="850">
                <a:solidFill>
                  <a:srgbClr val="009DDD"/>
                </a:solidFill>
                <a:latin typeface="Assistant"/>
              </a:rPr>
              <a:t>–  </a:t>
            </a:r>
            <a:r>
              <a:rPr sz="1150">
                <a:solidFill>
                  <a:srgbClr val="5F6B76"/>
                </a:solidFill>
                <a:latin typeface="Assistant"/>
              </a:rPr>
              <a:t>You need a stored expected value — exactly what</a:t>
            </a:r>
          </a:p>
          <a:p>
            <a:pPr>
              <a:lnSpc>
                <a:spcPct val="96000"/>
              </a:lnSpc>
              <a:spcAft>
                <a:spcPts val="400"/>
              </a:spcAft>
            </a:pPr>
            <a:r>
              <a:rPr sz="850">
                <a:solidFill>
                  <a:srgbClr val="009DDD"/>
                </a:solidFill>
                <a:latin typeface="Assistant"/>
              </a:rPr>
              <a:t>–  </a:t>
            </a:r>
            <a:r>
              <a:rPr sz="1150">
                <a:solidFill>
                  <a:srgbClr val="5F6B76"/>
                </a:solidFill>
                <a:latin typeface="Assistant"/>
              </a:rPr>
              <a:t>you wrote in the hands-on.</a:t>
            </a:r>
          </a:p>
        </p:txBody>
      </p:sp>
      <p:sp>
        <p:nvSpPr>
          <p:cNvPr id="19" name="Rounded Rectangle 18"/>
          <p:cNvSpPr/>
          <p:nvPr/>
        </p:nvSpPr>
        <p:spPr>
          <a:xfrm>
            <a:off x="658368"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“It suggests APIs that no longer exist”</a:t>
            </a:r>
          </a:p>
        </p:txBody>
      </p:sp>
      <p:sp>
        <p:nvSpPr>
          <p:cNvPr id="22" name="TextBox 21"/>
          <p:cNvSpPr txBox="1"/>
          <p:nvPr/>
        </p:nvSpPr>
        <p:spPr>
          <a:xfrm>
            <a:off x="859536" y="4572000"/>
            <a:ext cx="3075432" cy="1591056"/>
          </a:xfrm>
          <a:prstGeom prst="rect">
            <a:avLst/>
          </a:prstGeom>
          <a:noFill/>
        </p:spPr>
        <p:txBody>
          <a:bodyPr wrap="square" anchor="t" lIns="0" rIns="0" tIns="0" bIns="0">
            <a:spAutoFit/>
          </a:bodyPr>
          <a:lstStyle/>
          <a:p>
            <a:pPr>
              <a:lnSpc>
                <a:spcPct val="96000"/>
              </a:lnSpc>
              <a:spcAft>
                <a:spcPts val="400"/>
              </a:spcAft>
            </a:pPr>
            <a:r>
              <a:rPr sz="850">
                <a:solidFill>
                  <a:srgbClr val="009DDD"/>
                </a:solidFill>
                <a:latin typeface="Assistant"/>
              </a:rPr>
              <a:t>–  </a:t>
            </a:r>
            <a:r>
              <a:rPr sz="1150">
                <a:solidFill>
                  <a:srgbClr val="5F6B76"/>
                </a:solidFill>
                <a:latin typeface="Assistant"/>
              </a:rPr>
              <a:t>Its training data has a cutoff. Pin the version</a:t>
            </a:r>
          </a:p>
          <a:p>
            <a:pPr>
              <a:lnSpc>
                <a:spcPct val="96000"/>
              </a:lnSpc>
              <a:spcAft>
                <a:spcPts val="400"/>
              </a:spcAft>
            </a:pPr>
            <a:r>
              <a:rPr sz="850">
                <a:solidFill>
                  <a:srgbClr val="009DDD"/>
                </a:solidFill>
                <a:latin typeface="Assistant"/>
              </a:rPr>
              <a:t>–  </a:t>
            </a:r>
            <a:r>
              <a:rPr sz="1150">
                <a:solidFill>
                  <a:srgbClr val="5F6B76"/>
                </a:solidFill>
                <a:latin typeface="Assistant"/>
              </a:rPr>
              <a:t>in your context and state it in the prompt:</a:t>
            </a:r>
          </a:p>
          <a:p>
            <a:pPr>
              <a:lnSpc>
                <a:spcPct val="96000"/>
              </a:lnSpc>
              <a:spcAft>
                <a:spcPts val="400"/>
              </a:spcAft>
            </a:pPr>
            <a:r>
              <a:rPr sz="850">
                <a:solidFill>
                  <a:srgbClr val="009DDD"/>
                </a:solidFill>
                <a:latin typeface="Assistant"/>
              </a:rPr>
              <a:t>–  </a:t>
            </a:r>
            <a:r>
              <a:rPr sz="1150">
                <a:solidFill>
                  <a:srgbClr val="5F6B76"/>
                </a:solidFill>
                <a:latin typeface="Assistant"/>
              </a:rPr>
              <a:t>“using pandas 2.2”.</a:t>
            </a:r>
          </a:p>
        </p:txBody>
      </p:sp>
      <p:sp>
        <p:nvSpPr>
          <p:cNvPr id="23" name="Rounded Rectangle 22"/>
          <p:cNvSpPr/>
          <p:nvPr/>
        </p:nvSpPr>
        <p:spPr>
          <a:xfrm>
            <a:off x="4355592"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55592"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6760"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“My colleague gets different output”</a:t>
            </a:r>
          </a:p>
        </p:txBody>
      </p:sp>
      <p:sp>
        <p:nvSpPr>
          <p:cNvPr id="26" name="TextBox 25"/>
          <p:cNvSpPr txBox="1"/>
          <p:nvPr/>
        </p:nvSpPr>
        <p:spPr>
          <a:xfrm>
            <a:off x="4556760" y="4572000"/>
            <a:ext cx="3075432" cy="1591056"/>
          </a:xfrm>
          <a:prstGeom prst="rect">
            <a:avLst/>
          </a:prstGeom>
          <a:noFill/>
        </p:spPr>
        <p:txBody>
          <a:bodyPr wrap="square" anchor="t" lIns="0" rIns="0" tIns="0" bIns="0">
            <a:spAutoFit/>
          </a:bodyPr>
          <a:lstStyle/>
          <a:p>
            <a:pPr>
              <a:lnSpc>
                <a:spcPct val="96000"/>
              </a:lnSpc>
              <a:spcAft>
                <a:spcPts val="400"/>
              </a:spcAft>
            </a:pPr>
            <a:r>
              <a:rPr sz="850">
                <a:solidFill>
                  <a:srgbClr val="009DDD"/>
                </a:solidFill>
                <a:latin typeface="Assistant"/>
              </a:rPr>
              <a:t>–  </a:t>
            </a:r>
            <a:r>
              <a:rPr sz="1150">
                <a:solidFill>
                  <a:srgbClr val="5F6B76"/>
                </a:solidFill>
                <a:latin typeface="Assistant"/>
              </a:rPr>
              <a:t>Same prompt, different model version or context.</a:t>
            </a:r>
          </a:p>
          <a:p>
            <a:pPr>
              <a:lnSpc>
                <a:spcPct val="96000"/>
              </a:lnSpc>
              <a:spcAft>
                <a:spcPts val="400"/>
              </a:spcAft>
            </a:pPr>
            <a:r>
              <a:rPr sz="850">
                <a:solidFill>
                  <a:srgbClr val="009DDD"/>
                </a:solidFill>
                <a:latin typeface="Assistant"/>
              </a:rPr>
              <a:t>–  </a:t>
            </a:r>
            <a:r>
              <a:rPr sz="1150">
                <a:solidFill>
                  <a:srgbClr val="5F6B76"/>
                </a:solidFill>
                <a:latin typeface="Assistant"/>
              </a:rPr>
              <a:t>Record model, version and pinned context — that</a:t>
            </a:r>
          </a:p>
          <a:p>
            <a:pPr>
              <a:lnSpc>
                <a:spcPct val="96000"/>
              </a:lnSpc>
              <a:spcAft>
                <a:spcPts val="400"/>
              </a:spcAft>
            </a:pPr>
            <a:r>
              <a:rPr sz="850">
                <a:solidFill>
                  <a:srgbClr val="009DDD"/>
                </a:solidFill>
                <a:latin typeface="Assistant"/>
              </a:rPr>
              <a:t>–  </a:t>
            </a:r>
            <a:r>
              <a:rPr sz="1150">
                <a:solidFill>
                  <a:srgbClr val="5F6B76"/>
                </a:solidFill>
                <a:latin typeface="Assistant"/>
              </a:rPr>
              <a:t>missing state is the variable.</a:t>
            </a:r>
          </a:p>
        </p:txBody>
      </p:sp>
      <p:sp>
        <p:nvSpPr>
          <p:cNvPr id="27" name="Rounded Rectangle 26"/>
          <p:cNvSpPr/>
          <p:nvPr/>
        </p:nvSpPr>
        <p:spPr>
          <a:xfrm>
            <a:off x="8052816"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3984"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“It is slow and suggests irrelevant code”</a:t>
            </a:r>
          </a:p>
        </p:txBody>
      </p:sp>
      <p:sp>
        <p:nvSpPr>
          <p:cNvPr id="30" name="TextBox 29"/>
          <p:cNvSpPr txBox="1"/>
          <p:nvPr/>
        </p:nvSpPr>
        <p:spPr>
          <a:xfrm>
            <a:off x="8253984" y="4572000"/>
            <a:ext cx="3075432" cy="1591056"/>
          </a:xfrm>
          <a:prstGeom prst="rect">
            <a:avLst/>
          </a:prstGeom>
          <a:noFill/>
        </p:spPr>
        <p:txBody>
          <a:bodyPr wrap="square" anchor="t" lIns="0" rIns="0" tIns="0" bIns="0">
            <a:spAutoFit/>
          </a:bodyPr>
          <a:lstStyle/>
          <a:p>
            <a:pPr>
              <a:lnSpc>
                <a:spcPct val="96000"/>
              </a:lnSpc>
              <a:spcAft>
                <a:spcPts val="400"/>
              </a:spcAft>
            </a:pPr>
            <a:r>
              <a:rPr sz="850">
                <a:solidFill>
                  <a:srgbClr val="009DDD"/>
                </a:solidFill>
                <a:latin typeface="Assistant"/>
              </a:rPr>
              <a:t>–  </a:t>
            </a:r>
            <a:r>
              <a:rPr sz="1150">
                <a:solidFill>
                  <a:srgbClr val="5F6B76"/>
                </a:solidFill>
                <a:latin typeface="Assistant"/>
              </a:rPr>
              <a:t>Too much pinned context dilutes relevance.</a:t>
            </a:r>
          </a:p>
          <a:p>
            <a:pPr>
              <a:lnSpc>
                <a:spcPct val="96000"/>
              </a:lnSpc>
              <a:spcAft>
                <a:spcPts val="400"/>
              </a:spcAft>
            </a:pPr>
            <a:r>
              <a:rPr sz="850">
                <a:solidFill>
                  <a:srgbClr val="009DDD"/>
                </a:solidFill>
                <a:latin typeface="Assistant"/>
              </a:rPr>
              <a:t>–  </a:t>
            </a:r>
            <a:r>
              <a:rPr sz="1150">
                <a:solidFill>
                  <a:srgbClr val="5F6B76"/>
                </a:solidFill>
                <a:latin typeface="Assistant"/>
              </a:rPr>
              <a:t>Unpin, close unrelated files, and reduce the</a:t>
            </a:r>
          </a:p>
          <a:p>
            <a:pPr>
              <a:lnSpc>
                <a:spcPct val="96000"/>
              </a:lnSpc>
              <a:spcAft>
                <a:spcPts val="400"/>
              </a:spcAft>
            </a:pPr>
            <a:r>
              <a:rPr sz="850">
                <a:solidFill>
                  <a:srgbClr val="009DDD"/>
                </a:solidFill>
                <a:latin typeface="Assistant"/>
              </a:rPr>
              <a:t>–  </a:t>
            </a:r>
            <a:r>
              <a:rPr sz="1150">
                <a:solidFill>
                  <a:srgbClr val="5F6B76"/>
                </a:solidFill>
                <a:latin typeface="Assistant"/>
              </a:rPr>
              <a:t>indexed scope.</a:t>
            </a:r>
          </a:p>
        </p:txBody>
      </p:sp>
      <p:sp>
        <p:nvSpPr>
          <p:cNvPr id="31" name="TextBox 3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32" name="TextBox 3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38 / 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PATTERNS WORTH STEALING</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prompt cookbook</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Rounded Rectangle 6"/>
          <p:cNvSpPr/>
          <p:nvPr/>
        </p:nvSpPr>
        <p:spPr>
          <a:xfrm>
            <a:off x="658368"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Specify the contract</a:t>
            </a:r>
          </a:p>
        </p:txBody>
      </p:sp>
      <p:sp>
        <p:nvSpPr>
          <p:cNvPr id="10" name="TextBox 9"/>
          <p:cNvSpPr txBox="1"/>
          <p:nvPr/>
        </p:nvSpPr>
        <p:spPr>
          <a:xfrm>
            <a:off x="859536"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“Return a DataFrame with columns</a:t>
            </a:r>
          </a:p>
          <a:p>
            <a:pPr>
              <a:lnSpc>
                <a:spcPct val="96000"/>
              </a:lnSpc>
              <a:spcAft>
                <a:spcPts val="400"/>
              </a:spcAft>
            </a:pPr>
            <a:r>
              <a:rPr sz="900">
                <a:solidFill>
                  <a:srgbClr val="009DDD"/>
                </a:solidFill>
                <a:latin typeface="Assistant"/>
              </a:rPr>
              <a:t>–  </a:t>
            </a:r>
            <a:r>
              <a:rPr sz="1200">
                <a:solidFill>
                  <a:srgbClr val="5F6B76"/>
                </a:solidFill>
                <a:latin typeface="Assistant"/>
              </a:rPr>
              <a:t>date, mean, n — sorted by date.”</a:t>
            </a:r>
          </a:p>
          <a:p>
            <a:pPr>
              <a:lnSpc>
                <a:spcPct val="96000"/>
              </a:lnSpc>
              <a:spcAft>
                <a:spcPts val="400"/>
              </a:spcAft>
            </a:pPr>
            <a:r>
              <a:rPr sz="900">
                <a:solidFill>
                  <a:srgbClr val="009DDD"/>
                </a:solidFill>
                <a:latin typeface="Assistant"/>
              </a:rPr>
              <a:t>–  </a:t>
            </a:r>
            <a:r>
              <a:rPr sz="1200">
                <a:solidFill>
                  <a:srgbClr val="5F6B76"/>
                </a:solidFill>
                <a:latin typeface="Assistant"/>
              </a:rPr>
              <a:t>Ambiguity is what it fills with guesses.</a:t>
            </a:r>
          </a:p>
        </p:txBody>
      </p:sp>
      <p:sp>
        <p:nvSpPr>
          <p:cNvPr id="11" name="Rounded Rectangle 10"/>
          <p:cNvSpPr/>
          <p:nvPr/>
        </p:nvSpPr>
        <p:spPr>
          <a:xfrm>
            <a:off x="4355592"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55592"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Give one example</a:t>
            </a:r>
          </a:p>
        </p:txBody>
      </p:sp>
      <p:sp>
        <p:nvSpPr>
          <p:cNvPr id="14" name="TextBox 13"/>
          <p:cNvSpPr txBox="1"/>
          <p:nvPr/>
        </p:nvSpPr>
        <p:spPr>
          <a:xfrm>
            <a:off x="4556760"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“For input [1, 2, 3] it should return 6.”</a:t>
            </a:r>
          </a:p>
          <a:p>
            <a:pPr>
              <a:lnSpc>
                <a:spcPct val="96000"/>
              </a:lnSpc>
              <a:spcAft>
                <a:spcPts val="400"/>
              </a:spcAft>
            </a:pPr>
            <a:r>
              <a:rPr sz="900">
                <a:solidFill>
                  <a:srgbClr val="009DDD"/>
                </a:solidFill>
                <a:latin typeface="Assistant"/>
              </a:rPr>
              <a:t>–  </a:t>
            </a:r>
            <a:r>
              <a:rPr sz="1200">
                <a:solidFill>
                  <a:srgbClr val="5F6B76"/>
                </a:solidFill>
                <a:latin typeface="Assistant"/>
              </a:rPr>
              <a:t>One concrete example removes</a:t>
            </a:r>
          </a:p>
          <a:p>
            <a:pPr>
              <a:lnSpc>
                <a:spcPct val="96000"/>
              </a:lnSpc>
              <a:spcAft>
                <a:spcPts val="400"/>
              </a:spcAft>
            </a:pPr>
            <a:r>
              <a:rPr sz="900">
                <a:solidFill>
                  <a:srgbClr val="009DDD"/>
                </a:solidFill>
                <a:latin typeface="Assistant"/>
              </a:rPr>
              <a:t>–  </a:t>
            </a:r>
            <a:r>
              <a:rPr sz="1200">
                <a:solidFill>
                  <a:srgbClr val="5F6B76"/>
                </a:solidFill>
                <a:latin typeface="Assistant"/>
              </a:rPr>
              <a:t>most of the ambiguity.</a:t>
            </a:r>
          </a:p>
        </p:txBody>
      </p:sp>
      <p:sp>
        <p:nvSpPr>
          <p:cNvPr id="15" name="Rounded Rectangle 14"/>
          <p:cNvSpPr/>
          <p:nvPr/>
        </p:nvSpPr>
        <p:spPr>
          <a:xfrm>
            <a:off x="8052816" y="1536192"/>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52816" y="1536192"/>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3984" y="1719072"/>
            <a:ext cx="3075432" cy="329184"/>
          </a:xfrm>
          <a:prstGeom prst="rect">
            <a:avLst/>
          </a:prstGeom>
          <a:noFill/>
        </p:spPr>
        <p:txBody>
          <a:bodyPr wrap="square" anchor="t" lIns="0" rIns="0" tIns="0" bIns="0">
            <a:spAutoFit/>
          </a:bodyPr>
          <a:lstStyle/>
          <a:p>
            <a:pPr algn="l"/>
            <a:r>
              <a:rPr sz="1300" b="1" i="0">
                <a:solidFill>
                  <a:srgbClr val="380338"/>
                </a:solidFill>
                <a:latin typeface="Assistant"/>
              </a:rPr>
              <a:t>Ask for the test too</a:t>
            </a:r>
          </a:p>
        </p:txBody>
      </p:sp>
      <p:sp>
        <p:nvSpPr>
          <p:cNvPr id="18" name="TextBox 17"/>
          <p:cNvSpPr txBox="1"/>
          <p:nvPr/>
        </p:nvSpPr>
        <p:spPr>
          <a:xfrm>
            <a:off x="8253984" y="2084832"/>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“Write the function and a pytest test</a:t>
            </a:r>
          </a:p>
          <a:p>
            <a:pPr>
              <a:lnSpc>
                <a:spcPct val="96000"/>
              </a:lnSpc>
              <a:spcAft>
                <a:spcPts val="400"/>
              </a:spcAft>
            </a:pPr>
            <a:r>
              <a:rPr sz="900">
                <a:solidFill>
                  <a:srgbClr val="009DDD"/>
                </a:solidFill>
                <a:latin typeface="Assistant"/>
              </a:rPr>
              <a:t>–  </a:t>
            </a:r>
            <a:r>
              <a:rPr sz="1200">
                <a:solidFill>
                  <a:srgbClr val="5F6B76"/>
                </a:solidFill>
                <a:latin typeface="Assistant"/>
              </a:rPr>
              <a:t>covering empty input and duplicates.”</a:t>
            </a:r>
          </a:p>
          <a:p>
            <a:pPr>
              <a:lnSpc>
                <a:spcPct val="96000"/>
              </a:lnSpc>
              <a:spcAft>
                <a:spcPts val="400"/>
              </a:spcAft>
            </a:pPr>
            <a:r>
              <a:rPr sz="900">
                <a:solidFill>
                  <a:srgbClr val="009DDD"/>
                </a:solidFill>
                <a:latin typeface="Assistant"/>
              </a:rPr>
              <a:t>–  </a:t>
            </a:r>
            <a:r>
              <a:rPr sz="1200">
                <a:solidFill>
                  <a:srgbClr val="5F6B76"/>
                </a:solidFill>
                <a:latin typeface="Assistant"/>
              </a:rPr>
              <a:t>You get both artefacts at once.</a:t>
            </a:r>
          </a:p>
        </p:txBody>
      </p:sp>
      <p:sp>
        <p:nvSpPr>
          <p:cNvPr id="19" name="Rounded Rectangle 18"/>
          <p:cNvSpPr/>
          <p:nvPr/>
        </p:nvSpPr>
        <p:spPr>
          <a:xfrm>
            <a:off x="658368"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Ask it to explain first</a:t>
            </a:r>
          </a:p>
        </p:txBody>
      </p:sp>
      <p:sp>
        <p:nvSpPr>
          <p:cNvPr id="22" name="TextBox 21"/>
          <p:cNvSpPr txBox="1"/>
          <p:nvPr/>
        </p:nvSpPr>
        <p:spPr>
          <a:xfrm>
            <a:off x="859536"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“Explain what this function does and list</a:t>
            </a:r>
          </a:p>
          <a:p>
            <a:pPr>
              <a:lnSpc>
                <a:spcPct val="96000"/>
              </a:lnSpc>
              <a:spcAft>
                <a:spcPts val="400"/>
              </a:spcAft>
            </a:pPr>
            <a:r>
              <a:rPr sz="900">
                <a:solidFill>
                  <a:srgbClr val="009DDD"/>
                </a:solidFill>
                <a:latin typeface="Assistant"/>
              </a:rPr>
              <a:t>–  </a:t>
            </a:r>
            <a:r>
              <a:rPr sz="1200">
                <a:solidFill>
                  <a:srgbClr val="5F6B76"/>
                </a:solidFill>
                <a:latin typeface="Assistant"/>
              </a:rPr>
              <a:t>the assumptions it makes, before editing.”</a:t>
            </a:r>
          </a:p>
          <a:p>
            <a:pPr>
              <a:lnSpc>
                <a:spcPct val="96000"/>
              </a:lnSpc>
              <a:spcAft>
                <a:spcPts val="400"/>
              </a:spcAft>
            </a:pPr>
            <a:r>
              <a:rPr sz="900">
                <a:solidFill>
                  <a:srgbClr val="009DDD"/>
                </a:solidFill>
                <a:latin typeface="Assistant"/>
              </a:rPr>
              <a:t>–  </a:t>
            </a:r>
            <a:r>
              <a:rPr sz="1200">
                <a:solidFill>
                  <a:srgbClr val="5F6B76"/>
                </a:solidFill>
                <a:latin typeface="Assistant"/>
              </a:rPr>
              <a:t>This is the prompt from the hands-on.</a:t>
            </a:r>
          </a:p>
        </p:txBody>
      </p:sp>
      <p:sp>
        <p:nvSpPr>
          <p:cNvPr id="23" name="Rounded Rectangle 22"/>
          <p:cNvSpPr/>
          <p:nvPr/>
        </p:nvSpPr>
        <p:spPr>
          <a:xfrm>
            <a:off x="4355592"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55592"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56760"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Iterate in small steps</a:t>
            </a:r>
          </a:p>
        </p:txBody>
      </p:sp>
      <p:sp>
        <p:nvSpPr>
          <p:cNvPr id="26" name="TextBox 25"/>
          <p:cNvSpPr txBox="1"/>
          <p:nvPr/>
        </p:nvSpPr>
        <p:spPr>
          <a:xfrm>
            <a:off x="4556760"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One change per prompt, run the tests,</a:t>
            </a:r>
          </a:p>
          <a:p>
            <a:pPr>
              <a:lnSpc>
                <a:spcPct val="96000"/>
              </a:lnSpc>
              <a:spcAft>
                <a:spcPts val="400"/>
              </a:spcAft>
            </a:pPr>
            <a:r>
              <a:rPr sz="900">
                <a:solidFill>
                  <a:srgbClr val="009DDD"/>
                </a:solidFill>
                <a:latin typeface="Assistant"/>
              </a:rPr>
              <a:t>–  </a:t>
            </a:r>
            <a:r>
              <a:rPr sz="1200">
                <a:solidFill>
                  <a:srgbClr val="5F6B76"/>
                </a:solidFill>
                <a:latin typeface="Assistant"/>
              </a:rPr>
              <a:t>then ask for the next change.</a:t>
            </a:r>
          </a:p>
          <a:p>
            <a:pPr>
              <a:lnSpc>
                <a:spcPct val="96000"/>
              </a:lnSpc>
              <a:spcAft>
                <a:spcPts val="400"/>
              </a:spcAft>
            </a:pPr>
            <a:r>
              <a:rPr sz="900">
                <a:solidFill>
                  <a:srgbClr val="009DDD"/>
                </a:solidFill>
                <a:latin typeface="Assistant"/>
              </a:rPr>
              <a:t>–  </a:t>
            </a:r>
            <a:r>
              <a:rPr sz="1200">
                <a:solidFill>
                  <a:srgbClr val="5F6B76"/>
                </a:solidFill>
                <a:latin typeface="Assistant"/>
              </a:rPr>
              <a:t>Big prompts produce big unreadable diffs.</a:t>
            </a:r>
          </a:p>
        </p:txBody>
      </p:sp>
      <p:sp>
        <p:nvSpPr>
          <p:cNvPr id="27" name="Rounded Rectangle 26"/>
          <p:cNvSpPr/>
          <p:nvPr/>
        </p:nvSpPr>
        <p:spPr>
          <a:xfrm>
            <a:off x="8052816" y="4023360"/>
            <a:ext cx="3477768" cy="2286000"/>
          </a:xfrm>
          <a:prstGeom prst="roundRect">
            <a:avLst>
              <a:gd name="adj" fmla="val 5000"/>
            </a:avLst>
          </a:prstGeom>
          <a:solidFill>
            <a:srgbClr val="F4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52816" y="4023360"/>
            <a:ext cx="3477768" cy="50292"/>
          </a:xfrm>
          <a:prstGeom prst="rect">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3984" y="4206240"/>
            <a:ext cx="3075432" cy="329184"/>
          </a:xfrm>
          <a:prstGeom prst="rect">
            <a:avLst/>
          </a:prstGeom>
          <a:noFill/>
        </p:spPr>
        <p:txBody>
          <a:bodyPr wrap="square" anchor="t" lIns="0" rIns="0" tIns="0" bIns="0">
            <a:spAutoFit/>
          </a:bodyPr>
          <a:lstStyle/>
          <a:p>
            <a:pPr algn="l"/>
            <a:r>
              <a:rPr sz="1300" b="1" i="0">
                <a:solidFill>
                  <a:srgbClr val="380338"/>
                </a:solidFill>
                <a:latin typeface="Assistant"/>
              </a:rPr>
              <a:t>Re-prompt, do not patch</a:t>
            </a:r>
          </a:p>
        </p:txBody>
      </p:sp>
      <p:sp>
        <p:nvSpPr>
          <p:cNvPr id="30" name="TextBox 29"/>
          <p:cNvSpPr txBox="1"/>
          <p:nvPr/>
        </p:nvSpPr>
        <p:spPr>
          <a:xfrm>
            <a:off x="8253984" y="4572000"/>
            <a:ext cx="3075432" cy="1591056"/>
          </a:xfrm>
          <a:prstGeom prst="rect">
            <a:avLst/>
          </a:prstGeom>
          <a:noFill/>
        </p:spPr>
        <p:txBody>
          <a:bodyPr wrap="square" anchor="t" lIns="0" rIns="0" tIns="0" bIns="0">
            <a:spAutoFit/>
          </a:bodyPr>
          <a:lstStyle/>
          <a:p>
            <a:pPr>
              <a:lnSpc>
                <a:spcPct val="96000"/>
              </a:lnSpc>
              <a:spcAft>
                <a:spcPts val="400"/>
              </a:spcAft>
            </a:pPr>
            <a:r>
              <a:rPr sz="900">
                <a:solidFill>
                  <a:srgbClr val="009DDD"/>
                </a:solidFill>
                <a:latin typeface="Assistant"/>
              </a:rPr>
              <a:t>–  </a:t>
            </a:r>
            <a:r>
              <a:rPr sz="1200">
                <a:solidFill>
                  <a:srgbClr val="5F6B76"/>
                </a:solidFill>
                <a:latin typeface="Assistant"/>
              </a:rPr>
              <a:t>If the output is wrong, say what was wrong</a:t>
            </a:r>
          </a:p>
          <a:p>
            <a:pPr>
              <a:lnSpc>
                <a:spcPct val="96000"/>
              </a:lnSpc>
              <a:spcAft>
                <a:spcPts val="400"/>
              </a:spcAft>
            </a:pPr>
            <a:r>
              <a:rPr sz="900">
                <a:solidFill>
                  <a:srgbClr val="009DDD"/>
                </a:solidFill>
                <a:latin typeface="Assistant"/>
              </a:rPr>
              <a:t>–  </a:t>
            </a:r>
            <a:r>
              <a:rPr sz="1200">
                <a:solidFill>
                  <a:srgbClr val="5F6B76"/>
                </a:solidFill>
                <a:latin typeface="Assistant"/>
              </a:rPr>
              <a:t>and ask again — do not hand-edit and move on.</a:t>
            </a:r>
          </a:p>
          <a:p>
            <a:pPr>
              <a:lnSpc>
                <a:spcPct val="96000"/>
              </a:lnSpc>
              <a:spcAft>
                <a:spcPts val="400"/>
              </a:spcAft>
            </a:pPr>
            <a:r>
              <a:rPr sz="900">
                <a:solidFill>
                  <a:srgbClr val="009DDD"/>
                </a:solidFill>
                <a:latin typeface="Assistant"/>
              </a:rPr>
              <a:t>–  </a:t>
            </a:r>
            <a:r>
              <a:rPr sz="1200">
                <a:solidFill>
                  <a:srgbClr val="5F6B76"/>
                </a:solidFill>
                <a:latin typeface="Assistant"/>
              </a:rPr>
              <a:t>You will learn what the tool needs.</a:t>
            </a:r>
          </a:p>
        </p:txBody>
      </p:sp>
      <p:sp>
        <p:nvSpPr>
          <p:cNvPr id="31" name="TextBox 30"/>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32" name="TextBox 31"/>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39 / 41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COPY THIS INTO YOUR REPOSITORY</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The reproducible project checklist</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Rounded Rectangle 6"/>
          <p:cNvSpPr/>
          <p:nvPr/>
        </p:nvSpPr>
        <p:spPr>
          <a:xfrm>
            <a:off x="658368" y="1536192"/>
            <a:ext cx="6903720" cy="4224528"/>
          </a:xfrm>
          <a:prstGeom prst="roundRect">
            <a:avLst>
              <a:gd name="adj" fmla="val 2500"/>
            </a:avLst>
          </a:prstGeom>
          <a:solidFill>
            <a:srgbClr val="3803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09928"/>
            <a:ext cx="96012" cy="96012"/>
          </a:xfrm>
          <a:prstGeom prst="ellipse">
            <a:avLst/>
          </a:prstGeom>
          <a:solidFill>
            <a:srgbClr val="009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709928"/>
            <a:ext cx="96012" cy="96012"/>
          </a:xfrm>
          <a:prstGeom prst="ellipse">
            <a:avLst/>
          </a:prstGeom>
          <a:solidFill>
            <a:srgbClr val="FFB2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43584" y="1709928"/>
            <a:ext cx="96012" cy="96012"/>
          </a:xfrm>
          <a:prstGeom prst="ellipse">
            <a:avLst/>
          </a:prstGeom>
          <a:solidFill>
            <a:srgbClr val="E8D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56816"/>
            <a:ext cx="6446520" cy="3657600"/>
          </a:xfrm>
          <a:prstGeom prst="rect">
            <a:avLst/>
          </a:prstGeom>
          <a:noFill/>
        </p:spPr>
        <p:txBody>
          <a:bodyPr wrap="square" anchor="t" lIns="0" rIns="0" tIns="0" bIns="0">
            <a:spAutoFit/>
          </a:bodyPr>
          <a:lstStyle/>
          <a:p>
            <a:pPr>
              <a:lnSpc>
                <a:spcPct val="100000"/>
              </a:lnSpc>
              <a:spcAft>
                <a:spcPts val="0"/>
              </a:spcAft>
            </a:pPr>
            <a:r>
              <a:rPr sz="1050" i="1">
                <a:solidFill>
                  <a:srgbClr val="BAA7BA"/>
                </a:solidFill>
                <a:latin typeface="Consolas"/>
              </a:rPr>
              <a:t># Reproducible project checklist</a:t>
            </a:r>
          </a:p>
          <a:p>
            <a:pPr>
              <a:lnSpc>
                <a:spcPct val="100000"/>
              </a:lnSpc>
              <a:spcAft>
                <a:spcPts val="0"/>
              </a:spcAft>
            </a:pPr>
          </a:p>
          <a:p>
            <a:pPr>
              <a:lnSpc>
                <a:spcPct val="100000"/>
              </a:lnSpc>
              <a:spcAft>
                <a:spcPts val="0"/>
              </a:spcAft>
            </a:pPr>
            <a:r>
              <a:rPr sz="1050" b="0">
                <a:solidFill>
                  <a:srgbClr val="F2ECF2"/>
                </a:solidFill>
                <a:latin typeface="Consolas"/>
              </a:rPr>
              <a:t>- [ ] Git repository, with a readable commit history</a:t>
            </a:r>
          </a:p>
          <a:p>
            <a:pPr>
              <a:lnSpc>
                <a:spcPct val="100000"/>
              </a:lnSpc>
              <a:spcAft>
                <a:spcPts val="0"/>
              </a:spcAft>
            </a:pPr>
            <a:r>
              <a:rPr sz="1050" b="0">
                <a:solidFill>
                  <a:srgbClr val="F2ECF2"/>
                </a:solidFill>
                <a:latin typeface="Consolas"/>
              </a:rPr>
              <a:t>- [ ] README: what it does, install, run, expected output</a:t>
            </a:r>
          </a:p>
          <a:p>
            <a:pPr>
              <a:lnSpc>
                <a:spcPct val="100000"/>
              </a:lnSpc>
              <a:spcAft>
                <a:spcPts val="0"/>
              </a:spcAft>
            </a:pPr>
            <a:r>
              <a:rPr sz="1050" b="0">
                <a:solidFill>
                  <a:srgbClr val="F2ECF2"/>
                </a:solidFill>
                <a:latin typeface="Consolas"/>
              </a:rPr>
              <a:t>- [ ] LICENSE, and a CITATION.cff</a:t>
            </a:r>
          </a:p>
          <a:p>
            <a:pPr>
              <a:lnSpc>
                <a:spcPct val="100000"/>
              </a:lnSpc>
              <a:spcAft>
                <a:spcPts val="0"/>
              </a:spcAft>
            </a:pPr>
            <a:r>
              <a:rPr sz="1050" b="0">
                <a:solidFill>
                  <a:srgbClr val="F2ECF2"/>
                </a:solidFill>
                <a:latin typeface="Consolas"/>
              </a:rPr>
              <a:t>- [ ] Dependencies recorded with versions (lock file)</a:t>
            </a:r>
          </a:p>
          <a:p>
            <a:pPr>
              <a:lnSpc>
                <a:spcPct val="100000"/>
              </a:lnSpc>
              <a:spcAft>
                <a:spcPts val="0"/>
              </a:spcAft>
            </a:pPr>
            <a:r>
              <a:rPr sz="1050" b="0">
                <a:solidFill>
                  <a:srgbClr val="F2ECF2"/>
                </a:solidFill>
                <a:latin typeface="Consolas"/>
              </a:rPr>
              <a:t>- [ ] Environment rebuilds from the lock file, in CI</a:t>
            </a:r>
          </a:p>
          <a:p>
            <a:pPr>
              <a:lnSpc>
                <a:spcPct val="100000"/>
              </a:lnSpc>
              <a:spcAft>
                <a:spcPts val="0"/>
              </a:spcAft>
            </a:pPr>
            <a:r>
              <a:rPr sz="1050" b="0">
                <a:solidFill>
                  <a:srgbClr val="F2ECF2"/>
                </a:solidFill>
                <a:latin typeface="Consolas"/>
              </a:rPr>
              <a:t>- [ ] No credentials anywhere in the history</a:t>
            </a:r>
          </a:p>
          <a:p>
            <a:pPr>
              <a:lnSpc>
                <a:spcPct val="100000"/>
              </a:lnSpc>
              <a:spcAft>
                <a:spcPts val="0"/>
              </a:spcAft>
            </a:pPr>
            <a:r>
              <a:rPr sz="1050" b="0">
                <a:solidFill>
                  <a:srgbClr val="F2ECF2"/>
                </a:solidFill>
                <a:latin typeface="Consolas"/>
              </a:rPr>
              <a:t>- [ ] Functions with descriptive names and docstrings</a:t>
            </a:r>
          </a:p>
          <a:p>
            <a:pPr>
              <a:lnSpc>
                <a:spcPct val="100000"/>
              </a:lnSpc>
              <a:spcAft>
                <a:spcPts val="0"/>
              </a:spcAft>
            </a:pPr>
            <a:r>
              <a:rPr sz="1050" b="0">
                <a:solidFill>
                  <a:srgbClr val="F2ECF2"/>
                </a:solidFill>
                <a:latin typeface="Consolas"/>
              </a:rPr>
              <a:t>- [ ] Raw data treated as read-only</a:t>
            </a:r>
          </a:p>
          <a:p>
            <a:pPr>
              <a:lnSpc>
                <a:spcPct val="100000"/>
              </a:lnSpc>
              <a:spcAft>
                <a:spcPts val="0"/>
              </a:spcAft>
            </a:pPr>
            <a:r>
              <a:rPr sz="1050" b="0">
                <a:solidFill>
                  <a:srgbClr val="F2ECF2"/>
                </a:solidFill>
                <a:latin typeface="Consolas"/>
              </a:rPr>
              <a:t>- [ ] One command reproduces every number in the paper</a:t>
            </a:r>
          </a:p>
          <a:p>
            <a:pPr>
              <a:lnSpc>
                <a:spcPct val="100000"/>
              </a:lnSpc>
              <a:spcAft>
                <a:spcPts val="0"/>
              </a:spcAft>
            </a:pPr>
            <a:r>
              <a:rPr sz="1050" b="0">
                <a:solidFill>
                  <a:srgbClr val="F2ECF2"/>
                </a:solidFill>
                <a:latin typeface="Consolas"/>
              </a:rPr>
              <a:t>- [ ] A test with a stored expected value</a:t>
            </a:r>
          </a:p>
          <a:p>
            <a:pPr>
              <a:lnSpc>
                <a:spcPct val="100000"/>
              </a:lnSpc>
              <a:spcAft>
                <a:spcPts val="0"/>
              </a:spcAft>
            </a:pPr>
            <a:r>
              <a:rPr sz="1050" b="0">
                <a:solidFill>
                  <a:srgbClr val="F2ECF2"/>
                </a:solidFill>
                <a:latin typeface="Consolas"/>
              </a:rPr>
              <a:t>- [ ] CI runs the tests on every push</a:t>
            </a:r>
          </a:p>
          <a:p>
            <a:pPr>
              <a:lnSpc>
                <a:spcPct val="100000"/>
              </a:lnSpc>
              <a:spcAft>
                <a:spcPts val="0"/>
              </a:spcAft>
            </a:pPr>
            <a:r>
              <a:rPr sz="1050" b="0">
                <a:solidFill>
                  <a:srgbClr val="F2ECF2"/>
                </a:solidFill>
                <a:latin typeface="Consolas"/>
              </a:rPr>
              <a:t>- [ ] The analysis decided before the result was seen</a:t>
            </a:r>
          </a:p>
          <a:p>
            <a:pPr>
              <a:lnSpc>
                <a:spcPct val="100000"/>
              </a:lnSpc>
              <a:spcAft>
                <a:spcPts val="0"/>
              </a:spcAft>
            </a:pPr>
            <a:r>
              <a:rPr sz="1050" b="0">
                <a:solidFill>
                  <a:srgbClr val="F2ECF2"/>
                </a:solidFill>
                <a:latin typeface="Consolas"/>
              </a:rPr>
              <a:t>- [ ] Model, version and prompt recorded for AI-assisted steps</a:t>
            </a:r>
          </a:p>
          <a:p>
            <a:pPr>
              <a:lnSpc>
                <a:spcPct val="100000"/>
              </a:lnSpc>
              <a:spcAft>
                <a:spcPts val="0"/>
              </a:spcAft>
            </a:pPr>
            <a:r>
              <a:rPr sz="1050" b="0">
                <a:solidFill>
                  <a:srgbClr val="F2ECF2"/>
                </a:solidFill>
                <a:latin typeface="Consolas"/>
              </a:rPr>
              <a:t>- [ ] A DOI for the release you cite</a:t>
            </a:r>
          </a:p>
        </p:txBody>
      </p:sp>
      <p:sp>
        <p:nvSpPr>
          <p:cNvPr id="12" name="TextBox 11"/>
          <p:cNvSpPr txBox="1"/>
          <p:nvPr/>
        </p:nvSpPr>
        <p:spPr>
          <a:xfrm>
            <a:off x="7854696" y="1554480"/>
            <a:ext cx="3675888" cy="274320"/>
          </a:xfrm>
          <a:prstGeom prst="rect">
            <a:avLst/>
          </a:prstGeom>
          <a:noFill/>
        </p:spPr>
        <p:txBody>
          <a:bodyPr wrap="square" anchor="t" lIns="0" rIns="0" tIns="0" bIns="0">
            <a:spAutoFit/>
          </a:bodyPr>
          <a:lstStyle/>
          <a:p>
            <a:pPr algn="l"/>
            <a:r>
              <a:rPr sz="1050" b="1" i="0">
                <a:solidFill>
                  <a:srgbClr val="006B96"/>
                </a:solidFill>
                <a:latin typeface="Assistant"/>
              </a:rPr>
              <a:t>HOW TO USE IT</a:t>
            </a:r>
          </a:p>
        </p:txBody>
      </p:sp>
      <p:sp>
        <p:nvSpPr>
          <p:cNvPr id="13" name="TextBox 12"/>
          <p:cNvSpPr txBox="1"/>
          <p:nvPr/>
        </p:nvSpPr>
        <p:spPr>
          <a:xfrm>
            <a:off x="7854696" y="1920240"/>
            <a:ext cx="3675888" cy="3383280"/>
          </a:xfrm>
          <a:prstGeom prst="rect">
            <a:avLst/>
          </a:prstGeom>
          <a:noFill/>
        </p:spPr>
        <p:txBody>
          <a:bodyPr wrap="square" anchor="t" lIns="0" rIns="0" tIns="0" bIns="0">
            <a:spAutoFit/>
          </a:bodyPr>
          <a:lstStyle/>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Save it as CHECKLIST.md and tick as you go.</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Not every box applies to every project. Skip one with a reason rather than silently.</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The last four boxes are the ones that would not have appeared on a checklist written five years ago.</a:t>
            </a:r>
          </a:p>
          <a:p>
            <a:pPr>
              <a:lnSpc>
                <a:spcPct val="97000"/>
              </a:lnSpc>
              <a:spcAft>
                <a:spcPts val="800"/>
              </a:spcAft>
            </a:pPr>
            <a:r>
              <a:rPr sz="750">
                <a:solidFill>
                  <a:srgbClr val="009DDD"/>
                </a:solidFill>
                <a:latin typeface="Assistant"/>
              </a:rPr>
              <a:t>●  </a:t>
            </a:r>
            <a:r>
              <a:rPr sz="1250" b="1">
                <a:solidFill>
                  <a:srgbClr val="380338"/>
                </a:solidFill>
                <a:latin typeface="Assistant"/>
              </a:rPr>
              <a:t>▸ </a:t>
            </a:r>
            <a:r>
              <a:rPr sz="1250">
                <a:solidFill>
                  <a:srgbClr val="333333"/>
                </a:solidFill>
                <a:latin typeface="Assistant"/>
              </a:rPr>
              <a:t>It also works as a pull-request template: put the relevant lines in the description.</a:t>
            </a:r>
          </a:p>
        </p:txBody>
      </p:sp>
      <p:sp>
        <p:nvSpPr>
          <p:cNvPr id="14" name="TextBox 13"/>
          <p:cNvSpPr txBox="1"/>
          <p:nvPr/>
        </p:nvSpPr>
        <p:spPr>
          <a:xfrm>
            <a:off x="7854696" y="5074920"/>
            <a:ext cx="3675888" cy="868680"/>
          </a:xfrm>
          <a:prstGeom prst="rect">
            <a:avLst/>
          </a:prstGeom>
          <a:noFill/>
        </p:spPr>
        <p:txBody>
          <a:bodyPr wrap="square" anchor="t" lIns="0" rIns="0" tIns="0" bIns="0">
            <a:spAutoFit/>
          </a:bodyPr>
          <a:lstStyle/>
          <a:p>
            <a:pPr algn="l">
              <a:lnSpc>
                <a:spcPct val="112000"/>
              </a:lnSpc>
            </a:pPr>
            <a:r>
              <a:rPr sz="1150" b="0" i="1">
                <a:solidFill>
                  <a:srgbClr val="5F6B76"/>
                </a:solidFill>
                <a:latin typeface="Assistant"/>
              </a:rPr>
              <a:t>The whole hour in one file. If you only take one artefact away, take this one.</a:t>
            </a:r>
          </a:p>
        </p:txBody>
      </p:sp>
      <p:sp>
        <p:nvSpPr>
          <p:cNvPr id="15" name="TextBox 14"/>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16" name="TextBox 15"/>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40 / 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395728" y="182880"/>
            <a:ext cx="7635240" cy="237744"/>
          </a:xfrm>
          <a:prstGeom prst="rect">
            <a:avLst/>
          </a:prstGeom>
          <a:noFill/>
        </p:spPr>
        <p:txBody>
          <a:bodyPr wrap="square" anchor="t" lIns="0" rIns="0" tIns="0" bIns="0">
            <a:spAutoFit/>
          </a:bodyPr>
          <a:lstStyle/>
          <a:p>
            <a:pPr algn="l"/>
            <a:r>
              <a:rPr sz="1000" b="1" i="0">
                <a:solidFill>
                  <a:srgbClr val="006B96"/>
                </a:solidFill>
                <a:latin typeface="Assistant"/>
              </a:rPr>
              <a:t>APPENDIX · FOR THE ROOM</a:t>
            </a:r>
          </a:p>
        </p:txBody>
      </p:sp>
      <p:sp>
        <p:nvSpPr>
          <p:cNvPr id="3" name="TextBox 2"/>
          <p:cNvSpPr txBox="1"/>
          <p:nvPr/>
        </p:nvSpPr>
        <p:spPr>
          <a:xfrm>
            <a:off x="2395728" y="420624"/>
            <a:ext cx="7635240" cy="777240"/>
          </a:xfrm>
          <a:prstGeom prst="rect">
            <a:avLst/>
          </a:prstGeom>
          <a:noFill/>
        </p:spPr>
        <p:txBody>
          <a:bodyPr wrap="square" anchor="t" lIns="0" rIns="0" tIns="0" bIns="0">
            <a:spAutoFit/>
          </a:bodyPr>
          <a:lstStyle/>
          <a:p>
            <a:pPr algn="l">
              <a:lnSpc>
                <a:spcPct val="100000"/>
              </a:lnSpc>
            </a:pPr>
            <a:r>
              <a:rPr sz="2200" b="0" i="0">
                <a:solidFill>
                  <a:srgbClr val="380338"/>
                </a:solidFill>
                <a:latin typeface="Nunito"/>
              </a:rPr>
              <a:t>Discussion questions, and where to read more</a:t>
            </a:r>
          </a:p>
        </p:txBody>
      </p:sp>
      <p:sp>
        <p:nvSpPr>
          <p:cNvPr id="4" name="Rectangle 3"/>
          <p:cNvSpPr/>
          <p:nvPr/>
        </p:nvSpPr>
        <p:spPr>
          <a:xfrm>
            <a:off x="658368" y="1298448"/>
            <a:ext cx="10872216" cy="27432"/>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204704" y="201168"/>
            <a:ext cx="1325880" cy="265176"/>
          </a:xfrm>
          <a:prstGeom prst="roundRect">
            <a:avLst>
              <a:gd name="adj" fmla="val 50000"/>
            </a:avLst>
          </a:prstGeom>
          <a:solidFill>
            <a:srgbClr val="B4C0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04704" y="248716"/>
            <a:ext cx="1325880" cy="201168"/>
          </a:xfrm>
          <a:prstGeom prst="rect">
            <a:avLst/>
          </a:prstGeom>
          <a:noFill/>
        </p:spPr>
        <p:txBody>
          <a:bodyPr wrap="square" anchor="t" lIns="0" rIns="0" tIns="0" bIns="0">
            <a:spAutoFit/>
          </a:bodyPr>
          <a:lstStyle/>
          <a:p>
            <a:pPr algn="ctr"/>
            <a:r>
              <a:rPr sz="900" b="1" i="0">
                <a:solidFill>
                  <a:srgbClr val="380338"/>
                </a:solidFill>
                <a:latin typeface="Assistant"/>
              </a:rPr>
              <a:t>OPTIONAL</a:t>
            </a:r>
          </a:p>
        </p:txBody>
      </p:sp>
      <p:sp>
        <p:nvSpPr>
          <p:cNvPr id="7" name="TextBox 6"/>
          <p:cNvSpPr txBox="1"/>
          <p:nvPr/>
        </p:nvSpPr>
        <p:spPr>
          <a:xfrm>
            <a:off x="658368" y="1536192"/>
            <a:ext cx="10872216" cy="4114800"/>
          </a:xfrm>
          <a:prstGeom prst="rect">
            <a:avLst/>
          </a:prstGeom>
          <a:noFill/>
        </p:spPr>
        <p:txBody>
          <a:bodyPr wrap="square" anchor="t" lIns="0" rIns="0" tIns="0" bIns="0">
            <a:spAutoFit/>
          </a:bodyPr>
          <a:lstStyle/>
          <a:p>
            <a:pPr>
              <a:lnSpc>
                <a:spcPct val="97000"/>
              </a:lnSpc>
              <a:spcAft>
                <a:spcPts val="900"/>
              </a:spcAft>
            </a:pPr>
            <a:r>
              <a:rPr sz="850">
                <a:solidFill>
                  <a:srgbClr val="009DDD"/>
                </a:solidFill>
                <a:latin typeface="Assistant"/>
              </a:rPr>
              <a:t>●  </a:t>
            </a:r>
            <a:r>
              <a:rPr sz="1350">
                <a:solidFill>
                  <a:srgbClr val="333333"/>
                </a:solidFill>
                <a:latin typeface="Assistant"/>
              </a:rPr>
              <a:t>Which of your current projects would fail the “a stranger clones it and gets your numbers” test — and why?</a:t>
            </a:r>
          </a:p>
          <a:p>
            <a:pPr>
              <a:lnSpc>
                <a:spcPct val="97000"/>
              </a:lnSpc>
              <a:spcAft>
                <a:spcPts val="900"/>
              </a:spcAft>
            </a:pPr>
            <a:r>
              <a:rPr sz="850">
                <a:solidFill>
                  <a:srgbClr val="009DDD"/>
                </a:solidFill>
                <a:latin typeface="Assistant"/>
              </a:rPr>
              <a:t>●  </a:t>
            </a:r>
            <a:r>
              <a:rPr sz="1350">
                <a:solidFill>
                  <a:srgbClr val="333333"/>
                </a:solidFill>
                <a:latin typeface="Assistant"/>
              </a:rPr>
              <a:t>What is the single practice you would have to add first to change that answer?</a:t>
            </a:r>
          </a:p>
          <a:p>
            <a:pPr>
              <a:lnSpc>
                <a:spcPct val="97000"/>
              </a:lnSpc>
              <a:spcAft>
                <a:spcPts val="900"/>
              </a:spcAft>
            </a:pPr>
            <a:r>
              <a:rPr sz="850">
                <a:solidFill>
                  <a:srgbClr val="009DDD"/>
                </a:solidFill>
                <a:latin typeface="Assistant"/>
              </a:rPr>
              <a:t>●  </a:t>
            </a:r>
            <a:r>
              <a:rPr sz="1350">
                <a:solidFill>
                  <a:srgbClr val="333333"/>
                </a:solidFill>
                <a:latin typeface="Assistant"/>
              </a:rPr>
              <a:t>Who reviews your code today? If nobody does, who could?</a:t>
            </a:r>
          </a:p>
          <a:p>
            <a:pPr>
              <a:lnSpc>
                <a:spcPct val="97000"/>
              </a:lnSpc>
              <a:spcAft>
                <a:spcPts val="900"/>
              </a:spcAft>
            </a:pPr>
            <a:r>
              <a:rPr sz="850">
                <a:solidFill>
                  <a:srgbClr val="009DDD"/>
                </a:solidFill>
                <a:latin typeface="Assistant"/>
              </a:rPr>
              <a:t>●  </a:t>
            </a:r>
            <a:r>
              <a:rPr sz="1350">
                <a:solidFill>
                  <a:srgbClr val="333333"/>
                </a:solidFill>
                <a:latin typeface="Assistant"/>
              </a:rPr>
              <a:t>What would your institution's policy need to say about data, disclosure and review?</a:t>
            </a:r>
          </a:p>
          <a:p>
            <a:pPr>
              <a:lnSpc>
                <a:spcPct val="97000"/>
              </a:lnSpc>
              <a:spcAft>
                <a:spcPts val="900"/>
              </a:spcAft>
            </a:pPr>
            <a:r>
              <a:rPr sz="850">
                <a:solidFill>
                  <a:srgbClr val="009DDD"/>
                </a:solidFill>
                <a:latin typeface="Assistant"/>
              </a:rPr>
              <a:t>●  </a:t>
            </a:r>
            <a:r>
              <a:rPr sz="1350">
                <a:solidFill>
                  <a:srgbClr val="333333"/>
                </a:solidFill>
                <a:latin typeface="Assistant"/>
              </a:rPr>
              <a:t>Where in your workflow is an assistant genuinely most useful, and where is it least useful?</a:t>
            </a:r>
          </a:p>
          <a:p>
            <a:pPr>
              <a:lnSpc>
                <a:spcPct val="97000"/>
              </a:lnSpc>
              <a:spcAft>
                <a:spcPts val="900"/>
              </a:spcAft>
            </a:pPr>
            <a:r>
              <a:rPr sz="850">
                <a:solidFill>
                  <a:srgbClr val="009DDD"/>
                </a:solidFill>
                <a:latin typeface="Assistant"/>
              </a:rPr>
              <a:t>●  </a:t>
            </a:r>
            <a:r>
              <a:rPr sz="1350">
                <a:solidFill>
                  <a:srgbClr val="333333"/>
                </a:solidFill>
                <a:latin typeface="Assistant"/>
              </a:rPr>
              <a:t>If a reviewer asked you to justify one line an assistant wrote, could you do it?</a:t>
            </a:r>
          </a:p>
          <a:p>
            <a:pPr>
              <a:lnSpc>
                <a:spcPct val="97000"/>
              </a:lnSpc>
              <a:spcAft>
                <a:spcPts val="900"/>
              </a:spcAft>
            </a:pPr>
            <a:r>
              <a:rPr sz="850">
                <a:solidFill>
                  <a:srgbClr val="009DDD"/>
                </a:solidFill>
                <a:latin typeface="Assistant"/>
              </a:rPr>
              <a:t>●  </a:t>
            </a:r>
            <a:r>
              <a:rPr sz="1350">
                <a:solidFill>
                  <a:srgbClr val="333333"/>
                </a:solidFill>
                <a:latin typeface="Assistant"/>
              </a:rPr>
              <a:t>Further reading: the four Carpentries lessons named on the resources slide, plus the Turing Way's licensing chapter, the ACM Code of Ethics, and the European Commission's guidelines on trustworthy AI.</a:t>
            </a:r>
          </a:p>
        </p:txBody>
      </p:sp>
      <p:sp>
        <p:nvSpPr>
          <p:cNvPr id="8" name="TextBox 7"/>
          <p:cNvSpPr txBox="1"/>
          <p:nvPr/>
        </p:nvSpPr>
        <p:spPr>
          <a:xfrm>
            <a:off x="1051560" y="6455664"/>
            <a:ext cx="7315200" cy="256032"/>
          </a:xfrm>
          <a:prstGeom prst="rect">
            <a:avLst/>
          </a:prstGeom>
          <a:noFill/>
        </p:spPr>
        <p:txBody>
          <a:bodyPr wrap="square" anchor="t" lIns="0" rIns="0" tIns="0" bIns="0">
            <a:spAutoFit/>
          </a:bodyPr>
          <a:lstStyle/>
          <a:p>
            <a:pPr algn="l"/>
            <a:r>
              <a:rPr sz="900" b="0" i="0">
                <a:solidFill>
                  <a:srgbClr val="5F6B76"/>
                </a:solidFill>
                <a:latin typeface="Assistant"/>
              </a:rPr>
              <a:t>Reproducible Science in the Age of Vibe Coding</a:t>
            </a:r>
          </a:p>
        </p:txBody>
      </p:sp>
      <p:sp>
        <p:nvSpPr>
          <p:cNvPr id="9" name="TextBox 8"/>
          <p:cNvSpPr txBox="1"/>
          <p:nvPr/>
        </p:nvSpPr>
        <p:spPr>
          <a:xfrm>
            <a:off x="10149840" y="6455664"/>
            <a:ext cx="1380744" cy="256032"/>
          </a:xfrm>
          <a:prstGeom prst="rect">
            <a:avLst/>
          </a:prstGeom>
          <a:noFill/>
        </p:spPr>
        <p:txBody>
          <a:bodyPr wrap="square" anchor="t" lIns="0" rIns="0" tIns="0" bIns="0">
            <a:spAutoFit/>
          </a:bodyPr>
          <a:lstStyle/>
          <a:p>
            <a:pPr algn="r"/>
            <a:r>
              <a:rPr sz="900" b="0" i="0">
                <a:solidFill>
                  <a:srgbClr val="5F6B76"/>
                </a:solidFill>
                <a:latin typeface="Assistant"/>
              </a:rPr>
              <a:t>41 / 41</a:t>
            </a:r>
          </a:p>
        </p:txBody>
      </p:sp>
    </p:spTree>
  </p:cSld>
  <p:clrMapOvr>
    <a:masterClrMapping/>
  </p:clrMapOvr>
</p:sld>
</file>

<file path=ppt/theme/theme1.xml><?xml version="1.0" encoding="utf-8"?>
<a:theme xmlns:a="http://schemas.openxmlformats.org/drawingml/2006/main" name="Office Theme">
  <a:themeElements>
    <a:clrScheme name="eScience colors">
      <a:dk1>
        <a:srgbClr val="000000"/>
      </a:dk1>
      <a:lt1>
        <a:srgbClr val="FFFFFF"/>
      </a:lt1>
      <a:dk2>
        <a:srgbClr val="000000"/>
      </a:dk2>
      <a:lt2>
        <a:srgbClr val="FFFFFF"/>
      </a:lt2>
      <a:accent1>
        <a:srgbClr val="009DDD"/>
      </a:accent1>
      <a:accent2>
        <a:srgbClr val="380338"/>
      </a:accent2>
      <a:accent3>
        <a:srgbClr val="FFB213"/>
      </a:accent3>
      <a:accent4>
        <a:srgbClr val="FFFFFF"/>
      </a:accent4>
      <a:accent5>
        <a:srgbClr val="FFFFFF"/>
      </a:accent5>
      <a:accent6>
        <a:srgbClr val="FFFFFF"/>
      </a:accent6>
      <a:hlink>
        <a:srgbClr val="FFFFFF"/>
      </a:hlink>
      <a:folHlink>
        <a:srgbClr val="009DDD"/>
      </a:folHlink>
    </a:clrScheme>
    <a:fontScheme name="Custom 2">
      <a:majorFont>
        <a:latin typeface="Nunito"/>
        <a:ea typeface=""/>
        <a:cs typeface=""/>
      </a:majorFont>
      <a:minorFont>
        <a:latin typeface="Assista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689afee-6346-4778-ba81-7e1f775636f0" xsi:nil="true"/>
    <lcf76f155ced4ddcb4097134ff3c332f xmlns="6f06fa5a-90cf-43a2-82b6-2b627dc0e2d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94B7504ED68345BE9FCDC509D9CFC8" ma:contentTypeVersion="14" ma:contentTypeDescription="Create a new document." ma:contentTypeScope="" ma:versionID="01c3bdd69f718f905f787276b3368bdd">
  <xsd:schema xmlns:xsd="http://www.w3.org/2001/XMLSchema" xmlns:xs="http://www.w3.org/2001/XMLSchema" xmlns:p="http://schemas.microsoft.com/office/2006/metadata/properties" xmlns:ns2="6f06fa5a-90cf-43a2-82b6-2b627dc0e2df" xmlns:ns3="1689afee-6346-4778-ba81-7e1f775636f0" targetNamespace="http://schemas.microsoft.com/office/2006/metadata/properties" ma:root="true" ma:fieldsID="9ad7abdc89e489ffa613929e324a32e6" ns2:_="" ns3:_="">
    <xsd:import namespace="6f06fa5a-90cf-43a2-82b6-2b627dc0e2df"/>
    <xsd:import namespace="1689afee-6346-4778-ba81-7e1f775636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6fa5a-90cf-43a2-82b6-2b627dc0e2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c0ad629c-0c64-4cfd-a7c6-02f1c6e4954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689afee-6346-4778-ba81-7e1f775636f0"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59fa242-7911-4a94-9d04-5686ff581d7e}" ma:internalName="TaxCatchAll" ma:showField="CatchAllData" ma:web="1689afee-6346-4778-ba81-7e1f775636f0">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FF6FBF-B4F4-49AD-A88B-091F94ABFAFA}">
  <ds:schemaRefs>
    <ds:schemaRef ds:uri="6f35d0f1-6b87-42ba-ba3e-91c0d4d98947"/>
    <ds:schemaRef ds:uri="d524e8e6-9967-4aee-9f44-a119181d2657"/>
    <ds:schemaRef ds:uri="http://schemas.microsoft.com/office/2006/metadata/properties"/>
    <ds:schemaRef ds:uri="http://schemas.microsoft.com/office/infopath/2007/PartnerControls"/>
    <ds:schemaRef ds:uri="1689afee-6346-4778-ba81-7e1f775636f0"/>
    <ds:schemaRef ds:uri="6f06fa5a-90cf-43a2-82b6-2b627dc0e2df"/>
  </ds:schemaRefs>
</ds:datastoreItem>
</file>

<file path=customXml/itemProps2.xml><?xml version="1.0" encoding="utf-8"?>
<ds:datastoreItem xmlns:ds="http://schemas.openxmlformats.org/officeDocument/2006/customXml" ds:itemID="{B72CECC3-7DC2-48A3-A34C-CF77ADEDD298}">
  <ds:schemaRefs>
    <ds:schemaRef ds:uri="http://schemas.microsoft.com/sharepoint/v3/contenttype/forms"/>
  </ds:schemaRefs>
</ds:datastoreItem>
</file>

<file path=customXml/itemProps3.xml><?xml version="1.0" encoding="utf-8"?>
<ds:datastoreItem xmlns:ds="http://schemas.openxmlformats.org/officeDocument/2006/customXml" ds:itemID="{04CC93FF-F140-4CEC-A647-73A7F6128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06fa5a-90cf-43a2-82b6-2b627dc0e2df"/>
    <ds:schemaRef ds:uri="1689afee-6346-4778-ba81-7e1f775636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41</Words>
  <Application>Microsoft Office PowerPoint</Application>
  <PresentationFormat>Widescreen</PresentationFormat>
  <Paragraphs>12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stay in touch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Netherlands eScience Center</dc:title>
  <dc:creator>Ben van Werkhoven</dc:creator>
  <cp:lastModifiedBy>Elena Ranguelova</cp:lastModifiedBy>
  <cp:revision>109</cp:revision>
  <dcterms:created xsi:type="dcterms:W3CDTF">2021-07-14T12:30:17Z</dcterms:created>
  <dcterms:modified xsi:type="dcterms:W3CDTF">2026-09-11T08:21:15Z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0x0101007794B7504ED68345BE9FCDC509D9CFC8</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xd_Signature">
    <vt:bool>false</vt:bool>
  </property>
  <property fmtid="{D5CDD505-2E9C-101B-9397-08002B2CF9AE}" pid="11" name="TriggerFlowInfo">
    <vt:lpwstr/>
  </property>
</Properties>
</file>